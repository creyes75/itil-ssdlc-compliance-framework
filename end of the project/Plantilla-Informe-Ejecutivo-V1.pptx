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1"/>
  </p:notesMasterIdLst>
  <p:sldIdLst>
    <p:sldId id="555" r:id="rId2"/>
    <p:sldId id="629" r:id="rId3"/>
    <p:sldId id="636" r:id="rId4"/>
    <p:sldId id="630" r:id="rId5"/>
    <p:sldId id="631" r:id="rId6"/>
    <p:sldId id="634" r:id="rId7"/>
    <p:sldId id="632" r:id="rId8"/>
    <p:sldId id="635" r:id="rId9"/>
    <p:sldId id="638" r:id="rId10"/>
  </p:sldIdLst>
  <p:sldSz cx="12192000" cy="6858000"/>
  <p:notesSz cx="7099300" cy="10234613"/>
  <p:defaultTextStyle>
    <a:defPPr>
      <a:defRPr lang="es-MX"/>
    </a:defPPr>
    <a:lvl1pPr marL="0" algn="l" defTabSz="8750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37515" algn="l" defTabSz="8750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875030" algn="l" defTabSz="8750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11910" algn="l" defTabSz="8750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749425" algn="l" defTabSz="8750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186940" algn="l" defTabSz="8750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624455" algn="l" defTabSz="8750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061970" algn="l" defTabSz="8750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498850" algn="l" defTabSz="8750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BC0B"/>
    <a:srgbClr val="59B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69"/>
  </p:normalViewPr>
  <p:slideViewPr>
    <p:cSldViewPr>
      <p:cViewPr varScale="1">
        <p:scale>
          <a:sx n="62" d="100"/>
          <a:sy n="62" d="100"/>
        </p:scale>
        <p:origin x="162" y="60"/>
      </p:cViewPr>
      <p:guideLst>
        <p:guide orient="horz" pos="215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6F81197F-4668-4CDC-883A-B41D955EBDDC}" type="datetimeFigureOut">
              <a:rPr lang="es-MX" smtClean="0"/>
              <a:t>19/07/2021</a:t>
            </a:fld>
            <a:endParaRPr lang="es-MX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s-MX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800F4215-62AB-4389-BAEB-BF63C3EDB190}" type="slidenum">
              <a:rPr lang="es-MX" smtClean="0"/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87503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37515" algn="l" defTabSz="87503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875030" algn="l" defTabSz="87503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11910" algn="l" defTabSz="87503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749425" algn="l" defTabSz="87503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186940" algn="l" defTabSz="87503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624455" algn="l" defTabSz="87503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061970" algn="l" defTabSz="87503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498850" algn="l" defTabSz="87503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0F4215-62AB-4389-BAEB-BF63C3EDB190}" type="slidenum">
              <a:rPr lang="es-MX" smtClean="0"/>
              <a:t>1</a:t>
            </a:fld>
            <a:endParaRPr lang="es-MX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0F4215-62AB-4389-BAEB-BF63C3EDB190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5762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/>
        </p:nvSpPr>
        <p:spPr bwMode="white">
          <a:xfrm>
            <a:off x="0" y="5971034"/>
            <a:ext cx="12192000" cy="88696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87478" tIns="43739" rIns="87478" bIns="43739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9 Rectángulo"/>
          <p:cNvSpPr/>
          <p:nvPr/>
        </p:nvSpPr>
        <p:spPr>
          <a:xfrm>
            <a:off x="-12187" y="6053338"/>
            <a:ext cx="2999232" cy="71322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87478" tIns="43739" rIns="87478" bIns="43739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10 Rectángulo"/>
          <p:cNvSpPr/>
          <p:nvPr/>
        </p:nvSpPr>
        <p:spPr>
          <a:xfrm>
            <a:off x="3145538" y="6044195"/>
            <a:ext cx="9046465" cy="71322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87478" tIns="43739" rIns="87478" bIns="43739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3149601" y="4038602"/>
            <a:ext cx="8636001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 hasCustomPrompt="1"/>
          </p:nvPr>
        </p:nvSpPr>
        <p:spPr>
          <a:xfrm>
            <a:off x="3149604" y="6050040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37515" indent="0" algn="ctr">
              <a:buNone/>
            </a:lvl2pPr>
            <a:lvl3pPr marL="875030" indent="0" algn="ctr">
              <a:buNone/>
            </a:lvl3pPr>
            <a:lvl4pPr marL="1311910" indent="0" algn="ctr">
              <a:buNone/>
            </a:lvl4pPr>
            <a:lvl5pPr marL="1749425" indent="0" algn="ctr">
              <a:buNone/>
            </a:lvl5pPr>
            <a:lvl6pPr marL="2186940" indent="0" algn="ctr">
              <a:buNone/>
            </a:lvl6pPr>
            <a:lvl7pPr marL="2624455" indent="0" algn="ctr">
              <a:buNone/>
            </a:lvl7pPr>
            <a:lvl8pPr marL="3061970" indent="0" algn="ctr">
              <a:buNone/>
            </a:lvl8pPr>
            <a:lvl9pPr marL="349885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101602" y="6068700"/>
            <a:ext cx="2743204" cy="685800"/>
          </a:xfrm>
        </p:spPr>
        <p:txBody>
          <a:bodyPr>
            <a:noAutofit/>
          </a:bodyPr>
          <a:lstStyle>
            <a:lvl1pPr algn="ctr">
              <a:defRPr sz="1900">
                <a:solidFill>
                  <a:srgbClr val="FFFFFF"/>
                </a:solidFill>
              </a:defRPr>
            </a:lvl1pPr>
          </a:lstStyle>
          <a:p>
            <a:fld id="{286B9B29-4B1D-4FF2-8114-E411FE9B7832}" type="datetime1">
              <a:rPr lang="es-MX" smtClean="0"/>
              <a:t>19/07/2021</a:t>
            </a:fld>
            <a:endParaRPr lang="es-MX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780532" y="236548"/>
            <a:ext cx="7823201" cy="365123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A843316-B43C-4E52-873D-0C9E2FEB156F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16863" y="228600"/>
            <a:ext cx="10871200" cy="68012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E5227-529E-4DAA-9F7B-177A13D954ED}" type="datetime1">
              <a:rPr lang="es-MX" smtClean="0"/>
              <a:t>19/07/2021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3" y="1333194"/>
            <a:ext cx="711199" cy="24447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A843316-B43C-4E52-873D-0C9E2FEB156F}" type="slidenum">
              <a:rPr lang="es-MX" smtClean="0"/>
              <a:t>‹Nº›</a:t>
            </a:fld>
            <a:endParaRPr lang="es-MX" dirty="0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 hasCustomPrompt="1"/>
          </p:nvPr>
        </p:nvSpPr>
        <p:spPr>
          <a:xfrm>
            <a:off x="816863" y="2060848"/>
            <a:ext cx="10871200" cy="4035152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260648"/>
            <a:ext cx="1250217" cy="103101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1828806" y="2743215"/>
            <a:ext cx="9497485" cy="1673227"/>
          </a:xfrm>
        </p:spPr>
        <p:txBody>
          <a:bodyPr anchor="t"/>
          <a:lstStyle>
            <a:lvl1pPr marL="0" indent="0">
              <a:buNone/>
              <a:defRPr sz="26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7" name="6 Rectángulo"/>
          <p:cNvSpPr/>
          <p:nvPr/>
        </p:nvSpPr>
        <p:spPr bwMode="white">
          <a:xfrm>
            <a:off x="0" y="152401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87478" tIns="43739" rIns="87478" bIns="43739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7 Rectángulo"/>
          <p:cNvSpPr/>
          <p:nvPr/>
        </p:nvSpPr>
        <p:spPr>
          <a:xfrm>
            <a:off x="5" y="1600202"/>
            <a:ext cx="1727201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87478" tIns="43739" rIns="87478" bIns="43739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8 Rectángulo"/>
          <p:cNvSpPr/>
          <p:nvPr/>
        </p:nvSpPr>
        <p:spPr>
          <a:xfrm>
            <a:off x="1828805" y="1600202"/>
            <a:ext cx="10363201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87478" tIns="43739" rIns="87478" bIns="43739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828801" y="1600202"/>
            <a:ext cx="10160000" cy="990600"/>
          </a:xfrm>
        </p:spPr>
        <p:txBody>
          <a:bodyPr/>
          <a:lstStyle>
            <a:lvl1pPr algn="l">
              <a:buNone/>
              <a:defRPr sz="4200" b="0" cap="none">
                <a:solidFill>
                  <a:srgbClr val="FFFFFF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2" name="1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49DA7-1FD2-4B8E-AC29-FDFCAF12F4B3}" type="datetime1">
              <a:rPr lang="es-MX" smtClean="0"/>
              <a:t>19/07/2021</a:t>
            </a:fld>
            <a:endParaRPr lang="es-MX"/>
          </a:p>
        </p:txBody>
      </p:sp>
      <p:sp>
        <p:nvSpPr>
          <p:cNvPr id="13" name="12 Marcador de número de diapositiva"/>
          <p:cNvSpPr>
            <a:spLocks noGrp="1"/>
          </p:cNvSpPr>
          <p:nvPr>
            <p:ph type="sldNum" sz="quarter" idx="11"/>
          </p:nvPr>
        </p:nvSpPr>
        <p:spPr>
          <a:xfrm>
            <a:off x="5" y="1752606"/>
            <a:ext cx="1727201" cy="70167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>
                <a:solidFill>
                  <a:srgbClr val="FFFFFF"/>
                </a:solidFill>
              </a:defRPr>
            </a:lvl1pPr>
          </a:lstStyle>
          <a:p>
            <a:fld id="{DA843316-B43C-4E52-873D-0C9E2FEB156F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13 Marcador de pie de página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MX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 hasCustomPrompt="1"/>
          </p:nvPr>
        </p:nvSpPr>
        <p:spPr>
          <a:xfrm>
            <a:off x="812805" y="1589564"/>
            <a:ext cx="5181604" cy="45720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 hasCustomPrompt="1"/>
          </p:nvPr>
        </p:nvSpPr>
        <p:spPr>
          <a:xfrm>
            <a:off x="6459871" y="1589564"/>
            <a:ext cx="5181604" cy="45720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8" name="7 Marcador de fecha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0579F5D7-4126-4132-A560-AEA52D801A52}" type="datetime1">
              <a:rPr lang="es-MX" smtClean="0"/>
              <a:t>19/07/2021</a:t>
            </a:fld>
            <a:endParaRPr lang="es-MX"/>
          </a:p>
        </p:txBody>
      </p:sp>
      <p:sp>
        <p:nvSpPr>
          <p:cNvPr id="10" name="9 Marcador de número de diapositiva"/>
          <p:cNvSpPr>
            <a:spLocks noGrp="1"/>
          </p:cNvSpPr>
          <p:nvPr>
            <p:ph type="sldNum" sz="quarter" idx="16"/>
          </p:nvPr>
        </p:nvSpPr>
        <p:spPr>
          <a:xfrm>
            <a:off x="3" y="1272234"/>
            <a:ext cx="711199" cy="244477"/>
          </a:xfrm>
          <a:prstGeom prst="rect">
            <a:avLst/>
          </a:prstGeom>
        </p:spPr>
        <p:txBody>
          <a:bodyPr rtlCol="0"/>
          <a:lstStyle/>
          <a:p>
            <a:fld id="{DA843316-B43C-4E52-873D-0C9E2FEB156F}" type="slidenum">
              <a:rPr lang="es-MX" smtClean="0"/>
              <a:t>‹Nº›</a:t>
            </a:fld>
            <a:endParaRPr lang="es-MX"/>
          </a:p>
        </p:txBody>
      </p:sp>
      <p:sp>
        <p:nvSpPr>
          <p:cNvPr id="12" name="11 Marcador de pie de página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s-MX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11199" y="273057"/>
            <a:ext cx="10871200" cy="869947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 hasCustomPrompt="1"/>
          </p:nvPr>
        </p:nvSpPr>
        <p:spPr>
          <a:xfrm>
            <a:off x="812805" y="2438400"/>
            <a:ext cx="5181604" cy="35814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 hasCustomPrompt="1"/>
          </p:nvPr>
        </p:nvSpPr>
        <p:spPr>
          <a:xfrm>
            <a:off x="6400802" y="2438400"/>
            <a:ext cx="5181604" cy="35814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C0D0EDDE-7750-4409-B3D8-7FF9660655A0}" type="datetime1">
              <a:rPr lang="es-MX" smtClean="0"/>
              <a:t>19/07/2021</a:t>
            </a:fld>
            <a:endParaRPr lang="es-MX"/>
          </a:p>
        </p:txBody>
      </p:sp>
      <p:sp>
        <p:nvSpPr>
          <p:cNvPr id="12" name="11 Marcador de número de diapositiva"/>
          <p:cNvSpPr>
            <a:spLocks noGrp="1"/>
          </p:cNvSpPr>
          <p:nvPr>
            <p:ph type="sldNum" sz="quarter" idx="16"/>
          </p:nvPr>
        </p:nvSpPr>
        <p:spPr>
          <a:xfrm>
            <a:off x="3" y="1272234"/>
            <a:ext cx="711199" cy="244477"/>
          </a:xfrm>
          <a:prstGeom prst="rect">
            <a:avLst/>
          </a:prstGeom>
        </p:spPr>
        <p:txBody>
          <a:bodyPr rtlCol="0"/>
          <a:lstStyle/>
          <a:p>
            <a:fld id="{DA843316-B43C-4E52-873D-0C9E2FEB156F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13 Marcador de pie de página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s-MX"/>
          </a:p>
        </p:txBody>
      </p:sp>
      <p:sp>
        <p:nvSpPr>
          <p:cNvPr id="16" name="15 Marcador de texto"/>
          <p:cNvSpPr>
            <a:spLocks noGrp="1"/>
          </p:cNvSpPr>
          <p:nvPr>
            <p:ph type="body" sz="quarter" idx="1" hasCustomPrompt="1"/>
          </p:nvPr>
        </p:nvSpPr>
        <p:spPr>
          <a:xfrm>
            <a:off x="812805" y="1752601"/>
            <a:ext cx="5181604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19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3" hasCustomPrompt="1"/>
          </p:nvPr>
        </p:nvSpPr>
        <p:spPr>
          <a:xfrm>
            <a:off x="6400802" y="1752601"/>
            <a:ext cx="5181604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19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285A-E204-4B25-AA28-2F10AEA183B5}" type="datetime1">
              <a:rPr lang="es-MX" smtClean="0"/>
              <a:t>19/07/2021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3" y="1272234"/>
            <a:ext cx="711199" cy="24447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A843316-B43C-4E52-873D-0C9E2FEB156F}" type="slidenum">
              <a:rPr lang="es-MX" smtClean="0"/>
              <a:t>‹Nº›</a:t>
            </a:fld>
            <a:endParaRPr lang="es-MX"/>
          </a:p>
        </p:txBody>
      </p:sp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260648"/>
            <a:ext cx="1250217" cy="103101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189FC-6412-4193-A8B1-2F93C7C44C82}" type="datetime1">
              <a:rPr lang="es-MX" smtClean="0"/>
              <a:t>19/07/2021</a:t>
            </a:fld>
            <a:endParaRPr lang="es-MX"/>
          </a:p>
        </p:txBody>
      </p: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260648"/>
            <a:ext cx="1250217" cy="103101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12801" y="273057"/>
            <a:ext cx="10769600" cy="869947"/>
          </a:xfrm>
        </p:spPr>
        <p:txBody>
          <a:bodyPr anchor="ctr"/>
          <a:lstStyle>
            <a:lvl1pPr algn="l">
              <a:buNone/>
              <a:defRPr sz="4200" b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ABE5E-E3C3-41DE-A718-BA6739C965AF}" type="datetime1">
              <a:rPr lang="es-MX" smtClean="0"/>
              <a:t>19/07/2021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3" y="1272234"/>
            <a:ext cx="711199" cy="24447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A843316-B43C-4E52-873D-0C9E2FEB156F}" type="slidenum">
              <a:rPr lang="es-MX" smtClean="0"/>
              <a:t>‹Nº›</a:t>
            </a:fld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2" hasCustomPrompt="1"/>
          </p:nvPr>
        </p:nvSpPr>
        <p:spPr>
          <a:xfrm>
            <a:off x="812805" y="1752601"/>
            <a:ext cx="2133601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1214" tIns="174953" rIns="131214" bIns="87478"/>
          <a:lstStyle>
            <a:lvl1pPr marL="0" indent="0">
              <a:spcAft>
                <a:spcPts val="955"/>
              </a:spcAft>
              <a:buNone/>
              <a:defRPr sz="1800"/>
            </a:lvl1pPr>
            <a:lvl2pPr>
              <a:buNone/>
              <a:defRPr sz="1300"/>
            </a:lvl2pPr>
            <a:lvl3pPr>
              <a:buNone/>
              <a:defRPr sz="9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 hasCustomPrompt="1"/>
          </p:nvPr>
        </p:nvSpPr>
        <p:spPr>
          <a:xfrm>
            <a:off x="3149601" y="1752600"/>
            <a:ext cx="8534400" cy="44196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2133597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500"/>
            </a:lvl1pPr>
            <a:lvl2pPr>
              <a:buFontTx/>
              <a:buNone/>
              <a:defRPr sz="1300"/>
            </a:lvl2pPr>
            <a:lvl3pPr>
              <a:buFontTx/>
              <a:buNone/>
              <a:defRPr sz="9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8" name="7 Rectángulo"/>
          <p:cNvSpPr/>
          <p:nvPr/>
        </p:nvSpPr>
        <p:spPr bwMode="white">
          <a:xfrm>
            <a:off x="-12192" y="4572000"/>
            <a:ext cx="12192000" cy="88696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87478" tIns="43739" rIns="87478" bIns="43739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8 Rectángulo"/>
          <p:cNvSpPr/>
          <p:nvPr/>
        </p:nvSpPr>
        <p:spPr>
          <a:xfrm>
            <a:off x="-12192" y="4663453"/>
            <a:ext cx="1950720" cy="71322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87478" tIns="43739" rIns="87478" bIns="43739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9 Rectángulo"/>
          <p:cNvSpPr/>
          <p:nvPr/>
        </p:nvSpPr>
        <p:spPr>
          <a:xfrm>
            <a:off x="2060457" y="4654311"/>
            <a:ext cx="10131551" cy="71322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87478" tIns="43739" rIns="87478" bIns="43739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33597" y="4648208"/>
            <a:ext cx="9753600" cy="685800"/>
          </a:xfrm>
        </p:spPr>
        <p:txBody>
          <a:bodyPr anchor="ctr"/>
          <a:lstStyle>
            <a:lvl1pPr algn="l">
              <a:buNone/>
              <a:defRPr sz="2600" b="0">
                <a:solidFill>
                  <a:srgbClr val="FFFFFF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1" name="10 Rectángulo"/>
          <p:cNvSpPr/>
          <p:nvPr/>
        </p:nvSpPr>
        <p:spPr bwMode="white">
          <a:xfrm>
            <a:off x="1930403" y="5"/>
            <a:ext cx="134111" cy="686714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87478" tIns="43739" rIns="87478" bIns="43739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11 Marcador de fecha"/>
          <p:cNvSpPr>
            <a:spLocks noGrp="1"/>
          </p:cNvSpPr>
          <p:nvPr>
            <p:ph type="dt" sz="half" idx="10"/>
          </p:nvPr>
        </p:nvSpPr>
        <p:spPr>
          <a:xfrm>
            <a:off x="8331201" y="6248405"/>
            <a:ext cx="3556000" cy="365123"/>
          </a:xfrm>
        </p:spPr>
        <p:txBody>
          <a:bodyPr rtlCol="0"/>
          <a:lstStyle/>
          <a:p>
            <a:fld id="{8E6951D3-1E5B-48B7-8523-48C58EBD0F56}" type="datetime1">
              <a:rPr lang="es-MX" smtClean="0"/>
              <a:t>19/07/2021</a:t>
            </a:fld>
            <a:endParaRPr lang="es-MX"/>
          </a:p>
        </p:txBody>
      </p:sp>
      <p:sp>
        <p:nvSpPr>
          <p:cNvPr id="13" name="12 Marcador de número de diapositiva"/>
          <p:cNvSpPr>
            <a:spLocks noGrp="1"/>
          </p:cNvSpPr>
          <p:nvPr>
            <p:ph type="sldNum" sz="quarter" idx="11"/>
          </p:nvPr>
        </p:nvSpPr>
        <p:spPr>
          <a:xfrm>
            <a:off x="5" y="4667255"/>
            <a:ext cx="1930399" cy="663577"/>
          </a:xfrm>
          <a:prstGeom prst="rect">
            <a:avLst/>
          </a:prstGeom>
        </p:spPr>
        <p:txBody>
          <a:bodyPr rtlCol="0"/>
          <a:lstStyle>
            <a:lvl1pPr>
              <a:defRPr sz="2600"/>
            </a:lvl1pPr>
          </a:lstStyle>
          <a:p>
            <a:fld id="{DA843316-B43C-4E52-873D-0C9E2FEB156F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13 Marcador de pie de página"/>
          <p:cNvSpPr>
            <a:spLocks noGrp="1"/>
          </p:cNvSpPr>
          <p:nvPr>
            <p:ph type="ftr" sz="quarter" idx="12"/>
          </p:nvPr>
        </p:nvSpPr>
        <p:spPr>
          <a:xfrm>
            <a:off x="2133604" y="6248218"/>
            <a:ext cx="6096000" cy="365123"/>
          </a:xfrm>
        </p:spPr>
        <p:txBody>
          <a:bodyPr rtlCol="0"/>
          <a:lstStyle/>
          <a:p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080772" y="13"/>
            <a:ext cx="10111232" cy="4568947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0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B72D6-0F4B-48F9-B81D-C31BD7218849}" type="datetime1">
              <a:rPr lang="es-MX" smtClean="0"/>
              <a:t>19/07/2021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3" y="1272234"/>
            <a:ext cx="711199" cy="244477"/>
          </a:xfrm>
          <a:prstGeom prst="rect">
            <a:avLst/>
          </a:prstGeom>
        </p:spPr>
        <p:txBody>
          <a:bodyPr/>
          <a:lstStyle/>
          <a:p>
            <a:fld id="{DA843316-B43C-4E52-873D-0C9E2FEB156F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737602" y="609600"/>
            <a:ext cx="2743204" cy="5516566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1" y="609600"/>
            <a:ext cx="7416801" cy="5516566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8737605" y="6248412"/>
            <a:ext cx="2946401" cy="365123"/>
          </a:xfrm>
        </p:spPr>
        <p:txBody>
          <a:bodyPr/>
          <a:lstStyle/>
          <a:p>
            <a:fld id="{05973D39-60EE-40DC-B97E-532D341F348D}" type="datetime1">
              <a:rPr lang="es-MX" smtClean="0"/>
              <a:t>19/07/2021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609603" y="6248218"/>
            <a:ext cx="7431312" cy="365123"/>
          </a:xfrm>
        </p:spPr>
        <p:txBody>
          <a:bodyPr/>
          <a:lstStyle/>
          <a:p>
            <a:endParaRPr lang="es-MX"/>
          </a:p>
        </p:txBody>
      </p:sp>
      <p:sp>
        <p:nvSpPr>
          <p:cNvPr id="7" name="6 Rectángulo"/>
          <p:cNvSpPr/>
          <p:nvPr/>
        </p:nvSpPr>
        <p:spPr bwMode="white">
          <a:xfrm>
            <a:off x="8128429" y="2"/>
            <a:ext cx="426721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478" tIns="43739" rIns="87478" bIns="43739"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7 Rectángulo"/>
          <p:cNvSpPr/>
          <p:nvPr/>
        </p:nvSpPr>
        <p:spPr>
          <a:xfrm>
            <a:off x="8189389" y="609600"/>
            <a:ext cx="304804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478" tIns="43739" rIns="87478" bIns="43739"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8 Rectángulo"/>
          <p:cNvSpPr/>
          <p:nvPr/>
        </p:nvSpPr>
        <p:spPr>
          <a:xfrm>
            <a:off x="8189389" y="0"/>
            <a:ext cx="304804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478" tIns="43739" rIns="87478" bIns="43739"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 rot="5400000">
            <a:off x="8075085" y="103724"/>
            <a:ext cx="533400" cy="325968"/>
          </a:xfrm>
          <a:prstGeom prst="rect">
            <a:avLst/>
          </a:prstGeom>
        </p:spPr>
        <p:txBody>
          <a:bodyPr/>
          <a:lstStyle/>
          <a:p>
            <a:fld id="{DA843316-B43C-4E52-873D-0C9E2FEB156F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812801" y="228600"/>
            <a:ext cx="10871200" cy="990600"/>
          </a:xfrm>
          <a:prstGeom prst="rect">
            <a:avLst/>
          </a:prstGeom>
        </p:spPr>
        <p:txBody>
          <a:bodyPr vert="horz" lIns="87478" tIns="43739" rIns="87478" bIns="43739" anchor="ctr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816863" y="1600200"/>
            <a:ext cx="10871200" cy="4526280"/>
          </a:xfrm>
          <a:prstGeom prst="rect">
            <a:avLst/>
          </a:prstGeom>
        </p:spPr>
        <p:txBody>
          <a:bodyPr vert="horz" lIns="87478" tIns="43739" rIns="87478" bIns="43739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8128001" y="6248405"/>
            <a:ext cx="3556000" cy="365123"/>
          </a:xfrm>
          <a:prstGeom prst="rect">
            <a:avLst/>
          </a:prstGeom>
        </p:spPr>
        <p:txBody>
          <a:bodyPr vert="horz" lIns="87478" tIns="43739" rIns="87478" bIns="43739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1F062BF-792A-42D4-8AFF-2851E3DAC81B}" type="datetime1">
              <a:rPr lang="es-MX" smtClean="0"/>
              <a:t>19/07/2021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812807" y="6248218"/>
            <a:ext cx="7228112" cy="365123"/>
          </a:xfrm>
          <a:prstGeom prst="rect">
            <a:avLst/>
          </a:prstGeom>
        </p:spPr>
        <p:txBody>
          <a:bodyPr vert="horz" lIns="87478" tIns="43739" rIns="87478" bIns="43739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7" name="6 Rectángulo"/>
          <p:cNvSpPr/>
          <p:nvPr/>
        </p:nvSpPr>
        <p:spPr bwMode="white">
          <a:xfrm>
            <a:off x="0" y="1234440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87478" tIns="43739" rIns="87478" bIns="43739"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06070" indent="-306070" algn="l" rtl="0" eaLnBrk="1" latinLnBrk="0" hangingPunct="1">
        <a:spcBef>
          <a:spcPts val="670"/>
        </a:spcBef>
        <a:buClr>
          <a:schemeClr val="accent2"/>
        </a:buClr>
        <a:buSzPct val="60000"/>
        <a:buFont typeface="Wingdings" panose="05000000000000000000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140" indent="-262255" algn="l" rtl="0" eaLnBrk="1" latinLnBrk="0" hangingPunct="1">
        <a:spcBef>
          <a:spcPts val="525"/>
        </a:spcBef>
        <a:buClr>
          <a:schemeClr val="accent1"/>
        </a:buClr>
        <a:buSzPct val="70000"/>
        <a:buFont typeface="Wingdings 2" panose="05020102010507070707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75030" indent="-218440" algn="l" rtl="0" eaLnBrk="1" latinLnBrk="0" hangingPunct="1">
        <a:spcBef>
          <a:spcPts val="480"/>
        </a:spcBef>
        <a:buClr>
          <a:schemeClr val="accent2"/>
        </a:buClr>
        <a:buSzPct val="75000"/>
        <a:buFont typeface="Wingdings" panose="05000000000000000000"/>
        <a:buChar char="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11910" indent="-218440" algn="l" rtl="0" eaLnBrk="1" latinLnBrk="0" hangingPunct="1">
        <a:spcBef>
          <a:spcPts val="385"/>
        </a:spcBef>
        <a:buClr>
          <a:schemeClr val="accent3"/>
        </a:buClr>
        <a:buSzPct val="75000"/>
        <a:buFont typeface="Wingdings" panose="05000000000000000000"/>
        <a:buChar char="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749425" indent="-218440" algn="l" rtl="0" eaLnBrk="1" latinLnBrk="0" hangingPunct="1">
        <a:spcBef>
          <a:spcPts val="385"/>
        </a:spcBef>
        <a:buClr>
          <a:schemeClr val="accent4"/>
        </a:buClr>
        <a:buSzPct val="65000"/>
        <a:buFont typeface="Wingdings" panose="05000000000000000000"/>
        <a:buChar char="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18440" algn="l" rtl="0" eaLnBrk="1" latinLnBrk="0" hangingPunct="1">
        <a:spcBef>
          <a:spcPct val="20000"/>
        </a:spcBef>
        <a:buClr>
          <a:schemeClr val="accent1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274570" indent="-218440" algn="l" rtl="0" eaLnBrk="1" latinLnBrk="0" hangingPunct="1">
        <a:spcBef>
          <a:spcPct val="20000"/>
        </a:spcBef>
        <a:buClr>
          <a:schemeClr val="accent2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36825" indent="-218440" algn="l" rtl="0" eaLnBrk="1" latinLnBrk="0" hangingPunct="1">
        <a:spcBef>
          <a:spcPct val="20000"/>
        </a:spcBef>
        <a:buClr>
          <a:schemeClr val="accent3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99080" indent="-218440" algn="l" rtl="0" eaLnBrk="1" latinLnBrk="0" hangingPunct="1">
        <a:spcBef>
          <a:spcPct val="20000"/>
        </a:spcBef>
        <a:buClr>
          <a:schemeClr val="accent4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3751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87503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1191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74942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18694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62445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06197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49885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749756" y="3120390"/>
            <a:ext cx="1054625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C" sz="3600" b="1" dirty="0">
                <a:solidFill>
                  <a:schemeClr val="accent1">
                    <a:lumMod val="50000"/>
                  </a:schemeClr>
                </a:solidFill>
              </a:rPr>
              <a:t>Informe Ejecutivo</a:t>
            </a:r>
          </a:p>
          <a:p>
            <a:pPr algn="just"/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CONSULTORÍA PARA LA REMEDIACIÓN DE RIESGOS INFORMÁTICOS Y PREPARACIÓN PARA LA CERTIFICACIÓN ISO-27001 DE LA FUNDACIÓN TERMINAL TERRESTRE DE GUAYAQUIL (FTTG)</a:t>
            </a:r>
            <a:endParaRPr lang="es-EC" sz="28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r"/>
            <a:endParaRPr lang="es-EC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r"/>
            <a:endParaRPr lang="es-EC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r"/>
            <a:r>
              <a:rPr lang="es-EC" sz="2000" b="1" dirty="0">
                <a:solidFill>
                  <a:schemeClr val="accent1">
                    <a:lumMod val="50000"/>
                  </a:schemeClr>
                </a:solidFill>
              </a:rPr>
              <a:t>17 de julio de 2021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985" y="1631315"/>
            <a:ext cx="1805305" cy="1489075"/>
          </a:xfrm>
          <a:prstGeom prst="rect">
            <a:avLst/>
          </a:prstGeom>
        </p:spPr>
      </p:pic>
      <p:sp>
        <p:nvSpPr>
          <p:cNvPr id="9" name="4 CuadroTexto"/>
          <p:cNvSpPr txBox="1"/>
          <p:nvPr/>
        </p:nvSpPr>
        <p:spPr>
          <a:xfrm>
            <a:off x="2885257" y="1934877"/>
            <a:ext cx="4094480" cy="1101725"/>
          </a:xfrm>
          <a:prstGeom prst="rect">
            <a:avLst/>
          </a:prstGeom>
          <a:noFill/>
        </p:spPr>
        <p:txBody>
          <a:bodyPr wrap="none" lIns="87478" tIns="43739" rIns="87478" bIns="43739" rtlCol="0">
            <a:spAutoFit/>
          </a:bodyPr>
          <a:lstStyle/>
          <a:p>
            <a:r>
              <a:rPr lang="es-EC" sz="4000" b="1" dirty="0">
                <a:solidFill>
                  <a:schemeClr val="bg1">
                    <a:lumMod val="65000"/>
                  </a:schemeClr>
                </a:solidFill>
              </a:rPr>
              <a:t>MIRFAK</a:t>
            </a:r>
            <a:endParaRPr lang="es-ES_tradnl" sz="40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s-ES_tradnl" sz="2600" b="1" dirty="0">
                <a:solidFill>
                  <a:schemeClr val="bg1">
                    <a:lumMod val="65000"/>
                  </a:schemeClr>
                </a:solidFill>
              </a:rPr>
              <a:t>SERVICIOS &amp; CONSULTORÍA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A3FF3A-4AEE-4D9E-9B0F-7D64B76EB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0" y="378376"/>
            <a:ext cx="4511942" cy="680120"/>
          </a:xfrm>
        </p:spPr>
        <p:txBody>
          <a:bodyPr>
            <a:normAutofit fontScale="90000"/>
          </a:bodyPr>
          <a:lstStyle/>
          <a:p>
            <a:r>
              <a:rPr lang="es-EC" dirty="0"/>
              <a:t>Planificación Proyecto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4469EB4-210E-4443-AAC8-8413B99AC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43316-B43C-4E52-873D-0C9E2FEB156F}" type="slidenum">
              <a:rPr lang="es-MX" smtClean="0"/>
              <a:t>2</a:t>
            </a:fld>
            <a:endParaRPr lang="es-MX" dirty="0"/>
          </a:p>
        </p:txBody>
      </p:sp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C00C10A5-EB42-4E44-B260-0BFC5278D0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532987"/>
              </p:ext>
            </p:extLst>
          </p:nvPr>
        </p:nvGraphicFramePr>
        <p:xfrm>
          <a:off x="803412" y="1700808"/>
          <a:ext cx="10585175" cy="378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8945">
                  <a:extLst>
                    <a:ext uri="{9D8B030D-6E8A-4147-A177-3AD203B41FA5}">
                      <a16:colId xmlns:a16="http://schemas.microsoft.com/office/drawing/2014/main" val="875823397"/>
                    </a:ext>
                  </a:extLst>
                </a:gridCol>
                <a:gridCol w="1390223">
                  <a:extLst>
                    <a:ext uri="{9D8B030D-6E8A-4147-A177-3AD203B41FA5}">
                      <a16:colId xmlns:a16="http://schemas.microsoft.com/office/drawing/2014/main" val="1418192296"/>
                    </a:ext>
                  </a:extLst>
                </a:gridCol>
                <a:gridCol w="8096007">
                  <a:extLst>
                    <a:ext uri="{9D8B030D-6E8A-4147-A177-3AD203B41FA5}">
                      <a16:colId xmlns:a16="http://schemas.microsoft.com/office/drawing/2014/main" val="14268896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# Fase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# Servicio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Descripción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04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Planificación – Cronograma Proyecto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332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Establecimiento Metodología ciclo de vida del software</a:t>
                      </a:r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116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Establecimiento de las Prácticas de Gestión de Incidentes y Peticiones conforme ITIL V4</a:t>
                      </a:r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13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Preparación para la Certificación ISO 27001</a:t>
                      </a:r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94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Establecimiento Metodología de Control de Acceso a las Redes y sus Servicios</a:t>
                      </a:r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187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Aseguramiento (</a:t>
                      </a:r>
                      <a:r>
                        <a:rPr lang="es-EC" dirty="0" err="1"/>
                        <a:t>Hardening</a:t>
                      </a:r>
                      <a:r>
                        <a:rPr lang="es-EC" dirty="0"/>
                        <a:t>) de Servidores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730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Transferencia de Conocimientos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C" dirty="0"/>
                        <a:t>Aseguramiento (</a:t>
                      </a:r>
                      <a:r>
                        <a:rPr lang="es-EC" dirty="0" err="1"/>
                        <a:t>Hardening</a:t>
                      </a:r>
                      <a:r>
                        <a:rPr lang="es-EC" dirty="0"/>
                        <a:t>) de Servidores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dirty="0"/>
                        <a:t>Establecimiento de las prácticas de Gestión </a:t>
                      </a:r>
                      <a:r>
                        <a:rPr lang="es-ES" dirty="0" err="1"/>
                        <a:t>deincidentes</a:t>
                      </a:r>
                      <a:r>
                        <a:rPr lang="es-ES" dirty="0"/>
                        <a:t> y peticiones conforme ITIL V4</a:t>
                      </a:r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395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2000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A3FF3A-4AEE-4D9E-9B0F-7D64B76EB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265" y="457200"/>
            <a:ext cx="9696518" cy="680120"/>
          </a:xfrm>
        </p:spPr>
        <p:txBody>
          <a:bodyPr>
            <a:normAutofit fontScale="90000"/>
          </a:bodyPr>
          <a:lstStyle/>
          <a:p>
            <a:r>
              <a:rPr lang="es-EC" dirty="0"/>
              <a:t>Fase 2 – Servicio 1</a:t>
            </a:r>
            <a:br>
              <a:rPr lang="es-EC" dirty="0"/>
            </a:br>
            <a:r>
              <a:rPr lang="es-ES" sz="2200" dirty="0"/>
              <a:t>Establecimiento Metodología ciclo de vida del software</a:t>
            </a:r>
            <a:endParaRPr lang="es-EC" sz="2200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4469EB4-210E-4443-AAC8-8413B99AC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43316-B43C-4E52-873D-0C9E2FEB156F}" type="slidenum">
              <a:rPr lang="es-MX" smtClean="0"/>
              <a:t>3</a:t>
            </a:fld>
            <a:endParaRPr lang="es-MX" dirty="0"/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DAC3CBD8-704C-4F0F-B3F2-ACB067E2BA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604833"/>
              </p:ext>
            </p:extLst>
          </p:nvPr>
        </p:nvGraphicFramePr>
        <p:xfrm>
          <a:off x="370882" y="1580375"/>
          <a:ext cx="11413750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940">
                  <a:extLst>
                    <a:ext uri="{9D8B030D-6E8A-4147-A177-3AD203B41FA5}">
                      <a16:colId xmlns:a16="http://schemas.microsoft.com/office/drawing/2014/main" val="2362763753"/>
                    </a:ext>
                  </a:extLst>
                </a:gridCol>
                <a:gridCol w="5067178">
                  <a:extLst>
                    <a:ext uri="{9D8B030D-6E8A-4147-A177-3AD203B41FA5}">
                      <a16:colId xmlns:a16="http://schemas.microsoft.com/office/drawing/2014/main" val="835206898"/>
                    </a:ext>
                  </a:extLst>
                </a:gridCol>
                <a:gridCol w="5688632">
                  <a:extLst>
                    <a:ext uri="{9D8B030D-6E8A-4147-A177-3AD203B41FA5}">
                      <a16:colId xmlns:a16="http://schemas.microsoft.com/office/drawing/2014/main" val="17300651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Hallazgo - Riesgo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Logro - Recomendación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996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Se encuentra documentación de procesos muy general para el manejo de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Se realizan mejoras a los actuales documentos de políticas, proceso y procedimiento para el manejo del ciclo de vida de software orientado al control de la seguridad.</a:t>
                      </a:r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717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No se cuenta con un detalle de los requisitos mínimos de seguridad para software. Riesgo: generar vulnerabilidades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Se recomienda definir un standard en los requisitos mínimos de seguridad para desarrollos nuevos o a futuras contrataciones, y particularizarlos dependiendo del aplicativo a desarrollar o adquirir</a:t>
                      </a:r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3784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s-EC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Control de auditoria en aplicativos, con poco detalle o muy escaso. Riesgo: no tener trazabilidad en modificaciones.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Se recomienda definir todas las funcionalidades mínimas necesarias para poder tener la trazabilidad necesaria enfocada a procesos de auditoria.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409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s-EC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La creación de un nuevo aplicativo o la contratación o compra de un aplicativo de terceros, no considera el control necesario en temas de seguridad. </a:t>
                      </a:r>
                    </a:p>
                    <a:p>
                      <a:r>
                        <a:rPr lang="es-EC" dirty="0"/>
                        <a:t>Riesgo: no contar con aplicativos seguros.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Se hace énfasis en la recomendación de realizar análisis de riesgos, manejar protección de datos confidenciales, definir casos de uso para pruebas funcionales y casos de abuso para pruebas de seguridad (técnica y funcional).</a:t>
                      </a:r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52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288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A3FF3A-4AEE-4D9E-9B0F-7D64B76EB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513" y="228600"/>
            <a:ext cx="9984550" cy="1104594"/>
          </a:xfrm>
        </p:spPr>
        <p:txBody>
          <a:bodyPr>
            <a:normAutofit/>
          </a:bodyPr>
          <a:lstStyle/>
          <a:p>
            <a:r>
              <a:rPr lang="es-EC" dirty="0"/>
              <a:t>Fase 2 – Servicio 2</a:t>
            </a:r>
            <a:br>
              <a:rPr lang="es-EC" dirty="0"/>
            </a:br>
            <a:r>
              <a:rPr lang="es-ES" sz="2200" dirty="0"/>
              <a:t>Establecimiento de las Prácticas de Gestión de Incidentes y Peticiones conforme ITIL V4</a:t>
            </a:r>
            <a:endParaRPr lang="es-EC" sz="2200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4469EB4-210E-4443-AAC8-8413B99AC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43316-B43C-4E52-873D-0C9E2FEB156F}" type="slidenum">
              <a:rPr lang="es-MX" smtClean="0"/>
              <a:t>4</a:t>
            </a:fld>
            <a:endParaRPr lang="es-MX" dirty="0"/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DAC3CBD8-704C-4F0F-B3F2-ACB067E2BA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34688"/>
              </p:ext>
            </p:extLst>
          </p:nvPr>
        </p:nvGraphicFramePr>
        <p:xfrm>
          <a:off x="324748" y="1361034"/>
          <a:ext cx="11413750" cy="530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940">
                  <a:extLst>
                    <a:ext uri="{9D8B030D-6E8A-4147-A177-3AD203B41FA5}">
                      <a16:colId xmlns:a16="http://schemas.microsoft.com/office/drawing/2014/main" val="2362763753"/>
                    </a:ext>
                  </a:extLst>
                </a:gridCol>
                <a:gridCol w="5067178">
                  <a:extLst>
                    <a:ext uri="{9D8B030D-6E8A-4147-A177-3AD203B41FA5}">
                      <a16:colId xmlns:a16="http://schemas.microsoft.com/office/drawing/2014/main" val="835206898"/>
                    </a:ext>
                  </a:extLst>
                </a:gridCol>
                <a:gridCol w="5688632">
                  <a:extLst>
                    <a:ext uri="{9D8B030D-6E8A-4147-A177-3AD203B41FA5}">
                      <a16:colId xmlns:a16="http://schemas.microsoft.com/office/drawing/2014/main" val="17300651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Hallazgo - Riesgo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Logro - Recomendación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996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Documentación con poca orientación de la gestión del servicio a las prácticas de </a:t>
                      </a:r>
                      <a:r>
                        <a:rPr lang="es-EC" dirty="0" err="1"/>
                        <a:t>ITIL</a:t>
                      </a:r>
                      <a:r>
                        <a:rPr lang="es-EC" dirty="0"/>
                        <a:t> 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Se realizan mejoras en políticas, proceso y procedimiento ajustadas a las practicas de gestión de Incidentes y gestión de solicitudes de </a:t>
                      </a:r>
                      <a:r>
                        <a:rPr lang="es-ES" dirty="0" err="1"/>
                        <a:t>ITIL</a:t>
                      </a:r>
                      <a:r>
                        <a:rPr lang="es-ES" dirty="0"/>
                        <a:t> 4</a:t>
                      </a:r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717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Canal de contacto de reporte de incidentes o solicitudes de servicios no esta definido. No hay control de reportes.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Se recomienda el manejo de una única extensión de contacto telefónico y un único buzón de correo</a:t>
                      </a:r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3784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s-EC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Configuraciones no actualizadas o inexactas en la herramienta de mesa de servicios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Se recomiendan realizar mejoras en la definición de configuraciones dentro de la herramienta de mesa de ayuda</a:t>
                      </a:r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409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s-EC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No hay claridad en la definición de funciones ni grupos de atención.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Se recomienda establecer grupos de soporte(primero, segundo y tercer nivel). Se recomienda la definición de un cargo de coordinador de la mesa de servicios.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28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es-EC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Detalle de inventarios de activos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Se debe actualizar y completar información de los activos necesarios para su asociación a los tickets de atención.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90034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es-EC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Conocimiento técnico esta centralizado en pocas personas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Se debe crear y mantener un base de conocimientos detallada de los incidentes mas frecuentes y su solución.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735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000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A3FF3A-4AEE-4D9E-9B0F-7D64B76EB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05" y="472440"/>
            <a:ext cx="10056558" cy="680120"/>
          </a:xfrm>
        </p:spPr>
        <p:txBody>
          <a:bodyPr>
            <a:normAutofit fontScale="90000"/>
          </a:bodyPr>
          <a:lstStyle/>
          <a:p>
            <a:r>
              <a:rPr lang="es-EC" dirty="0"/>
              <a:t>Fase 3 – Servicio 3</a:t>
            </a:r>
            <a:br>
              <a:rPr lang="es-EC" dirty="0"/>
            </a:br>
            <a:r>
              <a:rPr lang="es-ES" sz="2200" dirty="0"/>
              <a:t>Preparación para la Certificación ISO 27001</a:t>
            </a:r>
            <a:endParaRPr lang="es-EC" sz="2200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4469EB4-210E-4443-AAC8-8413B99AC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43316-B43C-4E52-873D-0C9E2FEB156F}" type="slidenum">
              <a:rPr lang="es-MX" smtClean="0"/>
              <a:t>5</a:t>
            </a:fld>
            <a:endParaRPr lang="es-MX" dirty="0"/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DAC3CBD8-704C-4F0F-B3F2-ACB067E2BA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029357"/>
              </p:ext>
            </p:extLst>
          </p:nvPr>
        </p:nvGraphicFramePr>
        <p:xfrm>
          <a:off x="370882" y="1580375"/>
          <a:ext cx="114137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940">
                  <a:extLst>
                    <a:ext uri="{9D8B030D-6E8A-4147-A177-3AD203B41FA5}">
                      <a16:colId xmlns:a16="http://schemas.microsoft.com/office/drawing/2014/main" val="2362763753"/>
                    </a:ext>
                  </a:extLst>
                </a:gridCol>
                <a:gridCol w="5067178">
                  <a:extLst>
                    <a:ext uri="{9D8B030D-6E8A-4147-A177-3AD203B41FA5}">
                      <a16:colId xmlns:a16="http://schemas.microsoft.com/office/drawing/2014/main" val="835206898"/>
                    </a:ext>
                  </a:extLst>
                </a:gridCol>
                <a:gridCol w="5688632">
                  <a:extLst>
                    <a:ext uri="{9D8B030D-6E8A-4147-A177-3AD203B41FA5}">
                      <a16:colId xmlns:a16="http://schemas.microsoft.com/office/drawing/2014/main" val="17300651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Hallazgo - Riesgo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Logro - Recomendación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996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717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37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409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6176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A3FF3A-4AEE-4D9E-9B0F-7D64B76EB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457" y="426720"/>
            <a:ext cx="10128566" cy="680120"/>
          </a:xfrm>
        </p:spPr>
        <p:txBody>
          <a:bodyPr>
            <a:normAutofit fontScale="90000"/>
          </a:bodyPr>
          <a:lstStyle/>
          <a:p>
            <a:r>
              <a:rPr lang="es-EC" dirty="0"/>
              <a:t>Fase 3 – Servicio 4</a:t>
            </a:r>
            <a:br>
              <a:rPr lang="es-EC" dirty="0"/>
            </a:br>
            <a:r>
              <a:rPr lang="es-ES" sz="2200" dirty="0"/>
              <a:t>Establecimiento Metodología de Control de Acceso a las Redes y sus Servicios</a:t>
            </a:r>
            <a:endParaRPr lang="es-EC" sz="2200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4469EB4-210E-4443-AAC8-8413B99AC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43316-B43C-4E52-873D-0C9E2FEB156F}" type="slidenum">
              <a:rPr lang="es-MX" smtClean="0"/>
              <a:t>6</a:t>
            </a:fld>
            <a:endParaRPr lang="es-MX" dirty="0"/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DAC3CBD8-704C-4F0F-B3F2-ACB067E2BAF6}"/>
              </a:ext>
            </a:extLst>
          </p:cNvPr>
          <p:cNvGraphicFramePr>
            <a:graphicFrameLocks noGrp="1"/>
          </p:cNvGraphicFramePr>
          <p:nvPr/>
        </p:nvGraphicFramePr>
        <p:xfrm>
          <a:off x="370882" y="1580375"/>
          <a:ext cx="114137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940">
                  <a:extLst>
                    <a:ext uri="{9D8B030D-6E8A-4147-A177-3AD203B41FA5}">
                      <a16:colId xmlns:a16="http://schemas.microsoft.com/office/drawing/2014/main" val="2362763753"/>
                    </a:ext>
                  </a:extLst>
                </a:gridCol>
                <a:gridCol w="5067178">
                  <a:extLst>
                    <a:ext uri="{9D8B030D-6E8A-4147-A177-3AD203B41FA5}">
                      <a16:colId xmlns:a16="http://schemas.microsoft.com/office/drawing/2014/main" val="835206898"/>
                    </a:ext>
                  </a:extLst>
                </a:gridCol>
                <a:gridCol w="5688632">
                  <a:extLst>
                    <a:ext uri="{9D8B030D-6E8A-4147-A177-3AD203B41FA5}">
                      <a16:colId xmlns:a16="http://schemas.microsoft.com/office/drawing/2014/main" val="17300651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Hallazgo - Riesgo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Logro - Recomendación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996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717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37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409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4499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A3FF3A-4AEE-4D9E-9B0F-7D64B76EB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497" y="426720"/>
            <a:ext cx="10128566" cy="680120"/>
          </a:xfrm>
        </p:spPr>
        <p:txBody>
          <a:bodyPr>
            <a:normAutofit fontScale="90000"/>
          </a:bodyPr>
          <a:lstStyle/>
          <a:p>
            <a:r>
              <a:rPr lang="es-EC" dirty="0"/>
              <a:t>Fase 4 – Servicio 5</a:t>
            </a:r>
            <a:br>
              <a:rPr lang="es-EC" dirty="0"/>
            </a:br>
            <a:r>
              <a:rPr lang="es-EC" sz="2200" dirty="0"/>
              <a:t>Aseguramiento (</a:t>
            </a:r>
            <a:r>
              <a:rPr lang="es-EC" sz="2200" dirty="0" err="1"/>
              <a:t>Hardening</a:t>
            </a:r>
            <a:r>
              <a:rPr lang="es-EC" sz="2200" dirty="0"/>
              <a:t>) de Servidores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4469EB4-210E-4443-AAC8-8413B99AC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43316-B43C-4E52-873D-0C9E2FEB156F}" type="slidenum">
              <a:rPr lang="es-MX" smtClean="0"/>
              <a:t>7</a:t>
            </a:fld>
            <a:endParaRPr lang="es-MX" dirty="0"/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DAC3CBD8-704C-4F0F-B3F2-ACB067E2BAF6}"/>
              </a:ext>
            </a:extLst>
          </p:cNvPr>
          <p:cNvGraphicFramePr>
            <a:graphicFrameLocks noGrp="1"/>
          </p:cNvGraphicFramePr>
          <p:nvPr/>
        </p:nvGraphicFramePr>
        <p:xfrm>
          <a:off x="370882" y="1580375"/>
          <a:ext cx="114137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940">
                  <a:extLst>
                    <a:ext uri="{9D8B030D-6E8A-4147-A177-3AD203B41FA5}">
                      <a16:colId xmlns:a16="http://schemas.microsoft.com/office/drawing/2014/main" val="2362763753"/>
                    </a:ext>
                  </a:extLst>
                </a:gridCol>
                <a:gridCol w="5067178">
                  <a:extLst>
                    <a:ext uri="{9D8B030D-6E8A-4147-A177-3AD203B41FA5}">
                      <a16:colId xmlns:a16="http://schemas.microsoft.com/office/drawing/2014/main" val="835206898"/>
                    </a:ext>
                  </a:extLst>
                </a:gridCol>
                <a:gridCol w="5688632">
                  <a:extLst>
                    <a:ext uri="{9D8B030D-6E8A-4147-A177-3AD203B41FA5}">
                      <a16:colId xmlns:a16="http://schemas.microsoft.com/office/drawing/2014/main" val="17300651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Hallazgo - Riesgo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Logro - Recomendación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996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717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37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409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6447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A3FF3A-4AEE-4D9E-9B0F-7D64B76EB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554" y="404664"/>
            <a:ext cx="10128566" cy="680120"/>
          </a:xfrm>
        </p:spPr>
        <p:txBody>
          <a:bodyPr>
            <a:normAutofit fontScale="90000"/>
          </a:bodyPr>
          <a:lstStyle/>
          <a:p>
            <a:r>
              <a:rPr lang="es-EC" dirty="0"/>
              <a:t>Fase 5 – Servicio 6</a:t>
            </a:r>
            <a:br>
              <a:rPr lang="es-EC" dirty="0"/>
            </a:br>
            <a:r>
              <a:rPr lang="es-EC" sz="2200" dirty="0"/>
              <a:t>Transferencia de Conocimientos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4469EB4-210E-4443-AAC8-8413B99AC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43316-B43C-4E52-873D-0C9E2FEB156F}" type="slidenum">
              <a:rPr lang="es-MX" smtClean="0"/>
              <a:t>8</a:t>
            </a:fld>
            <a:endParaRPr lang="es-MX" dirty="0"/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DAC3CBD8-704C-4F0F-B3F2-ACB067E2BAF6}"/>
              </a:ext>
            </a:extLst>
          </p:cNvPr>
          <p:cNvGraphicFramePr>
            <a:graphicFrameLocks noGrp="1"/>
          </p:cNvGraphicFramePr>
          <p:nvPr/>
        </p:nvGraphicFramePr>
        <p:xfrm>
          <a:off x="370882" y="1580375"/>
          <a:ext cx="114137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940">
                  <a:extLst>
                    <a:ext uri="{9D8B030D-6E8A-4147-A177-3AD203B41FA5}">
                      <a16:colId xmlns:a16="http://schemas.microsoft.com/office/drawing/2014/main" val="2362763753"/>
                    </a:ext>
                  </a:extLst>
                </a:gridCol>
                <a:gridCol w="5067178">
                  <a:extLst>
                    <a:ext uri="{9D8B030D-6E8A-4147-A177-3AD203B41FA5}">
                      <a16:colId xmlns:a16="http://schemas.microsoft.com/office/drawing/2014/main" val="835206898"/>
                    </a:ext>
                  </a:extLst>
                </a:gridCol>
                <a:gridCol w="5688632">
                  <a:extLst>
                    <a:ext uri="{9D8B030D-6E8A-4147-A177-3AD203B41FA5}">
                      <a16:colId xmlns:a16="http://schemas.microsoft.com/office/drawing/2014/main" val="17300651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Hallazgo - Riesgo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Logro - Recomendación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996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717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37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409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0037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749756" y="3120390"/>
            <a:ext cx="1054625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C" sz="3600" b="1" dirty="0">
                <a:solidFill>
                  <a:schemeClr val="accent1">
                    <a:lumMod val="50000"/>
                  </a:schemeClr>
                </a:solidFill>
              </a:rPr>
              <a:t>Informe Ejecutivo</a:t>
            </a:r>
          </a:p>
          <a:p>
            <a:pPr algn="just"/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CONSULTORÍA PARA LA REMEDIACIÓN DE RIESGOS INFORMÁTICOS Y PREPARACIÓN PARA LA CERTIFICACIÓN ISO-27001 DE LA FUNDACIÓN TERMINAL TERRESTRE DE GUAYAQUIL (FTTG)</a:t>
            </a:r>
            <a:endParaRPr lang="es-EC" sz="28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r"/>
            <a:endParaRPr lang="es-EC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r"/>
            <a:endParaRPr lang="es-EC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r"/>
            <a:r>
              <a:rPr lang="es-EC" sz="2000" b="1" dirty="0">
                <a:solidFill>
                  <a:schemeClr val="accent1">
                    <a:lumMod val="50000"/>
                  </a:schemeClr>
                </a:solidFill>
              </a:rPr>
              <a:t>17 de julio de 2021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985" y="1631315"/>
            <a:ext cx="1805305" cy="1489075"/>
          </a:xfrm>
          <a:prstGeom prst="rect">
            <a:avLst/>
          </a:prstGeom>
        </p:spPr>
      </p:pic>
      <p:sp>
        <p:nvSpPr>
          <p:cNvPr id="9" name="4 CuadroTexto"/>
          <p:cNvSpPr txBox="1"/>
          <p:nvPr/>
        </p:nvSpPr>
        <p:spPr>
          <a:xfrm>
            <a:off x="2885257" y="1934877"/>
            <a:ext cx="4094480" cy="1101725"/>
          </a:xfrm>
          <a:prstGeom prst="rect">
            <a:avLst/>
          </a:prstGeom>
          <a:noFill/>
        </p:spPr>
        <p:txBody>
          <a:bodyPr wrap="none" lIns="87478" tIns="43739" rIns="87478" bIns="43739" rtlCol="0">
            <a:spAutoFit/>
          </a:bodyPr>
          <a:lstStyle/>
          <a:p>
            <a:r>
              <a:rPr lang="es-EC" sz="4000" b="1" dirty="0">
                <a:solidFill>
                  <a:schemeClr val="bg1">
                    <a:lumMod val="65000"/>
                  </a:schemeClr>
                </a:solidFill>
              </a:rPr>
              <a:t>MIRFAK</a:t>
            </a:r>
            <a:endParaRPr lang="es-ES_tradnl" sz="40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s-ES_tradnl" sz="2600" b="1" dirty="0">
                <a:solidFill>
                  <a:schemeClr val="bg1">
                    <a:lumMod val="65000"/>
                  </a:schemeClr>
                </a:solidFill>
              </a:rPr>
              <a:t>SERVICIOS &amp; CONSULTORÍA</a:t>
            </a:r>
          </a:p>
        </p:txBody>
      </p:sp>
    </p:spTree>
    <p:extLst>
      <p:ext uri="{BB962C8B-B14F-4D97-AF65-F5344CB8AC3E}">
        <p14:creationId xmlns:p14="http://schemas.microsoft.com/office/powerpoint/2010/main" val="36576423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rmedio">
  <a:themeElements>
    <a:clrScheme name="Intermedi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Intermedi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Intermedi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1346</TotalTime>
  <Words>714</Words>
  <Application>Microsoft Office PowerPoint</Application>
  <PresentationFormat>Panorámica</PresentationFormat>
  <Paragraphs>116</Paragraphs>
  <Slides>9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Calibri</vt:lpstr>
      <vt:lpstr>Tw Cen MT</vt:lpstr>
      <vt:lpstr>Wingdings</vt:lpstr>
      <vt:lpstr>Wingdings 2</vt:lpstr>
      <vt:lpstr>Intermedio</vt:lpstr>
      <vt:lpstr>Presentación de PowerPoint</vt:lpstr>
      <vt:lpstr>Planificación Proyecto</vt:lpstr>
      <vt:lpstr>Fase 2 – Servicio 1 Establecimiento Metodología ciclo de vida del software</vt:lpstr>
      <vt:lpstr>Fase 2 – Servicio 2 Establecimiento de las Prácticas de Gestión de Incidentes y Peticiones conforme ITIL V4</vt:lpstr>
      <vt:lpstr>Fase 3 – Servicio 3 Preparación para la Certificación ISO 27001</vt:lpstr>
      <vt:lpstr>Fase 3 – Servicio 4 Establecimiento Metodología de Control de Acceso a las Redes y sus Servicios</vt:lpstr>
      <vt:lpstr>Fase 4 – Servicio 5 Aseguramiento (Hardening) de Servidores</vt:lpstr>
      <vt:lpstr>Fase 5 – Servicio 6 Transferencia de Conocimientos</vt:lpstr>
      <vt:lpstr>Presentación de PowerPoint</vt:lpstr>
    </vt:vector>
  </TitlesOfParts>
  <Company>NeTMeTRIX Consultores Tecnológicos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ASSESSMENT WILDAID - Themis</dc:title>
  <dc:subject>Presentación de Resultados</dc:subject>
  <dc:creator>Pedro C. Trejo</dc:creator>
  <cp:lastModifiedBy>CarlosReyes</cp:lastModifiedBy>
  <cp:revision>1351</cp:revision>
  <cp:lastPrinted>2014-01-21T14:08:00Z</cp:lastPrinted>
  <dcterms:created xsi:type="dcterms:W3CDTF">2012-11-12T15:16:00Z</dcterms:created>
  <dcterms:modified xsi:type="dcterms:W3CDTF">2021-07-19T18:40:52Z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3082-11.2.0.9937</vt:lpwstr>
  </property>
</Properties>
</file>