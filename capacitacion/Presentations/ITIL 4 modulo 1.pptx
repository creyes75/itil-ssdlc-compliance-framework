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1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ABBC2-9CB6-48E4-A89A-5C5DEB03F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8D9ED3-C679-4295-918A-784D0CC6D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610F8B-B750-4BD2-9EE0-6AB1FD5C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491B5A-CDAF-45F5-BBFB-81AC7D2A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C0A2B0-B4FA-42C9-B1A0-9EA0562E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921341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77602-133B-4A84-8C0E-58CD81C4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D2E5CC-8B5E-4931-A606-F8064A415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F20B4C-8831-4112-8F6C-9D7EE20D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59E40A-B097-4451-972B-8A64D779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58D1BD-7150-4884-99D5-39FACE64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17301398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563EB-F5D3-4D67-A2F1-47EAC010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5E257F-4DB3-49E7-9DD2-E13ADFE30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11E947-6FDE-495F-82AE-7E4958D8D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8D9276-4A54-437C-B691-796C2D24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959A8D-D91B-44D7-8B98-F42F1CC9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3205828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F2E8F-CF23-4CB9-98D5-D8D5F15F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37627-0F4A-45DE-941B-6B23BCEA1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1744F9-0D82-453C-8111-627E5D712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83F45B-9F72-4661-968B-70A8E8CD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86AD81-434E-435E-ABD7-D0632888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65701D-3B87-4D6E-89DB-AAD07E4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9489574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5CA62-B93D-4567-AEE1-6E26B124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A24EDC-316D-47F1-92BF-82901BF74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1CCAFC-8ABF-4F4F-BE0F-50D8AA2A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A66359-970E-426F-B98E-1EFE26E9B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11F004-BA1B-4AB7-857E-AE7AC37B7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0275D4-E1E7-478D-AEDF-C1314DF5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B15DE27-1581-4609-B609-CCD36CC0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FD3877-E1A4-49A1-B98C-E2C3497C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14446866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E2E22-0F7E-476E-BC11-504A7992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5130D0-2666-4140-9A25-B3530727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9D8799-A534-4852-9C7A-3A75798A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B26F04-7DBA-4918-AF23-B610AEAF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871138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DCCD67-39AF-496B-8800-65589BD1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76D488-7EC2-467C-8CAE-72A08B2E9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4312DF-D6E7-45ED-B831-94DC45F0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95611635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2F93F-753D-4CFB-8D45-8800E1F5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7D3FB-2050-4621-9B98-F685A6422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6DDB70-B29E-4C97-B22E-00888E633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CF2A4D-D128-4FEA-B719-FED648DF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348F24-8CEB-4134-8943-7D0863A6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336743-D7BE-4488-AF77-F2AD7EB1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07959715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DC21-1730-4FBA-9975-FD7DB2EC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983696-8987-49AE-A492-9328A7113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91B15A-0BDC-45B4-83CA-53480E717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83269B-6D92-4819-84AE-236941A6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77577A-78F4-43A6-A0DA-CA386EC1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54BDA-3424-4A4E-8249-273E679F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3302944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EC503-A397-4564-A1BF-9F822DBD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2F76D8-A456-4926-8CA4-6AB622588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CBB942-A440-4E59-AA73-E06950BA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998E03-E375-4F1D-8ADF-BE2A2236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8B1688-E8C1-4666-BA5A-81AB2A3A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11174346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885EB8-9606-40F6-8976-0146BC5EA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4925FC-CEB1-4D59-9C7F-3C4A19E3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8E7504-F7F0-4286-8AB9-D5DA44F5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808328-87D8-4CA5-B1C0-79CD4F1D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36952-B89D-4704-99EE-FF48E128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8729757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171C57-3027-49A1-8299-6D1BC1CB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57A6B4-5825-402E-8676-8B23B1C9D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8DE9B-719B-4733-966A-2D146E057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C1F00-4B8C-462A-A519-DECBF45C42C9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79016E-1142-42D0-ABA7-B6AE578E1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D3F47B-B493-4FD7-953F-8CC777605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2F8D8-8B66-446B-95F8-C08A6E9CA2A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2113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Capacitación 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		Julio - 2021</a:t>
            </a:r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1417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Fundamentos de </a:t>
            </a:r>
            <a:r>
              <a:rPr lang="es-EC" sz="3600" b="1" dirty="0" err="1">
                <a:solidFill>
                  <a:srgbClr val="FF0000"/>
                </a:solidFill>
              </a:rPr>
              <a:t>ITIL</a:t>
            </a:r>
            <a:r>
              <a:rPr lang="es-EC" sz="3600" b="1" dirty="0">
                <a:solidFill>
                  <a:srgbClr val="FF0000"/>
                </a:solidFill>
              </a:rPr>
              <a:t> 4 </a:t>
            </a:r>
          </a:p>
          <a:p>
            <a:endParaRPr lang="es-EC" sz="2200" dirty="0"/>
          </a:p>
          <a:p>
            <a:pPr marL="0" indent="0">
              <a:buNone/>
            </a:pPr>
            <a:r>
              <a:rPr lang="es-EC" sz="3200" b="1" dirty="0">
                <a:solidFill>
                  <a:srgbClr val="FF0000"/>
                </a:solidFill>
              </a:rPr>
              <a:t>Introducción </a:t>
            </a:r>
          </a:p>
          <a:p>
            <a:r>
              <a:rPr lang="es-EC" sz="2200" b="1" dirty="0"/>
              <a:t>Que es </a:t>
            </a:r>
            <a:r>
              <a:rPr lang="es-EC" sz="2200" b="1" dirty="0" err="1"/>
              <a:t>ITIL</a:t>
            </a:r>
            <a:r>
              <a:rPr lang="es-EC" sz="2200" b="1" dirty="0"/>
              <a:t>?</a:t>
            </a:r>
          </a:p>
          <a:p>
            <a:r>
              <a:rPr lang="es-EC" sz="2200" b="1" dirty="0"/>
              <a:t>Problemas de Gestión </a:t>
            </a:r>
          </a:p>
          <a:p>
            <a:r>
              <a:rPr lang="es-EC" sz="2200" b="1" dirty="0"/>
              <a:t>Para que sirve </a:t>
            </a:r>
            <a:r>
              <a:rPr lang="es-EC" sz="2200" b="1" dirty="0" err="1"/>
              <a:t>ITIL</a:t>
            </a:r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50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 lnSpcReduction="1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Que es </a:t>
            </a:r>
            <a:r>
              <a:rPr lang="es-ES" sz="32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ITIL</a:t>
            </a:r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El término </a:t>
            </a:r>
            <a:r>
              <a:rPr lang="es-ES" sz="2800" b="1" i="0" dirty="0" err="1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ITIL</a:t>
            </a:r>
            <a:r>
              <a:rPr lang="es-ES" sz="2800" b="1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®</a:t>
            </a: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 corresponde a un acrónimo, concretamente a </a:t>
            </a:r>
            <a:r>
              <a:rPr lang="es-ES" sz="2800" b="1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Biblioteca de Infraestructura de Tecnologías de Información</a:t>
            </a: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,</a:t>
            </a:r>
            <a:r>
              <a:rPr lang="es-ES" sz="2800" b="1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 </a:t>
            </a: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por su significado en inglés </a:t>
            </a:r>
            <a:r>
              <a:rPr lang="es-ES" sz="2800" b="1" i="1" dirty="0" err="1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Information</a:t>
            </a:r>
            <a:r>
              <a:rPr lang="es-ES" sz="2800" b="1" i="1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 </a:t>
            </a:r>
            <a:r>
              <a:rPr lang="es-ES" sz="2800" b="1" i="1" dirty="0" err="1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Technology</a:t>
            </a:r>
            <a:r>
              <a:rPr lang="es-ES" sz="2800" b="1" i="1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 </a:t>
            </a:r>
            <a:r>
              <a:rPr lang="es-ES" sz="2800" b="1" i="1" dirty="0" err="1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Infrastructure</a:t>
            </a:r>
            <a:r>
              <a:rPr lang="es-ES" sz="2800" b="1" i="1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 Library</a:t>
            </a:r>
            <a:r>
              <a:rPr lang="es-ES" sz="2800" b="0" i="1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. </a:t>
            </a:r>
            <a:r>
              <a:rPr lang="es-ES" sz="2800" b="0" i="0" dirty="0" err="1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ITIL</a:t>
            </a: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 corresponde a una </a:t>
            </a:r>
            <a:r>
              <a:rPr lang="es-ES" sz="2800" b="1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metodología de gestión</a:t>
            </a:r>
            <a:r>
              <a:rPr lang="es-ES" sz="2800" b="0" i="0" dirty="0">
                <a:solidFill>
                  <a:srgbClr val="333333"/>
                </a:solidFill>
                <a:effectLst/>
                <a:latin typeface="Open Sans" panose="020B0604020202020204" pitchFamily="34" charset="0"/>
              </a:rPr>
              <a:t> que propone una serie de prácticas estandarizadas que nos ayudan a mejorar la prestación de un servicio, reorganizando la manera que tiene la empresa de trabajar y en particular, la del departamento de TI.</a:t>
            </a: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330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Que es </a:t>
            </a:r>
            <a:r>
              <a:rPr lang="es-ES" sz="32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ITIL</a:t>
            </a:r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4000" dirty="0"/>
              <a:t>Es el marco de trabajo mas ampliamente aceptado a nivel mundial para la administración de servicios de tecnologías de la información (</a:t>
            </a:r>
            <a:r>
              <a:rPr lang="es-EC" sz="4000" dirty="0" err="1">
                <a:solidFill>
                  <a:srgbClr val="FF0000"/>
                </a:solidFill>
              </a:rPr>
              <a:t>ITSM</a:t>
            </a:r>
            <a:r>
              <a:rPr lang="es-EC" sz="4000" dirty="0"/>
              <a:t> – </a:t>
            </a:r>
            <a:r>
              <a:rPr lang="es-EC" sz="4000" dirty="0" err="1"/>
              <a:t>Information</a:t>
            </a:r>
            <a:r>
              <a:rPr lang="es-EC" sz="4000" dirty="0"/>
              <a:t> </a:t>
            </a:r>
            <a:r>
              <a:rPr lang="es-EC" sz="4000" dirty="0" err="1"/>
              <a:t>Technology</a:t>
            </a:r>
            <a:r>
              <a:rPr lang="es-EC" sz="4000" dirty="0"/>
              <a:t> </a:t>
            </a:r>
            <a:r>
              <a:rPr lang="es-EC" sz="4000" dirty="0" err="1"/>
              <a:t>Service</a:t>
            </a:r>
            <a:r>
              <a:rPr lang="es-EC" sz="4000" dirty="0"/>
              <a:t> Management)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354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Problemas de Gestión 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2800" b="1" dirty="0"/>
              <a:t>No se tienen prioridades </a:t>
            </a:r>
            <a:r>
              <a:rPr lang="es-EC" sz="2800" dirty="0"/>
              <a:t>definidas para los servicios de TI con respecto de las necesidades del negocio.</a:t>
            </a:r>
          </a:p>
          <a:p>
            <a:pPr marL="457200" lvl="1" indent="0" algn="just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4D160178-7F4A-4870-A10E-605E29C9E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295594"/>
              </p:ext>
            </p:extLst>
          </p:nvPr>
        </p:nvGraphicFramePr>
        <p:xfrm>
          <a:off x="1681480" y="3716657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068194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84573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Prioridades asumidos por 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Prioridades asumidas por personal del Negocio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7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Sistema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Sistema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21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Sistema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Sistema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099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Sistema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Sistema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395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45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Problemas de Gestión 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2800" b="1" dirty="0"/>
              <a:t>No existe una forma de evaluar los servicios de TI</a:t>
            </a:r>
            <a:r>
              <a:rPr lang="es-EC" sz="2800" dirty="0"/>
              <a:t>.</a:t>
            </a:r>
          </a:p>
          <a:p>
            <a:pPr marL="457200" lvl="1" indent="0" algn="just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6054D8-35AB-4331-94BD-39A42D6BD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970" y="3429000"/>
            <a:ext cx="3684270" cy="207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Problemas de Gestión 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2800" b="1" dirty="0"/>
              <a:t>No existe un único punto de atención, registro y solución de solicitudes de servicio</a:t>
            </a:r>
            <a:r>
              <a:rPr lang="es-EC" sz="2800" dirty="0"/>
              <a:t>.</a:t>
            </a:r>
          </a:p>
          <a:p>
            <a:pPr marL="457200" lvl="1" indent="0" algn="just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2F4700-EA75-4FE3-9425-E223D2BB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977" y="3995737"/>
            <a:ext cx="3839075" cy="152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5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Problemas de Gestión 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sz="2800" b="1" dirty="0"/>
              <a:t>No se tiene control de las actividades y desempeño de los empleados (proveedores) involucrados en el servicio</a:t>
            </a:r>
            <a:r>
              <a:rPr lang="es-EC" sz="2800" dirty="0"/>
              <a:t>.</a:t>
            </a:r>
          </a:p>
          <a:p>
            <a:pPr marL="457200" lvl="1" indent="0" algn="just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A396F3-8DE4-4CF5-A75B-9E7A2B6EC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719" y="3945570"/>
            <a:ext cx="3201058" cy="155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9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Para que sirve </a:t>
            </a:r>
            <a:r>
              <a:rPr lang="es-ES" sz="32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ITIL</a:t>
            </a:r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?</a:t>
            </a: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Optimizar los recursos de la empresa</a:t>
            </a:r>
          </a:p>
          <a:p>
            <a:pPr lvl="1" algn="just"/>
            <a:r>
              <a:rPr lang="es-EC" sz="2800" dirty="0"/>
              <a:t>Minimizar los riesgos</a:t>
            </a:r>
          </a:p>
          <a:p>
            <a:pPr lvl="1" algn="just"/>
            <a:r>
              <a:rPr lang="es-EC" sz="2800" dirty="0"/>
              <a:t>Reducir los costos</a:t>
            </a:r>
          </a:p>
          <a:p>
            <a:pPr lvl="1" algn="just"/>
            <a:r>
              <a:rPr lang="es-EC" sz="2800" dirty="0"/>
              <a:t>Asegurar la disponibilidad de los servicios</a:t>
            </a:r>
          </a:p>
          <a:p>
            <a:pPr lvl="1" algn="just"/>
            <a:r>
              <a:rPr lang="es-EC" sz="2800" dirty="0"/>
              <a:t>Romper la filosofía de trabajos en independientes en la empresa.(generan dependencia)</a:t>
            </a:r>
          </a:p>
          <a:p>
            <a:pPr lvl="1" algn="just"/>
            <a:r>
              <a:rPr lang="es-EC" sz="2800" dirty="0"/>
              <a:t>Presentar una terminología general utilizada por los proveedores de servicios y los clientes.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15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Fundamentos de </a:t>
            </a:r>
            <a:r>
              <a:rPr lang="es-EC" sz="3600" b="1" dirty="0" err="1">
                <a:solidFill>
                  <a:srgbClr val="FF0000"/>
                </a:solidFill>
              </a:rPr>
              <a:t>ITIL</a:t>
            </a:r>
            <a:r>
              <a:rPr lang="es-EC" sz="3600" b="1" dirty="0">
                <a:solidFill>
                  <a:srgbClr val="FF0000"/>
                </a:solidFill>
              </a:rPr>
              <a:t> 4 </a:t>
            </a:r>
          </a:p>
          <a:p>
            <a:endParaRPr lang="es-EC" sz="2200" dirty="0"/>
          </a:p>
          <a:p>
            <a:pPr marL="0" indent="0">
              <a:buNone/>
            </a:pPr>
            <a:r>
              <a:rPr lang="es-EC" sz="3200" b="1" dirty="0">
                <a:solidFill>
                  <a:srgbClr val="FF0000"/>
                </a:solidFill>
              </a:rPr>
              <a:t>Introducción</a:t>
            </a:r>
            <a:r>
              <a:rPr lang="es-EC" sz="2200" b="1" dirty="0"/>
              <a:t> </a:t>
            </a:r>
          </a:p>
          <a:p>
            <a:r>
              <a:rPr lang="es-EC" sz="2200" b="1" dirty="0"/>
              <a:t>Breve Historia de </a:t>
            </a:r>
            <a:r>
              <a:rPr lang="es-EC" sz="2200" b="1" dirty="0" err="1"/>
              <a:t>ITIL</a:t>
            </a:r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691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</p:spTree>
    <p:extLst>
      <p:ext uri="{BB962C8B-B14F-4D97-AF65-F5344CB8AC3E}">
        <p14:creationId xmlns:p14="http://schemas.microsoft.com/office/powerpoint/2010/main" val="36269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F544EC-8222-4190-BC20-4E3B5089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433501"/>
            <a:ext cx="1520195" cy="230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9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F544EC-8222-4190-BC20-4E3B5089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433501"/>
            <a:ext cx="1520195" cy="23041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63858B-173D-45DE-8636-BB0757FE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95" y="3503337"/>
            <a:ext cx="1123301" cy="181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3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F544EC-8222-4190-BC20-4E3B5089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433501"/>
            <a:ext cx="1520195" cy="23041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63858B-173D-45DE-8636-BB0757FE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95" y="3503337"/>
            <a:ext cx="1123301" cy="181244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58186F0-8D0D-433C-92B2-FBEAD5764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96" y="2887110"/>
            <a:ext cx="1405790" cy="184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4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F544EC-8222-4190-BC20-4E3B5089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433501"/>
            <a:ext cx="1520195" cy="23041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63858B-173D-45DE-8636-BB0757FE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95" y="3503337"/>
            <a:ext cx="1123301" cy="181244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58186F0-8D0D-433C-92B2-FBEAD5764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96" y="2887110"/>
            <a:ext cx="1405790" cy="184509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CB5199E-FBF6-456A-A680-6FACB43AD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410" y="3531913"/>
            <a:ext cx="1002035" cy="175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7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0AD192-9881-4109-9C99-159ADE53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020" y="2735324"/>
            <a:ext cx="1338580" cy="2874211"/>
          </a:xfrm>
          <a:prstGeom prst="rect">
            <a:avLst/>
          </a:prstGeom>
        </p:spPr>
      </p:pic>
      <p:sp>
        <p:nvSpPr>
          <p:cNvPr id="12" name="Marcador de contenido 6">
            <a:extLst>
              <a:ext uri="{FF2B5EF4-FFF2-40B4-BE49-F238E27FC236}">
                <a16:creationId xmlns:a16="http://schemas.microsoft.com/office/drawing/2014/main" id="{1BA24E08-07D3-4B59-B6FC-A75C1E141176}"/>
              </a:ext>
            </a:extLst>
          </p:cNvPr>
          <p:cNvSpPr txBox="1">
            <a:spLocks/>
          </p:cNvSpPr>
          <p:nvPr/>
        </p:nvSpPr>
        <p:spPr>
          <a:xfrm>
            <a:off x="350520" y="1428460"/>
            <a:ext cx="10515600" cy="38881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>
                <a:solidFill>
                  <a:srgbClr val="FF0000"/>
                </a:solidFill>
                <a:latin typeface="Open Sans" panose="020B0604020202020204" pitchFamily="34" charset="0"/>
              </a:rPr>
              <a:t>Historia de ITIL</a:t>
            </a:r>
          </a:p>
          <a:p>
            <a:endParaRPr lang="es-ES" b="1">
              <a:solidFill>
                <a:srgbClr val="FF0000"/>
              </a:solidFill>
              <a:latin typeface="Open Sans" panose="020B0604020202020204" pitchFamily="34" charset="0"/>
            </a:endParaRP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s-EC" sz="2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F544EC-8222-4190-BC20-4E3B5089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0" y="2433501"/>
            <a:ext cx="1520195" cy="23041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63858B-173D-45DE-8636-BB0757FE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95" y="3503337"/>
            <a:ext cx="1123301" cy="181244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58186F0-8D0D-433C-92B2-FBEAD5764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96" y="2887110"/>
            <a:ext cx="1405790" cy="184509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CB5199E-FBF6-456A-A680-6FACB43AD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410" y="3531913"/>
            <a:ext cx="1002035" cy="175190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3B8B43A-C895-4F49-9FE5-CF7512CB7D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269" y="2912510"/>
            <a:ext cx="1311964" cy="1817070"/>
          </a:xfrm>
          <a:prstGeom prst="rect">
            <a:avLst/>
          </a:prstGeom>
        </p:spPr>
      </p:pic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8B6CF68F-00EE-4339-9821-81A4AA4686F0}"/>
              </a:ext>
            </a:extLst>
          </p:cNvPr>
          <p:cNvSpPr/>
          <p:nvPr/>
        </p:nvSpPr>
        <p:spPr>
          <a:xfrm rot="5400000">
            <a:off x="9701139" y="3612509"/>
            <a:ext cx="604461" cy="1009221"/>
          </a:xfrm>
          <a:prstGeom prst="triangl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4171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Fundamentos de </a:t>
            </a:r>
            <a:r>
              <a:rPr lang="es-EC" sz="3600" b="1" dirty="0" err="1">
                <a:solidFill>
                  <a:srgbClr val="FF0000"/>
                </a:solidFill>
              </a:rPr>
              <a:t>ITIL</a:t>
            </a:r>
            <a:r>
              <a:rPr lang="es-EC" sz="3600" b="1" dirty="0">
                <a:solidFill>
                  <a:srgbClr val="FF0000"/>
                </a:solidFill>
              </a:rPr>
              <a:t> 4 </a:t>
            </a:r>
          </a:p>
          <a:p>
            <a:endParaRPr lang="es-EC" sz="2200" dirty="0"/>
          </a:p>
          <a:p>
            <a:pPr marL="0" indent="0">
              <a:buNone/>
            </a:pPr>
            <a:r>
              <a:rPr lang="es-EC" sz="3200" b="1" dirty="0">
                <a:solidFill>
                  <a:srgbClr val="FF0000"/>
                </a:solidFill>
              </a:rPr>
              <a:t>Introducción</a:t>
            </a:r>
            <a:r>
              <a:rPr lang="es-EC" sz="2200" b="1" dirty="0"/>
              <a:t> </a:t>
            </a:r>
          </a:p>
          <a:p>
            <a:r>
              <a:rPr lang="es-EC" sz="2200" b="1" dirty="0"/>
              <a:t>Nuevas características de </a:t>
            </a:r>
            <a:r>
              <a:rPr lang="es-EC" sz="2200" b="1" dirty="0" err="1"/>
              <a:t>ITIL</a:t>
            </a:r>
            <a:r>
              <a:rPr lang="es-EC" sz="2200" b="1" dirty="0"/>
              <a:t> Versión 4.</a:t>
            </a:r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514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Integración del sistema de valor del servicio.</a:t>
            </a:r>
          </a:p>
          <a:p>
            <a:pPr marL="457200" lvl="1" indent="0" algn="ctr">
              <a:buNone/>
            </a:pPr>
            <a:r>
              <a:rPr lang="es-EC" sz="1800" dirty="0"/>
              <a:t>Ciclo de vida del servicio                                                                         Sistema de valor del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26" name="Picture 2" descr="Introducción a ITIL V3 | Definición ITIL | ServiceTonic">
            <a:extLst>
              <a:ext uri="{FF2B5EF4-FFF2-40B4-BE49-F238E27FC236}">
                <a16:creationId xmlns:a16="http://schemas.microsoft.com/office/drawing/2014/main" id="{9FA1BBE5-E9F5-4F21-9FD8-F8790F45C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67736"/>
            <a:ext cx="4428707" cy="2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B6139925-6033-4C77-B657-E140135BBC48}"/>
              </a:ext>
            </a:extLst>
          </p:cNvPr>
          <p:cNvSpPr/>
          <p:nvPr/>
        </p:nvSpPr>
        <p:spPr>
          <a:xfrm>
            <a:off x="5608320" y="4572000"/>
            <a:ext cx="112268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E257B3-434B-4B1D-A72E-CBA717567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413" y="3467736"/>
            <a:ext cx="4743693" cy="253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7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S" sz="28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Cadena de valor del servicio.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C738F4-405C-404B-B273-64AFD910D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3152775"/>
            <a:ext cx="59817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2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Las 4 dimensiones de la gestión del servicio.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E79D56-FE55-4BDB-B2AC-69519E9C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3" y="3173413"/>
            <a:ext cx="9678988" cy="340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7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Las practicas de gestión del servicio.</a:t>
            </a:r>
          </a:p>
          <a:p>
            <a:pPr marL="914400" lvl="2" indent="0" algn="just">
              <a:buNone/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 que se conoce y describe en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 como proceso y funciones es parte fundamental del marco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 y expandirá su arquitectura para considerar otros elementos como roles, habilidades, personas y recursos. Estos serán referidos como prácticas de gestión  en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B18DB6-A845-466A-B376-AAC118D00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62" y="3429000"/>
            <a:ext cx="63912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Los principios guías.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B3739C1-C497-4088-A0C0-86E758E8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800" y="2239922"/>
            <a:ext cx="4250875" cy="391703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0F7DCDF-736C-4996-A454-63781FA6A503}"/>
              </a:ext>
            </a:extLst>
          </p:cNvPr>
          <p:cNvSpPr txBox="1"/>
          <p:nvPr/>
        </p:nvSpPr>
        <p:spPr>
          <a:xfrm>
            <a:off x="1325880" y="3213100"/>
            <a:ext cx="510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Se introducen 7 sugerencias ineludibles que deben considerarse en todas las ocasiones donde se debe tomar alguna decisión.</a:t>
            </a:r>
          </a:p>
        </p:txBody>
      </p:sp>
    </p:spTree>
    <p:extLst>
      <p:ext uri="{BB962C8B-B14F-4D97-AF65-F5344CB8AC3E}">
        <p14:creationId xmlns:p14="http://schemas.microsoft.com/office/powerpoint/2010/main" val="172911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Integración con otras practicas.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F7DCDF-736C-4996-A454-63781FA6A503}"/>
              </a:ext>
            </a:extLst>
          </p:cNvPr>
          <p:cNvSpPr txBox="1"/>
          <p:nvPr/>
        </p:nvSpPr>
        <p:spPr>
          <a:xfrm>
            <a:off x="1828800" y="3213100"/>
            <a:ext cx="459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 err="1"/>
              <a:t>ITIL</a:t>
            </a:r>
            <a:r>
              <a:rPr lang="es-EC" dirty="0"/>
              <a:t> 4 se integra con nuevas formas de trabajo, como Agile, DevOps, Lean, gobierno de TI, y liderazgo</a:t>
            </a:r>
          </a:p>
          <a:p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CED74E-4A96-4304-A4AC-D2BC2E25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0" y="2622550"/>
            <a:ext cx="4212241" cy="353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6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Mej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oras incluidas en la versión 4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dirty="0"/>
              <a:t>Nuevo enfoque de creación de valor.</a:t>
            </a:r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8EA2ED-3536-47E9-A55D-A909992C6C5A}"/>
              </a:ext>
            </a:extLst>
          </p:cNvPr>
          <p:cNvSpPr txBox="1"/>
          <p:nvPr/>
        </p:nvSpPr>
        <p:spPr>
          <a:xfrm>
            <a:off x="1922463" y="2635210"/>
            <a:ext cx="4592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En </a:t>
            </a:r>
            <a:r>
              <a:rPr lang="es-EC" dirty="0" err="1"/>
              <a:t>ITIL</a:t>
            </a:r>
            <a:r>
              <a:rPr lang="es-EC" dirty="0"/>
              <a:t> 4 este valor es creado conjuntamente por Cliente y TI para todos los </a:t>
            </a:r>
            <a:r>
              <a:rPr lang="es-EC" dirty="0" err="1"/>
              <a:t>Stakehorlders</a:t>
            </a:r>
            <a:r>
              <a:rPr lang="es-EC" dirty="0"/>
              <a:t> a través del </a:t>
            </a:r>
            <a:r>
              <a:rPr lang="es-EC" dirty="0" err="1"/>
              <a:t>SVS</a:t>
            </a:r>
            <a:r>
              <a:rPr lang="es-EC" dirty="0"/>
              <a:t>( Sistema del Valor del servicio). Antes el valor era creado por IT para el Negocio y la organización debe preocuparse por capturar valor (es decir obtener mas recursos para seguir aportando soluciones).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D71E763-EE88-4C2B-938B-D5CE71D0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62" y="3041749"/>
            <a:ext cx="30384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1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Fundamentos de </a:t>
            </a:r>
            <a:r>
              <a:rPr lang="es-EC" sz="3600" b="1" dirty="0" err="1">
                <a:solidFill>
                  <a:srgbClr val="FF0000"/>
                </a:solidFill>
              </a:rPr>
              <a:t>ITIL</a:t>
            </a:r>
            <a:r>
              <a:rPr lang="es-EC" sz="3600" b="1" dirty="0">
                <a:solidFill>
                  <a:srgbClr val="FF0000"/>
                </a:solidFill>
              </a:rPr>
              <a:t> 4 </a:t>
            </a:r>
          </a:p>
          <a:p>
            <a:endParaRPr lang="es-EC" sz="2200" dirty="0"/>
          </a:p>
          <a:p>
            <a:pPr marL="0" indent="0">
              <a:buNone/>
            </a:pPr>
            <a:r>
              <a:rPr lang="es-EC" sz="3200" b="1" dirty="0">
                <a:solidFill>
                  <a:srgbClr val="FF0000"/>
                </a:solidFill>
              </a:rPr>
              <a:t>Introducción</a:t>
            </a:r>
            <a:r>
              <a:rPr lang="es-EC" sz="2200" b="1" dirty="0"/>
              <a:t> </a:t>
            </a:r>
          </a:p>
          <a:p>
            <a:r>
              <a:rPr lang="es-EC" sz="2200" b="1" dirty="0"/>
              <a:t>Enfoque de </a:t>
            </a:r>
            <a:r>
              <a:rPr lang="es-EC" sz="2200" b="1" dirty="0" err="1"/>
              <a:t>ITIL</a:t>
            </a:r>
            <a:r>
              <a:rPr lang="es-EC" sz="2200" b="1" dirty="0"/>
              <a:t>.</a:t>
            </a:r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6963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Enfoque de </a:t>
            </a:r>
            <a:r>
              <a:rPr lang="es-ES" sz="32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ITIL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b="1" dirty="0"/>
              <a:t>Tres características q identifican a </a:t>
            </a:r>
            <a:r>
              <a:rPr lang="es-EC" sz="2800" b="1" dirty="0" err="1"/>
              <a:t>ITIL</a:t>
            </a:r>
            <a:endParaRPr lang="es-EC" sz="2800" b="1" dirty="0"/>
          </a:p>
          <a:p>
            <a:pPr lvl="1" algn="just"/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C746AEF-B98A-4F5C-9C91-EEB77633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897845"/>
              </p:ext>
            </p:extLst>
          </p:nvPr>
        </p:nvGraphicFramePr>
        <p:xfrm>
          <a:off x="1638300" y="2526531"/>
          <a:ext cx="9855200" cy="408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304">
                  <a:extLst>
                    <a:ext uri="{9D8B030D-6E8A-4147-A177-3AD203B41FA5}">
                      <a16:colId xmlns:a16="http://schemas.microsoft.com/office/drawing/2014/main" val="823057855"/>
                    </a:ext>
                  </a:extLst>
                </a:gridCol>
                <a:gridCol w="8186896">
                  <a:extLst>
                    <a:ext uri="{9D8B030D-6E8A-4147-A177-3AD203B41FA5}">
                      <a16:colId xmlns:a16="http://schemas.microsoft.com/office/drawing/2014/main" val="1955904278"/>
                    </a:ext>
                  </a:extLst>
                </a:gridCol>
              </a:tblGrid>
              <a:tr h="354062">
                <a:tc>
                  <a:txBody>
                    <a:bodyPr/>
                    <a:lstStyle/>
                    <a:p>
                      <a:r>
                        <a:rPr lang="es-EC" dirty="0"/>
                        <a:t>Características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Detalle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37255"/>
                  </a:ext>
                </a:extLst>
              </a:tr>
              <a:tr h="1150701">
                <a:tc>
                  <a:txBody>
                    <a:bodyPr/>
                    <a:lstStyle/>
                    <a:p>
                      <a:r>
                        <a:rPr lang="es-EC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no esta basado en ninguna tecnología o industria especifica</a:t>
                      </a:r>
                    </a:p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puede ser utilizado en organizaciones sin importar las plataformas o sistemas que esta utilice</a:t>
                      </a:r>
                    </a:p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es aplicable a cualquier tipo de organización de 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14416"/>
                  </a:ext>
                </a:extLst>
              </a:tr>
              <a:tr h="1416247">
                <a:tc>
                  <a:txBody>
                    <a:bodyPr/>
                    <a:lstStyle/>
                    <a:p>
                      <a:r>
                        <a:rPr lang="es-EC" dirty="0"/>
                        <a:t>No es prescriptivo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no es mandatorio, son practicas adaptables a cada tipo de organización </a:t>
                      </a:r>
                    </a:p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son un conjunto de mejores practicas para empresas pequeñas, medianas y grandes </a:t>
                      </a:r>
                    </a:p>
                    <a:p>
                      <a:r>
                        <a:rPr lang="es-EC" dirty="0"/>
                        <a:t>Aplica para cualquier tipo de proveedor de servicios de TI, por ejemplo sector publico o privado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180301"/>
                  </a:ext>
                </a:extLst>
              </a:tr>
              <a:tr h="1067560">
                <a:tc>
                  <a:txBody>
                    <a:bodyPr/>
                    <a:lstStyle/>
                    <a:p>
                      <a:r>
                        <a:rPr lang="es-EC" dirty="0"/>
                        <a:t>Mejor Practica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err="1"/>
                        <a:t>ITIL</a:t>
                      </a:r>
                      <a:r>
                        <a:rPr lang="es-EC" dirty="0"/>
                        <a:t> es un marco que ha evolucionado desde hace mas de 20 años basado en las innovaciones exitosas que han adoptado organizaciones a nivel mundial y que ha subsanado deficiencias en los servicios prestados y mejora la calidad de estos.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622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03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Introducción</a:t>
            </a:r>
            <a:r>
              <a:rPr lang="es-EC" sz="2800" dirty="0">
                <a:solidFill>
                  <a:schemeClr val="bg1"/>
                </a:solidFill>
              </a:rPr>
              <a:t>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Fundamentos de </a:t>
            </a:r>
            <a:r>
              <a:rPr lang="es-EC" sz="2000" dirty="0" err="1">
                <a:solidFill>
                  <a:schemeClr val="bg1"/>
                </a:solidFill>
              </a:rPr>
              <a:t>ITIL</a:t>
            </a:r>
            <a:r>
              <a:rPr lang="es-EC" sz="2000" dirty="0">
                <a:solidFill>
                  <a:schemeClr val="bg1"/>
                </a:solidFill>
              </a:rPr>
              <a:t> 4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6769100" cy="454469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Enfoque de </a:t>
            </a:r>
            <a:r>
              <a:rPr lang="es-ES" sz="32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ITIL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lvl="1" algn="just"/>
            <a:r>
              <a:rPr lang="es-EC" sz="2800" b="1" dirty="0"/>
              <a:t>Servicios de TI en el mundo moderno</a:t>
            </a:r>
          </a:p>
          <a:p>
            <a:pPr lvl="2" algn="just"/>
            <a:r>
              <a:rPr lang="es-EC" sz="2400" dirty="0"/>
              <a:t>La entrega de servicios es el componente  mas grande y dinámico de las economías desarrolladas y en desarrollo</a:t>
            </a:r>
          </a:p>
          <a:p>
            <a:pPr lvl="2" algn="just"/>
            <a:r>
              <a:rPr lang="es-EC" sz="2400" dirty="0"/>
              <a:t>La tecnología avanza hoy mas rápido que nunca, lo que la ha llevado a convertirse en un impulsor de negocios y una fuente de ventaja competitiva.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12BC80-0A7A-4CB7-B4C2-91A389A0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262" y="2066925"/>
            <a:ext cx="2792734" cy="264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5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908</Words>
  <Application>Microsoft Office PowerPoint</Application>
  <PresentationFormat>Panorámica</PresentationFormat>
  <Paragraphs>127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Open Sans</vt:lpstr>
      <vt:lpstr>Tema de Office</vt:lpstr>
      <vt:lpstr>ITIL 4</vt:lpstr>
      <vt:lpstr>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Introducción  Fundamentos de ITIL 4</vt:lpstr>
      <vt:lpstr>ITIL 4</vt:lpstr>
      <vt:lpstr>Introducción  Fundamentos de ITIL 4</vt:lpstr>
      <vt:lpstr>Introducción  Fundamentos de ITIL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ITIL 4 Fundamentos de ITIL 4</dc:title>
  <dc:creator>CarlosReyes</dc:creator>
  <cp:lastModifiedBy>CarlosReyes</cp:lastModifiedBy>
  <cp:revision>30</cp:revision>
  <dcterms:created xsi:type="dcterms:W3CDTF">2021-07-03T14:03:07Z</dcterms:created>
  <dcterms:modified xsi:type="dcterms:W3CDTF">2021-07-07T03:13:23Z</dcterms:modified>
</cp:coreProperties>
</file>