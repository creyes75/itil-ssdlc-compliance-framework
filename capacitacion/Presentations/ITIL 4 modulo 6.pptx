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73" r:id="rId3"/>
    <p:sldId id="270" r:id="rId4"/>
    <p:sldId id="274" r:id="rId5"/>
    <p:sldId id="275" r:id="rId6"/>
    <p:sldId id="276" r:id="rId7"/>
    <p:sldId id="277" r:id="rId8"/>
    <p:sldId id="278" r:id="rId9"/>
    <p:sldId id="279" r:id="rId10"/>
    <p:sldId id="280" r:id="rId11"/>
    <p:sldId id="281" r:id="rId12"/>
    <p:sldId id="282" r:id="rId13"/>
    <p:sldId id="284" r:id="rId14"/>
    <p:sldId id="285" r:id="rId15"/>
    <p:sldId id="286" r:id="rId16"/>
    <p:sldId id="287" r:id="rId17"/>
    <p:sldId id="288" r:id="rId18"/>
    <p:sldId id="289" r:id="rId19"/>
    <p:sldId id="290"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 id="306" r:id="rId35"/>
    <p:sldId id="305" r:id="rId36"/>
    <p:sldId id="307" r:id="rId37"/>
    <p:sldId id="308" r:id="rId38"/>
    <p:sldId id="309" r:id="rId39"/>
    <p:sldId id="311" r:id="rId40"/>
    <p:sldId id="310" r:id="rId41"/>
    <p:sldId id="312" r:id="rId42"/>
    <p:sldId id="316" r:id="rId43"/>
    <p:sldId id="313" r:id="rId44"/>
    <p:sldId id="315" r:id="rId45"/>
    <p:sldId id="314" r:id="rId46"/>
    <p:sldId id="317" r:id="rId47"/>
    <p:sldId id="318" r:id="rId48"/>
    <p:sldId id="319" r:id="rId49"/>
    <p:sldId id="320" r:id="rId50"/>
    <p:sldId id="321" r:id="rId51"/>
    <p:sldId id="322" r:id="rId52"/>
    <p:sldId id="323" r:id="rId53"/>
    <p:sldId id="324" r:id="rId54"/>
    <p:sldId id="325" r:id="rId55"/>
    <p:sldId id="326" r:id="rId56"/>
    <p:sldId id="327" r:id="rId57"/>
    <p:sldId id="328" r:id="rId58"/>
    <p:sldId id="329" r:id="rId59"/>
    <p:sldId id="330" r:id="rId60"/>
    <p:sldId id="331" r:id="rId61"/>
    <p:sldId id="332" r:id="rId62"/>
    <p:sldId id="333" r:id="rId63"/>
    <p:sldId id="334" r:id="rId64"/>
    <p:sldId id="335" r:id="rId65"/>
    <p:sldId id="336" r:id="rId66"/>
    <p:sldId id="337" r:id="rId67"/>
    <p:sldId id="338" r:id="rId68"/>
    <p:sldId id="339" r:id="rId69"/>
    <p:sldId id="340" r:id="rId70"/>
    <p:sldId id="341" r:id="rId71"/>
    <p:sldId id="342" r:id="rId72"/>
    <p:sldId id="343" r:id="rId73"/>
    <p:sldId id="344" r:id="rId74"/>
    <p:sldId id="345" r:id="rId75"/>
    <p:sldId id="346" r:id="rId76"/>
    <p:sldId id="347" r:id="rId77"/>
    <p:sldId id="348" r:id="rId78"/>
    <p:sldId id="353" r:id="rId79"/>
    <p:sldId id="349" r:id="rId80"/>
    <p:sldId id="350" r:id="rId81"/>
    <p:sldId id="352" r:id="rId82"/>
    <p:sldId id="354" r:id="rId83"/>
    <p:sldId id="355" r:id="rId84"/>
    <p:sldId id="356" r:id="rId85"/>
    <p:sldId id="357" r:id="rId86"/>
    <p:sldId id="358" r:id="rId87"/>
    <p:sldId id="359" r:id="rId88"/>
    <p:sldId id="360" r:id="rId89"/>
    <p:sldId id="361" r:id="rId90"/>
    <p:sldId id="362" r:id="rId91"/>
    <p:sldId id="363" r:id="rId92"/>
    <p:sldId id="364" r:id="rId93"/>
    <p:sldId id="365" r:id="rId94"/>
    <p:sldId id="366" r:id="rId95"/>
    <p:sldId id="367" r:id="rId96"/>
    <p:sldId id="368" r:id="rId97"/>
    <p:sldId id="369" r:id="rId98"/>
    <p:sldId id="370" r:id="rId99"/>
    <p:sldId id="371" r:id="rId100"/>
    <p:sldId id="372" r:id="rId101"/>
    <p:sldId id="373" r:id="rId102"/>
    <p:sldId id="374" r:id="rId103"/>
    <p:sldId id="375" r:id="rId104"/>
    <p:sldId id="377" r:id="rId105"/>
    <p:sldId id="376" r:id="rId106"/>
    <p:sldId id="378" r:id="rId107"/>
    <p:sldId id="379" r:id="rId108"/>
    <p:sldId id="380" r:id="rId109"/>
    <p:sldId id="381" r:id="rId110"/>
    <p:sldId id="382" r:id="rId111"/>
    <p:sldId id="383" r:id="rId112"/>
    <p:sldId id="384" r:id="rId113"/>
    <p:sldId id="385" r:id="rId114"/>
    <p:sldId id="386" r:id="rId115"/>
    <p:sldId id="394" r:id="rId116"/>
    <p:sldId id="395" r:id="rId117"/>
    <p:sldId id="387" r:id="rId118"/>
    <p:sldId id="388" r:id="rId119"/>
    <p:sldId id="389" r:id="rId120"/>
    <p:sldId id="391" r:id="rId121"/>
    <p:sldId id="392" r:id="rId122"/>
    <p:sldId id="393" r:id="rId123"/>
    <p:sldId id="396" r:id="rId124"/>
    <p:sldId id="397" r:id="rId125"/>
    <p:sldId id="398" r:id="rId126"/>
    <p:sldId id="399" r:id="rId127"/>
    <p:sldId id="402" r:id="rId128"/>
    <p:sldId id="401" r:id="rId129"/>
    <p:sldId id="404" r:id="rId130"/>
    <p:sldId id="405" r:id="rId131"/>
    <p:sldId id="406" r:id="rId132"/>
    <p:sldId id="407" r:id="rId133"/>
    <p:sldId id="408" r:id="rId134"/>
    <p:sldId id="409" r:id="rId135"/>
    <p:sldId id="410" r:id="rId136"/>
    <p:sldId id="411" r:id="rId137"/>
    <p:sldId id="412" r:id="rId138"/>
    <p:sldId id="413" r:id="rId139"/>
    <p:sldId id="414" r:id="rId140"/>
    <p:sldId id="415" r:id="rId141"/>
    <p:sldId id="416" r:id="rId142"/>
    <p:sldId id="417" r:id="rId143"/>
    <p:sldId id="418" r:id="rId144"/>
    <p:sldId id="419" r:id="rId145"/>
    <p:sldId id="420" r:id="rId146"/>
    <p:sldId id="421" r:id="rId147"/>
    <p:sldId id="422" r:id="rId148"/>
    <p:sldId id="423" r:id="rId149"/>
    <p:sldId id="424" r:id="rId150"/>
    <p:sldId id="425" r:id="rId151"/>
    <p:sldId id="426" r:id="rId152"/>
    <p:sldId id="427" r:id="rId153"/>
    <p:sldId id="428" r:id="rId154"/>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rlosReyes" initials="C" lastIdx="1" clrIdx="0">
    <p:extLst>
      <p:ext uri="{19B8F6BF-5375-455C-9EA6-DF929625EA0E}">
        <p15:presenceInfo xmlns:p15="http://schemas.microsoft.com/office/powerpoint/2012/main" userId="CarlosRey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079" autoAdjust="0"/>
    <p:restoredTop sz="94660"/>
  </p:normalViewPr>
  <p:slideViewPr>
    <p:cSldViewPr snapToGrid="0">
      <p:cViewPr varScale="1">
        <p:scale>
          <a:sx n="59" d="100"/>
          <a:sy n="59" d="100"/>
        </p:scale>
        <p:origin x="72" y="3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commentAuthors" Target="commentAuthor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07-14T22:20:25.461" idx="1">
    <p:pos x="7403" y="1580"/>
    <p:text>Workaround</p:text>
    <p:extLst>
      <p:ext uri="{C676402C-5697-4E1C-873F-D02D1690AC5C}">
        <p15:threadingInfo xmlns:p15="http://schemas.microsoft.com/office/powerpoint/2012/main" timeZoneBias="30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065C72-A3AC-40E6-8075-0F34A11C7AB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a:extLst>
              <a:ext uri="{FF2B5EF4-FFF2-40B4-BE49-F238E27FC236}">
                <a16:creationId xmlns:a16="http://schemas.microsoft.com/office/drawing/2014/main" id="{E1DFDA08-F667-45CF-A436-1AD4E7520F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EC"/>
          </a:p>
        </p:txBody>
      </p:sp>
      <p:sp>
        <p:nvSpPr>
          <p:cNvPr id="4" name="Marcador de fecha 3">
            <a:extLst>
              <a:ext uri="{FF2B5EF4-FFF2-40B4-BE49-F238E27FC236}">
                <a16:creationId xmlns:a16="http://schemas.microsoft.com/office/drawing/2014/main" id="{86560CF7-964E-4108-92FB-0FFBA22D3F53}"/>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0A487068-DF74-4DF4-A7A3-C26579814DA0}"/>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4DBDEA06-24CB-4510-95A2-3500FA3476E4}"/>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2254412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295BED-35DE-458E-80AD-1B990ECDE76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38EF811C-B224-4D36-8E95-9C7ECB051DB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6F14E050-E7EC-4A4F-8770-7CD93A065C2B}"/>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8E4BE658-8F0D-4593-8E93-AABB4CC69702}"/>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0BB54846-E291-44E3-AE4B-FCC103BF2369}"/>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047242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880F141-EB72-4F8B-A63C-5D531757864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6607DA03-1825-4773-BBA0-5FA66B0E286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ABB6098-4D04-49D7-BAED-F42B38487C1D}"/>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85EB3BA1-73D2-4164-99C5-FE6CC3E86A2C}"/>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5576DA3A-F122-48BD-9A55-DA4F21F94EF6}"/>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2783401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799F22F-4F53-4F5D-BFD9-28577BDEFC57}"/>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60E66487-FB91-4BDC-8BDB-4E558FB76E0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a:extLst>
              <a:ext uri="{FF2B5EF4-FFF2-40B4-BE49-F238E27FC236}">
                <a16:creationId xmlns:a16="http://schemas.microsoft.com/office/drawing/2014/main" id="{E94156ED-2605-4ADC-B9A6-67451063C28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a:extLst>
              <a:ext uri="{FF2B5EF4-FFF2-40B4-BE49-F238E27FC236}">
                <a16:creationId xmlns:a16="http://schemas.microsoft.com/office/drawing/2014/main" id="{15F56735-207B-4E3B-9DBE-80874A8004C7}"/>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6" name="Marcador de pie de página 5">
            <a:extLst>
              <a:ext uri="{FF2B5EF4-FFF2-40B4-BE49-F238E27FC236}">
                <a16:creationId xmlns:a16="http://schemas.microsoft.com/office/drawing/2014/main" id="{E47FD410-4A5B-4F52-B574-E012526EE678}"/>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86C611ED-308E-47E1-B149-73B20776B4F9}"/>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2544647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09333-65C3-4EBA-B427-59AD5CC99AE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E210215B-248B-4FE4-8F95-983A6FE02C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6C8E67B-8DDD-490E-8D37-2D096B03797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a:extLst>
              <a:ext uri="{FF2B5EF4-FFF2-40B4-BE49-F238E27FC236}">
                <a16:creationId xmlns:a16="http://schemas.microsoft.com/office/drawing/2014/main" id="{8740884C-9201-4A8E-9850-79C5C4EE19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8C3D3D9-8A46-40DA-9D47-93164FFADA2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a:extLst>
              <a:ext uri="{FF2B5EF4-FFF2-40B4-BE49-F238E27FC236}">
                <a16:creationId xmlns:a16="http://schemas.microsoft.com/office/drawing/2014/main" id="{F20C93A3-1122-45EF-B06F-8325DB952D6D}"/>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8" name="Marcador de pie de página 7">
            <a:extLst>
              <a:ext uri="{FF2B5EF4-FFF2-40B4-BE49-F238E27FC236}">
                <a16:creationId xmlns:a16="http://schemas.microsoft.com/office/drawing/2014/main" id="{FCB0EE04-1873-4D13-A188-5ECE549B8523}"/>
              </a:ext>
            </a:extLst>
          </p:cNvPr>
          <p:cNvSpPr>
            <a:spLocks noGrp="1"/>
          </p:cNvSpPr>
          <p:nvPr>
            <p:ph type="ftr" sz="quarter" idx="11"/>
          </p:nvPr>
        </p:nvSpPr>
        <p:spPr/>
        <p:txBody>
          <a:bodyPr/>
          <a:lstStyle/>
          <a:p>
            <a:endParaRPr lang="es-EC"/>
          </a:p>
        </p:txBody>
      </p:sp>
      <p:sp>
        <p:nvSpPr>
          <p:cNvPr id="9" name="Marcador de número de diapositiva 8">
            <a:extLst>
              <a:ext uri="{FF2B5EF4-FFF2-40B4-BE49-F238E27FC236}">
                <a16:creationId xmlns:a16="http://schemas.microsoft.com/office/drawing/2014/main" id="{A6E95675-FADC-4491-900E-982833C81DE3}"/>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632813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2139DF-CC64-4AEE-A262-2A37CD3680AC}"/>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fecha 2">
            <a:extLst>
              <a:ext uri="{FF2B5EF4-FFF2-40B4-BE49-F238E27FC236}">
                <a16:creationId xmlns:a16="http://schemas.microsoft.com/office/drawing/2014/main" id="{8D39688F-2CF4-4BFA-8399-4A1C0F08E805}"/>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4" name="Marcador de pie de página 3">
            <a:extLst>
              <a:ext uri="{FF2B5EF4-FFF2-40B4-BE49-F238E27FC236}">
                <a16:creationId xmlns:a16="http://schemas.microsoft.com/office/drawing/2014/main" id="{C74662EB-70BF-4D04-AA65-FF65C2CB0F11}"/>
              </a:ext>
            </a:extLst>
          </p:cNvPr>
          <p:cNvSpPr>
            <a:spLocks noGrp="1"/>
          </p:cNvSpPr>
          <p:nvPr>
            <p:ph type="ftr" sz="quarter" idx="11"/>
          </p:nvPr>
        </p:nvSpPr>
        <p:spPr/>
        <p:txBody>
          <a:bodyPr/>
          <a:lstStyle/>
          <a:p>
            <a:endParaRPr lang="es-EC"/>
          </a:p>
        </p:txBody>
      </p:sp>
      <p:sp>
        <p:nvSpPr>
          <p:cNvPr id="5" name="Marcador de número de diapositiva 4">
            <a:extLst>
              <a:ext uri="{FF2B5EF4-FFF2-40B4-BE49-F238E27FC236}">
                <a16:creationId xmlns:a16="http://schemas.microsoft.com/office/drawing/2014/main" id="{D9D4A6DD-588C-46C2-A849-4730623471C6}"/>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996428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0BDE5E9-A7B0-47CD-9B99-8FA557A2A6B3}"/>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3" name="Marcador de pie de página 2">
            <a:extLst>
              <a:ext uri="{FF2B5EF4-FFF2-40B4-BE49-F238E27FC236}">
                <a16:creationId xmlns:a16="http://schemas.microsoft.com/office/drawing/2014/main" id="{73B22623-F900-4A65-BC63-BC792F433409}"/>
              </a:ext>
            </a:extLst>
          </p:cNvPr>
          <p:cNvSpPr>
            <a:spLocks noGrp="1"/>
          </p:cNvSpPr>
          <p:nvPr>
            <p:ph type="ftr" sz="quarter" idx="11"/>
          </p:nvPr>
        </p:nvSpPr>
        <p:spPr/>
        <p:txBody>
          <a:bodyPr/>
          <a:lstStyle/>
          <a:p>
            <a:endParaRPr lang="es-EC"/>
          </a:p>
        </p:txBody>
      </p:sp>
      <p:sp>
        <p:nvSpPr>
          <p:cNvPr id="4" name="Marcador de número de diapositiva 3">
            <a:extLst>
              <a:ext uri="{FF2B5EF4-FFF2-40B4-BE49-F238E27FC236}">
                <a16:creationId xmlns:a16="http://schemas.microsoft.com/office/drawing/2014/main" id="{3C70A7AD-FE83-402E-A42A-6DC3A1AA13B7}"/>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94845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47236E-D808-4FD3-9E75-F724523EDC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a:extLst>
              <a:ext uri="{FF2B5EF4-FFF2-40B4-BE49-F238E27FC236}">
                <a16:creationId xmlns:a16="http://schemas.microsoft.com/office/drawing/2014/main" id="{5858166A-BD0A-40DE-BD81-34624C5BA4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a:extLst>
              <a:ext uri="{FF2B5EF4-FFF2-40B4-BE49-F238E27FC236}">
                <a16:creationId xmlns:a16="http://schemas.microsoft.com/office/drawing/2014/main" id="{24AC455A-52CA-4760-AC4F-F3F67461E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FA33F3-ACF6-4E96-853D-565DD89AF9F1}"/>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6" name="Marcador de pie de página 5">
            <a:extLst>
              <a:ext uri="{FF2B5EF4-FFF2-40B4-BE49-F238E27FC236}">
                <a16:creationId xmlns:a16="http://schemas.microsoft.com/office/drawing/2014/main" id="{4B302A7F-9E79-4009-8501-4FF43EB8C1A4}"/>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A4697AD0-C0B9-4DC1-8928-E1A54D71940C}"/>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1341792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F9F3BE-E5E3-4289-BD22-BEE843D069D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a:extLst>
              <a:ext uri="{FF2B5EF4-FFF2-40B4-BE49-F238E27FC236}">
                <a16:creationId xmlns:a16="http://schemas.microsoft.com/office/drawing/2014/main" id="{1C87A2B5-6156-4562-83F3-42DB47FF4D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a:extLst>
              <a:ext uri="{FF2B5EF4-FFF2-40B4-BE49-F238E27FC236}">
                <a16:creationId xmlns:a16="http://schemas.microsoft.com/office/drawing/2014/main" id="{DA9438F0-805C-43F9-A0CB-BF3AF77F1A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97514F0-96C8-45DD-80F2-8B09241F94BA}"/>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6" name="Marcador de pie de página 5">
            <a:extLst>
              <a:ext uri="{FF2B5EF4-FFF2-40B4-BE49-F238E27FC236}">
                <a16:creationId xmlns:a16="http://schemas.microsoft.com/office/drawing/2014/main" id="{2E26F3D9-A33D-4DAA-B320-B5F2B944076E}"/>
              </a:ext>
            </a:extLst>
          </p:cNvPr>
          <p:cNvSpPr>
            <a:spLocks noGrp="1"/>
          </p:cNvSpPr>
          <p:nvPr>
            <p:ph type="ftr" sz="quarter" idx="11"/>
          </p:nvPr>
        </p:nvSpPr>
        <p:spPr/>
        <p:txBody>
          <a:bodyPr/>
          <a:lstStyle/>
          <a:p>
            <a:endParaRPr lang="es-EC"/>
          </a:p>
        </p:txBody>
      </p:sp>
      <p:sp>
        <p:nvSpPr>
          <p:cNvPr id="7" name="Marcador de número de diapositiva 6">
            <a:extLst>
              <a:ext uri="{FF2B5EF4-FFF2-40B4-BE49-F238E27FC236}">
                <a16:creationId xmlns:a16="http://schemas.microsoft.com/office/drawing/2014/main" id="{711BDCA3-8AA9-4D7B-80E9-0CB1AFE50984}"/>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723035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A22722-FEC0-4C54-8B60-4BA2A904A881}"/>
              </a:ext>
            </a:extLst>
          </p:cNvPr>
          <p:cNvSpPr>
            <a:spLocks noGrp="1"/>
          </p:cNvSpPr>
          <p:nvPr>
            <p:ph type="title"/>
          </p:nvPr>
        </p:nvSpPr>
        <p:spPr/>
        <p:txBody>
          <a:bodyPr/>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9ADF0D13-108E-4E7E-B7E0-3550FB83FA5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A5530D9A-E11D-47EA-B77E-6C4BC5564BDD}"/>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489C9FF1-232B-42C7-B1E5-46A26B738F72}"/>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6E9F068F-D7EA-4248-AE4D-F9710D583CC5}"/>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1220096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A70C15E-E1CF-4ED8-8887-DE763C3ABC2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a:extLst>
              <a:ext uri="{FF2B5EF4-FFF2-40B4-BE49-F238E27FC236}">
                <a16:creationId xmlns:a16="http://schemas.microsoft.com/office/drawing/2014/main" id="{1DA8623C-D2F0-4B74-A4A9-61CB70B0772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8D9C0B83-DF72-4923-85EE-177C88D7D5E5}"/>
              </a:ext>
            </a:extLst>
          </p:cNvPr>
          <p:cNvSpPr>
            <a:spLocks noGrp="1"/>
          </p:cNvSpPr>
          <p:nvPr>
            <p:ph type="dt" sz="half" idx="10"/>
          </p:nvPr>
        </p:nvSpPr>
        <p:spPr/>
        <p:txBody>
          <a:body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1EA04771-5B52-4256-A79A-B0C6C6349D36}"/>
              </a:ext>
            </a:extLst>
          </p:cNvPr>
          <p:cNvSpPr>
            <a:spLocks noGrp="1"/>
          </p:cNvSpPr>
          <p:nvPr>
            <p:ph type="ftr" sz="quarter" idx="11"/>
          </p:nvPr>
        </p:nvSpPr>
        <p:spPr/>
        <p:txBody>
          <a:bodyPr/>
          <a:lstStyle/>
          <a:p>
            <a:endParaRPr lang="es-EC"/>
          </a:p>
        </p:txBody>
      </p:sp>
      <p:sp>
        <p:nvSpPr>
          <p:cNvPr id="6" name="Marcador de número de diapositiva 5">
            <a:extLst>
              <a:ext uri="{FF2B5EF4-FFF2-40B4-BE49-F238E27FC236}">
                <a16:creationId xmlns:a16="http://schemas.microsoft.com/office/drawing/2014/main" id="{FA5FF6C8-B04E-4BD8-A769-064E97DFB542}"/>
              </a:ext>
            </a:extLst>
          </p:cNvPr>
          <p:cNvSpPr>
            <a:spLocks noGrp="1"/>
          </p:cNvSpPr>
          <p:nvPr>
            <p:ph type="sldNum" sz="quarter" idx="12"/>
          </p:nvPr>
        </p:nvSpPr>
        <p:spPr/>
        <p:txBody>
          <a:bodyPr/>
          <a:lstStyle/>
          <a:p>
            <a:fld id="{EC74BD45-C49A-4EFB-9313-8C1A25BB1D4C}" type="slidenum">
              <a:rPr lang="es-EC" smtClean="0"/>
              <a:t>‹Nº›</a:t>
            </a:fld>
            <a:endParaRPr lang="es-EC"/>
          </a:p>
        </p:txBody>
      </p:sp>
    </p:spTree>
    <p:extLst>
      <p:ext uri="{BB962C8B-B14F-4D97-AF65-F5344CB8AC3E}">
        <p14:creationId xmlns:p14="http://schemas.microsoft.com/office/powerpoint/2010/main" val="3829948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9C4152A-CB91-46DC-BD07-844EA6BAFD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a:extLst>
              <a:ext uri="{FF2B5EF4-FFF2-40B4-BE49-F238E27FC236}">
                <a16:creationId xmlns:a16="http://schemas.microsoft.com/office/drawing/2014/main" id="{B4AEB6F0-EAD0-4783-8CEA-CE16AE6455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a:extLst>
              <a:ext uri="{FF2B5EF4-FFF2-40B4-BE49-F238E27FC236}">
                <a16:creationId xmlns:a16="http://schemas.microsoft.com/office/drawing/2014/main" id="{D0EC603C-3120-42D2-84FD-FD9C23619C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513C1C-64B1-4CBD-B881-5678CF7EB313}" type="datetimeFigureOut">
              <a:rPr lang="es-EC" smtClean="0"/>
              <a:t>9/7/2021</a:t>
            </a:fld>
            <a:endParaRPr lang="es-EC"/>
          </a:p>
        </p:txBody>
      </p:sp>
      <p:sp>
        <p:nvSpPr>
          <p:cNvPr id="5" name="Marcador de pie de página 4">
            <a:extLst>
              <a:ext uri="{FF2B5EF4-FFF2-40B4-BE49-F238E27FC236}">
                <a16:creationId xmlns:a16="http://schemas.microsoft.com/office/drawing/2014/main" id="{F560F0D0-201D-4188-8C18-C0CF9170F9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a:extLst>
              <a:ext uri="{FF2B5EF4-FFF2-40B4-BE49-F238E27FC236}">
                <a16:creationId xmlns:a16="http://schemas.microsoft.com/office/drawing/2014/main" id="{322850DA-8154-49E3-8BF9-AC42BA1A90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74BD45-C49A-4EFB-9313-8C1A25BB1D4C}" type="slidenum">
              <a:rPr lang="es-EC" smtClean="0"/>
              <a:t>‹Nº›</a:t>
            </a:fld>
            <a:endParaRPr lang="es-EC"/>
          </a:p>
        </p:txBody>
      </p:sp>
    </p:spTree>
    <p:extLst>
      <p:ext uri="{BB962C8B-B14F-4D97-AF65-F5344CB8AC3E}">
        <p14:creationId xmlns:p14="http://schemas.microsoft.com/office/powerpoint/2010/main" val="3350627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endParaRPr lang="es-EC" sz="2200" dirty="0"/>
          </a:p>
          <a:p>
            <a:endParaRPr lang="es-EC" sz="2200" b="1" dirty="0"/>
          </a:p>
        </p:txBody>
      </p:sp>
      <p:pic>
        <p:nvPicPr>
          <p:cNvPr id="5" name="Imagen 4" descr="Interfaz de usuario gráfica&#10;&#10;Descripción generada automáticamente">
            <a:extLst>
              <a:ext uri="{FF2B5EF4-FFF2-40B4-BE49-F238E27FC236}">
                <a16:creationId xmlns:a16="http://schemas.microsoft.com/office/drawing/2014/main" id="{491FAAA3-FD84-442A-9FAE-28B14D927F60}"/>
              </a:ext>
            </a:extLst>
          </p:cNvPr>
          <p:cNvPicPr>
            <a:picLocks noChangeAspect="1"/>
          </p:cNvPicPr>
          <p:nvPr/>
        </p:nvPicPr>
        <p:blipFill rotWithShape="1">
          <a:blip r:embed="rId2">
            <a:extLst>
              <a:ext uri="{28A0092B-C50C-407E-A947-70E740481C1C}">
                <a14:useLocalDpi xmlns:a14="http://schemas.microsoft.com/office/drawing/2010/main" val="0"/>
              </a:ext>
            </a:extLst>
          </a:blip>
          <a:srcRect l="11866" r="41994"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485021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 Gestión de la Disponibilidad</a:t>
            </a:r>
          </a:p>
          <a:p>
            <a:endParaRPr lang="es-EC" sz="2200" dirty="0"/>
          </a:p>
          <a:p>
            <a:endParaRPr lang="es-EC" sz="2200" b="1" dirty="0"/>
          </a:p>
        </p:txBody>
      </p:sp>
      <p:pic>
        <p:nvPicPr>
          <p:cNvPr id="1026" name="Picture 2">
            <a:extLst>
              <a:ext uri="{FF2B5EF4-FFF2-40B4-BE49-F238E27FC236}">
                <a16:creationId xmlns:a16="http://schemas.microsoft.com/office/drawing/2014/main" id="{BCC8D430-A19A-421A-A64B-77344E0C10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55"/>
          <a:stretch/>
        </p:blipFill>
        <p:spPr bwMode="auto">
          <a:xfrm>
            <a:off x="5310177" y="1009357"/>
            <a:ext cx="6685622" cy="4839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3684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Disponibilidad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3675352"/>
          </a:xfrm>
        </p:spPr>
        <p:txBody>
          <a:bodyPr>
            <a:normAutofit lnSpcReduction="10000"/>
          </a:bodyPr>
          <a:lstStyle/>
          <a:p>
            <a:r>
              <a:rPr lang="es-ES" sz="3200" b="1" i="0" dirty="0">
                <a:solidFill>
                  <a:srgbClr val="FF0000"/>
                </a:solidFill>
                <a:effectLst/>
                <a:latin typeface="Open Sans" panose="020B0604020202020204" pitchFamily="34" charset="0"/>
              </a:rPr>
              <a:t>Definición </a:t>
            </a:r>
          </a:p>
          <a:p>
            <a:endParaRPr lang="es-ES" sz="2400" b="1" i="0" dirty="0">
              <a:solidFill>
                <a:srgbClr val="FF0000"/>
              </a:solidFill>
              <a:effectLst/>
              <a:latin typeface="Open Sans" panose="020B0604020202020204" pitchFamily="34" charset="0"/>
            </a:endParaRPr>
          </a:p>
          <a:p>
            <a:pPr marL="457200" lvl="1" indent="0" algn="just">
              <a:buNone/>
            </a:pPr>
            <a:r>
              <a:rPr lang="es-EC" dirty="0"/>
              <a:t>Se define como a habilidad de un servicio para desempeñar su función acordada cuando es requerida. Usualmente se representa como un porcentaje</a:t>
            </a:r>
          </a:p>
          <a:p>
            <a:pPr marL="457200" lvl="1" indent="0" algn="just">
              <a:buNone/>
            </a:pPr>
            <a:endParaRPr lang="es-EC" dirty="0"/>
          </a:p>
          <a:p>
            <a:pPr marL="457200" lvl="1" indent="0" algn="just">
              <a:buNone/>
            </a:pPr>
            <a:r>
              <a:rPr lang="es-EC" dirty="0"/>
              <a:t>Mide la frecuencia con que falla un servicio y la velocidad con que se recupera</a:t>
            </a:r>
          </a:p>
          <a:p>
            <a:pPr marL="457200" lvl="1" indent="0" algn="just">
              <a:buNone/>
            </a:pPr>
            <a:r>
              <a:rPr lang="es-EC" dirty="0"/>
              <a:t> </a:t>
            </a:r>
          </a:p>
          <a:p>
            <a:pPr marL="457200" lvl="1" indent="0" algn="just">
              <a:buNone/>
            </a:pPr>
            <a:r>
              <a:rPr lang="es-EC" dirty="0"/>
              <a:t>El objetivo principal de la Gestión de la Disponibilidad es garantizar que los servicios ofrezcan niveles acordados de disponibilidad con el objetivo de satisfacer las necesidades de los clientes y usuarios.</a:t>
            </a: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43965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Disponibilidad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422483"/>
          </a:xfrm>
        </p:spPr>
        <p:txBody>
          <a:bodyPr>
            <a:normAutofit/>
          </a:bodyPr>
          <a:lstStyle/>
          <a:p>
            <a:r>
              <a:rPr lang="es-ES" sz="3200" b="1" i="0" dirty="0">
                <a:solidFill>
                  <a:srgbClr val="FF0000"/>
                </a:solidFill>
                <a:effectLst/>
                <a:latin typeface="Open Sans" panose="020B0604020202020204" pitchFamily="34" charset="0"/>
              </a:rPr>
              <a:t>Tareas realizas en esta practica </a:t>
            </a:r>
          </a:p>
          <a:p>
            <a:endParaRPr lang="es-ES" sz="2400" b="1" i="0" dirty="0">
              <a:solidFill>
                <a:srgbClr val="FF0000"/>
              </a:solidFill>
              <a:effectLst/>
              <a:latin typeface="Open Sans" panose="020B0604020202020204" pitchFamily="34" charset="0"/>
            </a:endParaRP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B12AF33-96AA-4001-B795-4F245F14B278}"/>
              </a:ext>
            </a:extLst>
          </p:cNvPr>
          <p:cNvPicPr>
            <a:picLocks noChangeAspect="1"/>
          </p:cNvPicPr>
          <p:nvPr/>
        </p:nvPicPr>
        <p:blipFill>
          <a:blip r:embed="rId2"/>
          <a:stretch>
            <a:fillRect/>
          </a:stretch>
        </p:blipFill>
        <p:spPr>
          <a:xfrm>
            <a:off x="1203462" y="2418728"/>
            <a:ext cx="10501209" cy="3531498"/>
          </a:xfrm>
          <a:prstGeom prst="rect">
            <a:avLst/>
          </a:prstGeom>
        </p:spPr>
      </p:pic>
    </p:spTree>
    <p:extLst>
      <p:ext uri="{BB962C8B-B14F-4D97-AF65-F5344CB8AC3E}">
        <p14:creationId xmlns:p14="http://schemas.microsoft.com/office/powerpoint/2010/main" val="2510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Disponibilidad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422483"/>
          </a:xfrm>
        </p:spPr>
        <p:txBody>
          <a:bodyPr>
            <a:normAutofit/>
          </a:bodyPr>
          <a:lstStyle/>
          <a:p>
            <a:r>
              <a:rPr lang="es-ES" sz="3200" b="1" i="0" dirty="0">
                <a:solidFill>
                  <a:srgbClr val="FF0000"/>
                </a:solidFill>
                <a:effectLst/>
                <a:latin typeface="Open Sans" panose="020B0604020202020204" pitchFamily="34" charset="0"/>
              </a:rPr>
              <a:t>Métricas con las que se mide la disponibilidad</a:t>
            </a:r>
          </a:p>
          <a:p>
            <a:endParaRPr lang="es-ES" sz="2400" b="1" i="0" dirty="0">
              <a:solidFill>
                <a:srgbClr val="FF0000"/>
              </a:solidFill>
              <a:effectLst/>
              <a:latin typeface="Open Sans" panose="020B0604020202020204" pitchFamily="34" charset="0"/>
            </a:endParaRP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CAAB47CE-EBB7-4AAB-B6CF-BE2B6D328D8D}"/>
              </a:ext>
            </a:extLst>
          </p:cNvPr>
          <p:cNvPicPr>
            <a:picLocks noChangeAspect="1"/>
          </p:cNvPicPr>
          <p:nvPr/>
        </p:nvPicPr>
        <p:blipFill>
          <a:blip r:embed="rId2"/>
          <a:stretch>
            <a:fillRect/>
          </a:stretch>
        </p:blipFill>
        <p:spPr>
          <a:xfrm>
            <a:off x="1476995" y="2450548"/>
            <a:ext cx="6080071" cy="3512930"/>
          </a:xfrm>
          <a:prstGeom prst="rect">
            <a:avLst/>
          </a:prstGeom>
        </p:spPr>
      </p:pic>
      <p:sp>
        <p:nvSpPr>
          <p:cNvPr id="6" name="CuadroTexto 5">
            <a:extLst>
              <a:ext uri="{FF2B5EF4-FFF2-40B4-BE49-F238E27FC236}">
                <a16:creationId xmlns:a16="http://schemas.microsoft.com/office/drawing/2014/main" id="{857C8A47-CC56-4BE3-9884-408FD323C100}"/>
              </a:ext>
            </a:extLst>
          </p:cNvPr>
          <p:cNvSpPr txBox="1"/>
          <p:nvPr/>
        </p:nvSpPr>
        <p:spPr>
          <a:xfrm>
            <a:off x="7557066" y="2826309"/>
            <a:ext cx="3796734" cy="1477328"/>
          </a:xfrm>
          <a:prstGeom prst="rect">
            <a:avLst/>
          </a:prstGeom>
          <a:noFill/>
        </p:spPr>
        <p:txBody>
          <a:bodyPr wrap="square" rtlCol="0">
            <a:spAutoFit/>
          </a:bodyPr>
          <a:lstStyle/>
          <a:p>
            <a:r>
              <a:rPr lang="es-EC" b="1" dirty="0">
                <a:solidFill>
                  <a:srgbClr val="FF0000"/>
                </a:solidFill>
              </a:rPr>
              <a:t>Tiempo promedio entre fallas</a:t>
            </a:r>
          </a:p>
          <a:p>
            <a:r>
              <a:rPr lang="es-EC" dirty="0"/>
              <a:t>Es el promedio transcurrido entre una falla y la siguiente. Tiempo promedio en que algo funciona hasta que falla y necesita ser reparado</a:t>
            </a:r>
          </a:p>
        </p:txBody>
      </p:sp>
      <p:sp>
        <p:nvSpPr>
          <p:cNvPr id="10" name="CuadroTexto 9">
            <a:extLst>
              <a:ext uri="{FF2B5EF4-FFF2-40B4-BE49-F238E27FC236}">
                <a16:creationId xmlns:a16="http://schemas.microsoft.com/office/drawing/2014/main" id="{AEEFC262-444A-4575-9E4D-4A08798C808A}"/>
              </a:ext>
            </a:extLst>
          </p:cNvPr>
          <p:cNvSpPr txBox="1"/>
          <p:nvPr/>
        </p:nvSpPr>
        <p:spPr>
          <a:xfrm>
            <a:off x="7709466" y="4520907"/>
            <a:ext cx="3796734" cy="1477328"/>
          </a:xfrm>
          <a:prstGeom prst="rect">
            <a:avLst/>
          </a:prstGeom>
          <a:noFill/>
        </p:spPr>
        <p:txBody>
          <a:bodyPr wrap="square" rtlCol="0">
            <a:spAutoFit/>
          </a:bodyPr>
          <a:lstStyle/>
          <a:p>
            <a:r>
              <a:rPr lang="es-EC" b="1" dirty="0">
                <a:solidFill>
                  <a:srgbClr val="FF0000"/>
                </a:solidFill>
              </a:rPr>
              <a:t>Tiempo promedio para restablecer el sistema</a:t>
            </a:r>
          </a:p>
          <a:p>
            <a:r>
              <a:rPr lang="es-EC" dirty="0"/>
              <a:t>Es el promedio de tiempo transcurrido en la reparación del problema y el retorno a la normalidad</a:t>
            </a:r>
          </a:p>
        </p:txBody>
      </p:sp>
      <p:sp>
        <p:nvSpPr>
          <p:cNvPr id="11" name="CuadroTexto 10">
            <a:extLst>
              <a:ext uri="{FF2B5EF4-FFF2-40B4-BE49-F238E27FC236}">
                <a16:creationId xmlns:a16="http://schemas.microsoft.com/office/drawing/2014/main" id="{1E19BA35-9549-4BAE-A2FE-E7A816FF90E5}"/>
              </a:ext>
            </a:extLst>
          </p:cNvPr>
          <p:cNvSpPr txBox="1"/>
          <p:nvPr/>
        </p:nvSpPr>
        <p:spPr>
          <a:xfrm>
            <a:off x="1032490" y="6011950"/>
            <a:ext cx="10127020" cy="646331"/>
          </a:xfrm>
          <a:prstGeom prst="rect">
            <a:avLst/>
          </a:prstGeom>
          <a:noFill/>
        </p:spPr>
        <p:txBody>
          <a:bodyPr wrap="square" rtlCol="0">
            <a:spAutoFit/>
          </a:bodyPr>
          <a:lstStyle/>
          <a:p>
            <a:r>
              <a:rPr lang="es-EC" b="1" dirty="0">
                <a:solidFill>
                  <a:srgbClr val="FF0000"/>
                </a:solidFill>
              </a:rPr>
              <a:t>Lo ideal es tener un Tiempo promedio entre fallas alto y un tiempo promedio para restablecer el sistema corto.</a:t>
            </a:r>
          </a:p>
        </p:txBody>
      </p:sp>
    </p:spTree>
    <p:extLst>
      <p:ext uri="{BB962C8B-B14F-4D97-AF65-F5344CB8AC3E}">
        <p14:creationId xmlns:p14="http://schemas.microsoft.com/office/powerpoint/2010/main" val="427027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Disponibilidad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422483"/>
          </a:xfrm>
        </p:spPr>
        <p:txBody>
          <a:bodyPr>
            <a:normAutofit/>
          </a:bodyPr>
          <a:lstStyle/>
          <a:p>
            <a:r>
              <a:rPr lang="es-ES" sz="3200" b="1" i="0" dirty="0">
                <a:solidFill>
                  <a:srgbClr val="FF0000"/>
                </a:solidFill>
                <a:effectLst/>
                <a:latin typeface="Open Sans" panose="020B0604020202020204" pitchFamily="34" charset="0"/>
              </a:rPr>
              <a:t>Métricas con las que se mide la disponibilidad</a:t>
            </a:r>
          </a:p>
          <a:p>
            <a:endParaRPr lang="es-ES" sz="2400" b="1" i="0" dirty="0">
              <a:solidFill>
                <a:srgbClr val="FF0000"/>
              </a:solidFill>
              <a:effectLst/>
              <a:latin typeface="Open Sans" panose="020B0604020202020204" pitchFamily="34" charset="0"/>
            </a:endParaRPr>
          </a:p>
          <a:p>
            <a:pPr marL="457200" lvl="1" indent="0" algn="just">
              <a:buNone/>
            </a:pPr>
            <a:endParaRPr lang="es-EC" sz="2800" dirty="0"/>
          </a:p>
          <a:p>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6" name="CuadroTexto 5">
            <a:extLst>
              <a:ext uri="{FF2B5EF4-FFF2-40B4-BE49-F238E27FC236}">
                <a16:creationId xmlns:a16="http://schemas.microsoft.com/office/drawing/2014/main" id="{857C8A47-CC56-4BE3-9884-408FD323C100}"/>
              </a:ext>
            </a:extLst>
          </p:cNvPr>
          <p:cNvSpPr txBox="1"/>
          <p:nvPr/>
        </p:nvSpPr>
        <p:spPr>
          <a:xfrm>
            <a:off x="1362842" y="2413372"/>
            <a:ext cx="9856304" cy="923330"/>
          </a:xfrm>
          <a:prstGeom prst="rect">
            <a:avLst/>
          </a:prstGeom>
          <a:noFill/>
        </p:spPr>
        <p:txBody>
          <a:bodyPr wrap="square" rtlCol="0">
            <a:spAutoFit/>
          </a:bodyPr>
          <a:lstStyle/>
          <a:p>
            <a:r>
              <a:rPr lang="es-EC" b="1" dirty="0">
                <a:solidFill>
                  <a:srgbClr val="FF0000"/>
                </a:solidFill>
              </a:rPr>
              <a:t>Minutos de interrupción del usuario</a:t>
            </a:r>
          </a:p>
          <a:p>
            <a:r>
              <a:rPr lang="es-EC" dirty="0"/>
              <a:t>Es la multiplicación del tiempo que duro el incidente que comprometió la disponibilidad por la cantidad de usuarios afectados</a:t>
            </a:r>
          </a:p>
        </p:txBody>
      </p:sp>
      <p:sp>
        <p:nvSpPr>
          <p:cNvPr id="12" name="CuadroTexto 11">
            <a:extLst>
              <a:ext uri="{FF2B5EF4-FFF2-40B4-BE49-F238E27FC236}">
                <a16:creationId xmlns:a16="http://schemas.microsoft.com/office/drawing/2014/main" id="{31303139-3A82-4A93-9C7D-5FB911024B0E}"/>
              </a:ext>
            </a:extLst>
          </p:cNvPr>
          <p:cNvSpPr txBox="1"/>
          <p:nvPr/>
        </p:nvSpPr>
        <p:spPr>
          <a:xfrm>
            <a:off x="1362842" y="3446381"/>
            <a:ext cx="9856304" cy="923330"/>
          </a:xfrm>
          <a:prstGeom prst="rect">
            <a:avLst/>
          </a:prstGeom>
          <a:noFill/>
        </p:spPr>
        <p:txBody>
          <a:bodyPr wrap="square" rtlCol="0">
            <a:spAutoFit/>
          </a:bodyPr>
          <a:lstStyle/>
          <a:p>
            <a:r>
              <a:rPr lang="es-EC" b="1" dirty="0">
                <a:solidFill>
                  <a:srgbClr val="FF0000"/>
                </a:solidFill>
              </a:rPr>
              <a:t>Número de transacciones perdidas</a:t>
            </a:r>
          </a:p>
          <a:p>
            <a:r>
              <a:rPr lang="es-EC" dirty="0"/>
              <a:t>Es el numero de transacciones que se esperaban se ejecuten durante el tiempo de duración del incidente.</a:t>
            </a:r>
          </a:p>
        </p:txBody>
      </p:sp>
      <p:sp>
        <p:nvSpPr>
          <p:cNvPr id="13" name="CuadroTexto 12">
            <a:extLst>
              <a:ext uri="{FF2B5EF4-FFF2-40B4-BE49-F238E27FC236}">
                <a16:creationId xmlns:a16="http://schemas.microsoft.com/office/drawing/2014/main" id="{6D8FCF29-83DC-4395-A7C3-7119198E5BAF}"/>
              </a:ext>
            </a:extLst>
          </p:cNvPr>
          <p:cNvSpPr txBox="1"/>
          <p:nvPr/>
        </p:nvSpPr>
        <p:spPr>
          <a:xfrm>
            <a:off x="1362842" y="4431338"/>
            <a:ext cx="9856304" cy="646331"/>
          </a:xfrm>
          <a:prstGeom prst="rect">
            <a:avLst/>
          </a:prstGeom>
          <a:noFill/>
        </p:spPr>
        <p:txBody>
          <a:bodyPr wrap="square" rtlCol="0">
            <a:spAutoFit/>
          </a:bodyPr>
          <a:lstStyle/>
          <a:p>
            <a:r>
              <a:rPr lang="es-EC" b="1" dirty="0">
                <a:solidFill>
                  <a:srgbClr val="FF0000"/>
                </a:solidFill>
              </a:rPr>
              <a:t>Pérdida de valor para el negocio</a:t>
            </a:r>
          </a:p>
          <a:p>
            <a:r>
              <a:rPr lang="es-EC" dirty="0"/>
              <a:t>Se calcula al medir como la productividad de un negocio se vio afectada con la falla de un servicio.</a:t>
            </a:r>
          </a:p>
        </p:txBody>
      </p:sp>
      <p:sp>
        <p:nvSpPr>
          <p:cNvPr id="14" name="CuadroTexto 13">
            <a:extLst>
              <a:ext uri="{FF2B5EF4-FFF2-40B4-BE49-F238E27FC236}">
                <a16:creationId xmlns:a16="http://schemas.microsoft.com/office/drawing/2014/main" id="{79E2C1DB-ADDA-4EAF-AD6F-421C68A2EEC9}"/>
              </a:ext>
            </a:extLst>
          </p:cNvPr>
          <p:cNvSpPr txBox="1"/>
          <p:nvPr/>
        </p:nvSpPr>
        <p:spPr>
          <a:xfrm>
            <a:off x="1362842" y="5139296"/>
            <a:ext cx="9856304" cy="646331"/>
          </a:xfrm>
          <a:prstGeom prst="rect">
            <a:avLst/>
          </a:prstGeom>
          <a:noFill/>
        </p:spPr>
        <p:txBody>
          <a:bodyPr wrap="square" rtlCol="0">
            <a:spAutoFit/>
          </a:bodyPr>
          <a:lstStyle/>
          <a:p>
            <a:r>
              <a:rPr lang="es-EC" b="1" dirty="0">
                <a:solidFill>
                  <a:srgbClr val="FF0000"/>
                </a:solidFill>
              </a:rPr>
              <a:t>Satisfacción del usuario</a:t>
            </a:r>
          </a:p>
          <a:p>
            <a:r>
              <a:rPr lang="es-EC" dirty="0"/>
              <a:t>Es importante asegurarse que los usuarios estén satisfechos con la disponibilidad del servicio</a:t>
            </a:r>
          </a:p>
        </p:txBody>
      </p:sp>
    </p:spTree>
    <p:extLst>
      <p:ext uri="{BB962C8B-B14F-4D97-AF65-F5344CB8AC3E}">
        <p14:creationId xmlns:p14="http://schemas.microsoft.com/office/powerpoint/2010/main" val="3354350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Disponibilidad</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3E06216E-67E8-480A-A308-BC9FA77837ED}"/>
              </a:ext>
            </a:extLst>
          </p:cNvPr>
          <p:cNvPicPr>
            <a:picLocks noChangeAspect="1"/>
          </p:cNvPicPr>
          <p:nvPr/>
        </p:nvPicPr>
        <p:blipFill>
          <a:blip r:embed="rId2"/>
          <a:stretch>
            <a:fillRect/>
          </a:stretch>
        </p:blipFill>
        <p:spPr>
          <a:xfrm>
            <a:off x="1039379" y="1082040"/>
            <a:ext cx="10384440" cy="5775960"/>
          </a:xfrm>
          <a:prstGeom prst="rect">
            <a:avLst/>
          </a:prstGeom>
        </p:spPr>
      </p:pic>
    </p:spTree>
    <p:extLst>
      <p:ext uri="{BB962C8B-B14F-4D97-AF65-F5344CB8AC3E}">
        <p14:creationId xmlns:p14="http://schemas.microsoft.com/office/powerpoint/2010/main" val="160085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2. Gestión de la Continuidad</a:t>
            </a:r>
          </a:p>
          <a:p>
            <a:endParaRPr lang="es-EC" sz="2200" dirty="0"/>
          </a:p>
          <a:p>
            <a:endParaRPr lang="es-EC" sz="2200" b="1" dirty="0"/>
          </a:p>
        </p:txBody>
      </p:sp>
      <p:pic>
        <p:nvPicPr>
          <p:cNvPr id="1026" name="Picture 2">
            <a:extLst>
              <a:ext uri="{FF2B5EF4-FFF2-40B4-BE49-F238E27FC236}">
                <a16:creationId xmlns:a16="http://schemas.microsoft.com/office/drawing/2014/main" id="{BCC8D430-A19A-421A-A64B-77344E0C10C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55"/>
          <a:stretch/>
        </p:blipFill>
        <p:spPr bwMode="auto">
          <a:xfrm>
            <a:off x="5310177" y="1009357"/>
            <a:ext cx="6685622" cy="48392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238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3675352"/>
          </a:xfrm>
        </p:spPr>
        <p:txBody>
          <a:bodyPr>
            <a:normAutofit lnSpcReduction="10000"/>
          </a:bodyPr>
          <a:lstStyle/>
          <a:p>
            <a:r>
              <a:rPr lang="es-ES" sz="3200" b="1" i="0" dirty="0">
                <a:solidFill>
                  <a:srgbClr val="FF0000"/>
                </a:solidFill>
                <a:effectLst/>
                <a:latin typeface="Open Sans" panose="020B0604020202020204" pitchFamily="34" charset="0"/>
              </a:rPr>
              <a:t>Definición </a:t>
            </a:r>
          </a:p>
          <a:p>
            <a:endParaRPr lang="es-ES" sz="2400" b="1" i="0" dirty="0">
              <a:solidFill>
                <a:srgbClr val="FF0000"/>
              </a:solidFill>
              <a:effectLst/>
              <a:latin typeface="Open Sans" panose="020B0604020202020204" pitchFamily="34" charset="0"/>
            </a:endParaRPr>
          </a:p>
          <a:p>
            <a:pPr marL="457200" lvl="1" indent="0" algn="just">
              <a:buNone/>
            </a:pPr>
            <a:r>
              <a:rPr lang="es-EC" dirty="0"/>
              <a:t>Para entender en detalle el objetivo de la gestión de la continuidad es importante identificar el concepto de desastre.</a:t>
            </a:r>
          </a:p>
          <a:p>
            <a:pPr marL="457200" lvl="1" indent="0" algn="just">
              <a:buNone/>
            </a:pPr>
            <a:endParaRPr lang="es-EC" sz="2800" dirty="0"/>
          </a:p>
          <a:p>
            <a:r>
              <a:rPr lang="es-EC" dirty="0"/>
              <a:t>“</a:t>
            </a:r>
            <a:r>
              <a:rPr lang="es-ES" dirty="0"/>
              <a:t>Un DESASTRE se define como un evento repentino no planeado que ocasiona la “no disponibilidad” de los servicios informáticos por un tiempo tal que, para restablecer estos servicios, es necesario utilizar facilidades alternas de cómputo y comunicaciones”</a:t>
            </a: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15939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161104" cy="3675352"/>
          </a:xfrm>
        </p:spPr>
        <p:txBody>
          <a:bodyPr>
            <a:normAutofit/>
          </a:bodyPr>
          <a:lstStyle/>
          <a:p>
            <a:r>
              <a:rPr lang="es-ES" sz="3200" b="1" i="0" dirty="0">
                <a:solidFill>
                  <a:srgbClr val="FF0000"/>
                </a:solidFill>
                <a:effectLst/>
                <a:latin typeface="Open Sans" panose="020B0604020202020204" pitchFamily="34" charset="0"/>
              </a:rPr>
              <a:t>Objetivo </a:t>
            </a:r>
          </a:p>
          <a:p>
            <a:endParaRPr lang="es-ES" sz="2400" b="1" i="0" dirty="0">
              <a:solidFill>
                <a:srgbClr val="FF0000"/>
              </a:solidFill>
              <a:effectLst/>
              <a:latin typeface="Open Sans" panose="020B0604020202020204" pitchFamily="34" charset="0"/>
            </a:endParaRPr>
          </a:p>
          <a:p>
            <a:pPr marL="457200" lvl="1" indent="0" algn="just">
              <a:buNone/>
            </a:pPr>
            <a:r>
              <a:rPr lang="es-EC" dirty="0"/>
              <a:t>Garantizar que la disponibilidad y el desempeño de un servicio se mantengan a un nivel suficiente en caso de un desastre. Así evitar una alta afectación en la disponibilidad de un servicio  para los clientes.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8679251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161104" cy="985161"/>
          </a:xfrm>
        </p:spPr>
        <p:txBody>
          <a:bodyPr>
            <a:normAutofit/>
          </a:bodyPr>
          <a:lstStyle/>
          <a:p>
            <a:r>
              <a:rPr lang="es-ES" sz="3200" b="1" i="0" dirty="0">
                <a:solidFill>
                  <a:srgbClr val="FF0000"/>
                </a:solidFill>
                <a:effectLst/>
                <a:latin typeface="Open Sans" panose="020B0604020202020204" pitchFamily="34" charset="0"/>
              </a:rPr>
              <a:t>Elementos de la gestión de la continuidad </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D5F96CDC-D1E5-4AA4-8079-27DBE599BD11}"/>
              </a:ext>
            </a:extLst>
          </p:cNvPr>
          <p:cNvPicPr>
            <a:picLocks noChangeAspect="1"/>
          </p:cNvPicPr>
          <p:nvPr/>
        </p:nvPicPr>
        <p:blipFill>
          <a:blip r:embed="rId2"/>
          <a:stretch>
            <a:fillRect/>
          </a:stretch>
        </p:blipFill>
        <p:spPr>
          <a:xfrm>
            <a:off x="1540772" y="2300495"/>
            <a:ext cx="7934533" cy="4192314"/>
          </a:xfrm>
          <a:prstGeom prst="rect">
            <a:avLst/>
          </a:prstGeom>
        </p:spPr>
      </p:pic>
    </p:spTree>
    <p:extLst>
      <p:ext uri="{BB962C8B-B14F-4D97-AF65-F5344CB8AC3E}">
        <p14:creationId xmlns:p14="http://schemas.microsoft.com/office/powerpoint/2010/main" val="3173017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161104" cy="985161"/>
          </a:xfrm>
        </p:spPr>
        <p:txBody>
          <a:bodyPr>
            <a:normAutofit/>
          </a:bodyPr>
          <a:lstStyle/>
          <a:p>
            <a:r>
              <a:rPr lang="es-ES" sz="3200" b="1" i="0" dirty="0">
                <a:solidFill>
                  <a:srgbClr val="FF0000"/>
                </a:solidFill>
                <a:effectLst/>
                <a:latin typeface="Open Sans" panose="020B0604020202020204" pitchFamily="34" charset="0"/>
              </a:rPr>
              <a:t>Plan de continuidad del Servicio</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4A585DD1-A9DC-4AD5-BBDA-7D531EC9D3F5}"/>
              </a:ext>
            </a:extLst>
          </p:cNvPr>
          <p:cNvPicPr>
            <a:picLocks noChangeAspect="1"/>
          </p:cNvPicPr>
          <p:nvPr/>
        </p:nvPicPr>
        <p:blipFill>
          <a:blip r:embed="rId2"/>
          <a:stretch>
            <a:fillRect/>
          </a:stretch>
        </p:blipFill>
        <p:spPr>
          <a:xfrm>
            <a:off x="1771236" y="2417900"/>
            <a:ext cx="6953250" cy="3400425"/>
          </a:xfrm>
          <a:prstGeom prst="rect">
            <a:avLst/>
          </a:prstGeom>
        </p:spPr>
      </p:pic>
    </p:spTree>
    <p:extLst>
      <p:ext uri="{BB962C8B-B14F-4D97-AF65-F5344CB8AC3E}">
        <p14:creationId xmlns:p14="http://schemas.microsoft.com/office/powerpoint/2010/main" val="2376063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161104" cy="985161"/>
          </a:xfrm>
        </p:spPr>
        <p:txBody>
          <a:bodyPr>
            <a:normAutofit/>
          </a:bodyPr>
          <a:lstStyle/>
          <a:p>
            <a:r>
              <a:rPr lang="es-ES" sz="3200" b="1" i="0" dirty="0">
                <a:solidFill>
                  <a:srgbClr val="FF0000"/>
                </a:solidFill>
                <a:effectLst/>
                <a:latin typeface="Open Sans" panose="020B0604020202020204" pitchFamily="34" charset="0"/>
              </a:rPr>
              <a:t>Plan de continuidad del Servicio</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B0592BC-321E-4B82-942E-0BEB7D1BC3D9}"/>
              </a:ext>
            </a:extLst>
          </p:cNvPr>
          <p:cNvPicPr>
            <a:picLocks noChangeAspect="1"/>
          </p:cNvPicPr>
          <p:nvPr/>
        </p:nvPicPr>
        <p:blipFill>
          <a:blip r:embed="rId2"/>
          <a:stretch>
            <a:fillRect/>
          </a:stretch>
        </p:blipFill>
        <p:spPr>
          <a:xfrm>
            <a:off x="949649" y="2331528"/>
            <a:ext cx="10292701" cy="3858094"/>
          </a:xfrm>
          <a:prstGeom prst="rect">
            <a:avLst/>
          </a:prstGeom>
        </p:spPr>
      </p:pic>
    </p:spTree>
    <p:extLst>
      <p:ext uri="{BB962C8B-B14F-4D97-AF65-F5344CB8AC3E}">
        <p14:creationId xmlns:p14="http://schemas.microsoft.com/office/powerpoint/2010/main" val="751233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161104" cy="985161"/>
          </a:xfrm>
        </p:spPr>
        <p:txBody>
          <a:bodyPr>
            <a:normAutofit/>
          </a:bodyPr>
          <a:lstStyle/>
          <a:p>
            <a:r>
              <a:rPr lang="es-ES" sz="3200" b="1" i="0" dirty="0">
                <a:solidFill>
                  <a:srgbClr val="FF0000"/>
                </a:solidFill>
                <a:effectLst/>
                <a:latin typeface="Open Sans" panose="020B0604020202020204" pitchFamily="34" charset="0"/>
              </a:rPr>
              <a:t>Parámetros de la </a:t>
            </a:r>
            <a:r>
              <a:rPr lang="es-ES" sz="3200" b="1" i="0" dirty="0" err="1">
                <a:solidFill>
                  <a:srgbClr val="FF0000"/>
                </a:solidFill>
                <a:effectLst/>
                <a:latin typeface="Open Sans" panose="020B0604020202020204" pitchFamily="34" charset="0"/>
              </a:rPr>
              <a:t>Gestion</a:t>
            </a:r>
            <a:r>
              <a:rPr lang="es-ES" sz="3200" b="1" i="0" dirty="0">
                <a:solidFill>
                  <a:srgbClr val="FF0000"/>
                </a:solidFill>
                <a:effectLst/>
                <a:latin typeface="Open Sans" panose="020B0604020202020204" pitchFamily="34" charset="0"/>
              </a:rPr>
              <a:t> de la continuidad</a:t>
            </a:r>
          </a:p>
          <a:p>
            <a:endParaRPr lang="es-ES" sz="2400" b="1" i="0" dirty="0">
              <a:solidFill>
                <a:srgbClr val="FF0000"/>
              </a:solidFill>
              <a:effectLst/>
              <a:latin typeface="Open Sans" panose="020B0604020202020204" pitchFamily="34" charset="0"/>
            </a:endParaRPr>
          </a:p>
          <a:p>
            <a:pPr marL="457200" lvl="1" indent="0" algn="just">
              <a:buNone/>
            </a:pP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B116869D-2A2B-41A3-B010-C5E06AD6FDD8}"/>
              </a:ext>
            </a:extLst>
          </p:cNvPr>
          <p:cNvPicPr>
            <a:picLocks noChangeAspect="1"/>
          </p:cNvPicPr>
          <p:nvPr/>
        </p:nvPicPr>
        <p:blipFill>
          <a:blip r:embed="rId2"/>
          <a:stretch>
            <a:fillRect/>
          </a:stretch>
        </p:blipFill>
        <p:spPr>
          <a:xfrm>
            <a:off x="1922807" y="2247900"/>
            <a:ext cx="6876635" cy="3628522"/>
          </a:xfrm>
          <a:prstGeom prst="rect">
            <a:avLst/>
          </a:prstGeom>
        </p:spPr>
      </p:pic>
    </p:spTree>
    <p:extLst>
      <p:ext uri="{BB962C8B-B14F-4D97-AF65-F5344CB8AC3E}">
        <p14:creationId xmlns:p14="http://schemas.microsoft.com/office/powerpoint/2010/main" val="139737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Continuidad</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21624819-0855-4F66-B5D9-562AB413A7C2}"/>
              </a:ext>
            </a:extLst>
          </p:cNvPr>
          <p:cNvPicPr>
            <a:picLocks noChangeAspect="1"/>
          </p:cNvPicPr>
          <p:nvPr/>
        </p:nvPicPr>
        <p:blipFill>
          <a:blip r:embed="rId2"/>
          <a:stretch>
            <a:fillRect/>
          </a:stretch>
        </p:blipFill>
        <p:spPr>
          <a:xfrm>
            <a:off x="702365" y="1082040"/>
            <a:ext cx="10306546" cy="5775960"/>
          </a:xfrm>
          <a:prstGeom prst="rect">
            <a:avLst/>
          </a:prstGeom>
        </p:spPr>
      </p:pic>
    </p:spTree>
    <p:extLst>
      <p:ext uri="{BB962C8B-B14F-4D97-AF65-F5344CB8AC3E}">
        <p14:creationId xmlns:p14="http://schemas.microsoft.com/office/powerpoint/2010/main" val="2243915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3. Gestión de la Capacidad y el Desempeño</a:t>
            </a:r>
          </a:p>
          <a:p>
            <a:endParaRPr lang="es-EC" sz="2200" dirty="0"/>
          </a:p>
          <a:p>
            <a:endParaRPr lang="es-EC" sz="2200" b="1" dirty="0"/>
          </a:p>
        </p:txBody>
      </p:sp>
      <p:pic>
        <p:nvPicPr>
          <p:cNvPr id="2050" name="Picture 2" descr="8 Efectivos indicadores de la gestión de negocios">
            <a:extLst>
              <a:ext uri="{FF2B5EF4-FFF2-40B4-BE49-F238E27FC236}">
                <a16:creationId xmlns:a16="http://schemas.microsoft.com/office/drawing/2014/main" id="{B4ABCA1F-3128-4631-94BF-CB12B58B7CF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284" r="15024"/>
          <a:stretch/>
        </p:blipFill>
        <p:spPr bwMode="auto">
          <a:xfrm>
            <a:off x="5008682" y="1501940"/>
            <a:ext cx="7042638" cy="4393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178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Definición </a:t>
            </a:r>
          </a:p>
          <a:p>
            <a:endParaRPr lang="es-ES" sz="2400" b="1" i="0" dirty="0">
              <a:solidFill>
                <a:srgbClr val="FF0000"/>
              </a:solidFill>
              <a:effectLst/>
              <a:latin typeface="Open Sans" panose="020B0604020202020204" pitchFamily="34" charset="0"/>
            </a:endParaRPr>
          </a:p>
          <a:p>
            <a:pPr marL="457200" lvl="1" indent="0" algn="just">
              <a:buNone/>
            </a:pPr>
            <a:r>
              <a:rPr lang="es-ES" b="1" dirty="0">
                <a:solidFill>
                  <a:srgbClr val="FF0000"/>
                </a:solidFill>
              </a:rPr>
              <a:t>Capacidad</a:t>
            </a:r>
            <a:r>
              <a:rPr lang="es-ES" dirty="0">
                <a:solidFill>
                  <a:srgbClr val="FF0000"/>
                </a:solidFill>
              </a:rPr>
              <a:t>: </a:t>
            </a:r>
            <a:r>
              <a:rPr lang="es-ES" dirty="0"/>
              <a:t>se refiere al desempeño de un servicio, este esta relacionado con la infraestructura que lo soporta. Por ejemplo la capacidad de soportar un elevado numero de usuarios o conexiones.</a:t>
            </a:r>
          </a:p>
          <a:p>
            <a:pPr marL="457200" lvl="1" indent="0" algn="just">
              <a:buNone/>
            </a:pPr>
            <a:r>
              <a:rPr lang="es-ES" b="1" dirty="0">
                <a:solidFill>
                  <a:srgbClr val="FF0000"/>
                </a:solidFill>
              </a:rPr>
              <a:t>Rendimiento</a:t>
            </a:r>
            <a:r>
              <a:rPr lang="es-ES" dirty="0">
                <a:solidFill>
                  <a:srgbClr val="FF0000"/>
                </a:solidFill>
              </a:rPr>
              <a:t>:</a:t>
            </a:r>
            <a:r>
              <a:rPr lang="es-ES" dirty="0"/>
              <a:t> es una medida de lo que se logra o entrega por un sistema, persona, equipo, práctica o servicio. Es decir satisfacer un requerimiento como la velocidad, el tiempo de respuesta, calidad de la imagen, etc.</a:t>
            </a:r>
          </a:p>
          <a:p>
            <a:pPr marL="457200" lvl="1" indent="0" algn="just">
              <a:buNone/>
            </a:pPr>
            <a:endParaRPr lang="es-EC" dirty="0"/>
          </a:p>
          <a:p>
            <a:pPr marL="457200" lvl="1" indent="0" algn="just">
              <a:buNone/>
            </a:pPr>
            <a:r>
              <a:rPr lang="es-EC" dirty="0"/>
              <a:t>Así el objetivo de la esta práctica es garantizar que los servicios alcancen el desempeño acordado y esperado, satisfaciendo la demanda actual y futura de manera rentable.</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147882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Actividades: </a:t>
            </a:r>
          </a:p>
          <a:p>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E903102A-3D57-4DCF-A2BA-110CC22E856B}"/>
              </a:ext>
            </a:extLst>
          </p:cNvPr>
          <p:cNvPicPr>
            <a:picLocks noChangeAspect="1"/>
          </p:cNvPicPr>
          <p:nvPr/>
        </p:nvPicPr>
        <p:blipFill>
          <a:blip r:embed="rId2"/>
          <a:stretch>
            <a:fillRect/>
          </a:stretch>
        </p:blipFill>
        <p:spPr>
          <a:xfrm>
            <a:off x="967260" y="2431179"/>
            <a:ext cx="10572070" cy="3124200"/>
          </a:xfrm>
          <a:prstGeom prst="rect">
            <a:avLst/>
          </a:prstGeom>
        </p:spPr>
      </p:pic>
    </p:spTree>
    <p:extLst>
      <p:ext uri="{BB962C8B-B14F-4D97-AF65-F5344CB8AC3E}">
        <p14:creationId xmlns:p14="http://schemas.microsoft.com/office/powerpoint/2010/main" val="22711792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Terminologías: </a:t>
            </a:r>
          </a:p>
          <a:p>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0040AC09-35B4-49F3-AB1F-53B1EA50E525}"/>
              </a:ext>
            </a:extLst>
          </p:cNvPr>
          <p:cNvPicPr>
            <a:picLocks noChangeAspect="1"/>
          </p:cNvPicPr>
          <p:nvPr/>
        </p:nvPicPr>
        <p:blipFill>
          <a:blip r:embed="rId2"/>
          <a:stretch>
            <a:fillRect/>
          </a:stretch>
        </p:blipFill>
        <p:spPr>
          <a:xfrm>
            <a:off x="1148176" y="2431359"/>
            <a:ext cx="6969993" cy="3942936"/>
          </a:xfrm>
          <a:prstGeom prst="rect">
            <a:avLst/>
          </a:prstGeom>
        </p:spPr>
      </p:pic>
      <p:sp>
        <p:nvSpPr>
          <p:cNvPr id="5" name="CuadroTexto 4">
            <a:extLst>
              <a:ext uri="{FF2B5EF4-FFF2-40B4-BE49-F238E27FC236}">
                <a16:creationId xmlns:a16="http://schemas.microsoft.com/office/drawing/2014/main" id="{8ADBBCBA-26C8-447C-9EB7-253C2610B9D1}"/>
              </a:ext>
            </a:extLst>
          </p:cNvPr>
          <p:cNvSpPr txBox="1"/>
          <p:nvPr/>
        </p:nvSpPr>
        <p:spPr>
          <a:xfrm>
            <a:off x="8481392" y="2557669"/>
            <a:ext cx="3392160" cy="3139321"/>
          </a:xfrm>
          <a:prstGeom prst="rect">
            <a:avLst/>
          </a:prstGeom>
          <a:noFill/>
        </p:spPr>
        <p:txBody>
          <a:bodyPr wrap="square" rtlCol="0">
            <a:spAutoFit/>
          </a:bodyPr>
          <a:lstStyle/>
          <a:p>
            <a:r>
              <a:rPr lang="es-ES" b="0" i="0" dirty="0">
                <a:solidFill>
                  <a:srgbClr val="3F3F3F"/>
                </a:solidFill>
                <a:effectLst/>
                <a:latin typeface="Raleway"/>
              </a:rPr>
              <a:t>Todo patrón de actividad del negocio se deberá documentar con información de sus atributos como son: frecuencia de uso, duración de uso, impacto al cliente. Otra documentación a incluir es sobre sus requerimientos: nivel de desempeño necesario, seguridad, disponibilidad y nivel de privacidad.</a:t>
            </a:r>
            <a:endParaRPr lang="es-EC" dirty="0"/>
          </a:p>
        </p:txBody>
      </p:sp>
    </p:spTree>
    <p:extLst>
      <p:ext uri="{BB962C8B-B14F-4D97-AF65-F5344CB8AC3E}">
        <p14:creationId xmlns:p14="http://schemas.microsoft.com/office/powerpoint/2010/main" val="641179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Niveles de Capacidad: </a:t>
            </a:r>
          </a:p>
          <a:p>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8ADBBCBA-26C8-447C-9EB7-253C2610B9D1}"/>
              </a:ext>
            </a:extLst>
          </p:cNvPr>
          <p:cNvSpPr txBox="1"/>
          <p:nvPr/>
        </p:nvSpPr>
        <p:spPr>
          <a:xfrm>
            <a:off x="1856651" y="5028240"/>
            <a:ext cx="2543823" cy="1815882"/>
          </a:xfrm>
          <a:prstGeom prst="rect">
            <a:avLst/>
          </a:prstGeom>
          <a:noFill/>
        </p:spPr>
        <p:txBody>
          <a:bodyPr wrap="square" rtlCol="0">
            <a:spAutoFit/>
          </a:bodyPr>
          <a:lstStyle/>
          <a:p>
            <a:r>
              <a:rPr lang="es-ES" sz="1600" b="0" i="0" dirty="0">
                <a:solidFill>
                  <a:srgbClr val="3F3F3F"/>
                </a:solidFill>
                <a:effectLst/>
                <a:latin typeface="Raleway"/>
              </a:rPr>
              <a:t>Es la capacidad del servicio a nivel estratégico</a:t>
            </a:r>
            <a:r>
              <a:rPr lang="es-ES" sz="1600" dirty="0">
                <a:solidFill>
                  <a:srgbClr val="3F3F3F"/>
                </a:solidFill>
                <a:latin typeface="Raleway"/>
              </a:rPr>
              <a:t>. </a:t>
            </a:r>
          </a:p>
          <a:p>
            <a:r>
              <a:rPr lang="es-ES" sz="1600" b="0" i="0" dirty="0">
                <a:solidFill>
                  <a:srgbClr val="3F3F3F"/>
                </a:solidFill>
                <a:effectLst/>
                <a:latin typeface="Raleway"/>
              </a:rPr>
              <a:t>Con las condiciones de infraestructura actual podemos dar servicio a nuevos Clientes?</a:t>
            </a:r>
            <a:endParaRPr lang="es-EC" sz="1600" dirty="0"/>
          </a:p>
        </p:txBody>
      </p:sp>
      <p:sp>
        <p:nvSpPr>
          <p:cNvPr id="10" name="CuadroTexto 9">
            <a:extLst>
              <a:ext uri="{FF2B5EF4-FFF2-40B4-BE49-F238E27FC236}">
                <a16:creationId xmlns:a16="http://schemas.microsoft.com/office/drawing/2014/main" id="{F992A600-2E89-4FCA-A862-9B545E285BF3}"/>
              </a:ext>
            </a:extLst>
          </p:cNvPr>
          <p:cNvSpPr txBox="1"/>
          <p:nvPr/>
        </p:nvSpPr>
        <p:spPr>
          <a:xfrm>
            <a:off x="4399921" y="5107236"/>
            <a:ext cx="2385590" cy="1569660"/>
          </a:xfrm>
          <a:prstGeom prst="rect">
            <a:avLst/>
          </a:prstGeom>
          <a:noFill/>
        </p:spPr>
        <p:txBody>
          <a:bodyPr wrap="square" rtlCol="0">
            <a:spAutoFit/>
          </a:bodyPr>
          <a:lstStyle/>
          <a:p>
            <a:r>
              <a:rPr lang="es-ES" sz="1600" b="0" i="0" dirty="0">
                <a:solidFill>
                  <a:srgbClr val="3F3F3F"/>
                </a:solidFill>
                <a:effectLst/>
                <a:latin typeface="Raleway"/>
              </a:rPr>
              <a:t>Enfoca en dotar al servicio con la infraestructura necesaria para cumplir con los niveles de servicios acordados.</a:t>
            </a:r>
            <a:endParaRPr lang="es-EC" sz="1600" dirty="0"/>
          </a:p>
        </p:txBody>
      </p:sp>
      <p:sp>
        <p:nvSpPr>
          <p:cNvPr id="11" name="CuadroTexto 10">
            <a:extLst>
              <a:ext uri="{FF2B5EF4-FFF2-40B4-BE49-F238E27FC236}">
                <a16:creationId xmlns:a16="http://schemas.microsoft.com/office/drawing/2014/main" id="{0740BFAB-388A-47FC-A0E0-2B2CD4B4041E}"/>
              </a:ext>
            </a:extLst>
          </p:cNvPr>
          <p:cNvSpPr txBox="1"/>
          <p:nvPr/>
        </p:nvSpPr>
        <p:spPr>
          <a:xfrm>
            <a:off x="6958795" y="5196815"/>
            <a:ext cx="2385590" cy="1323439"/>
          </a:xfrm>
          <a:prstGeom prst="rect">
            <a:avLst/>
          </a:prstGeom>
          <a:noFill/>
        </p:spPr>
        <p:txBody>
          <a:bodyPr wrap="square" rtlCol="0">
            <a:spAutoFit/>
          </a:bodyPr>
          <a:lstStyle/>
          <a:p>
            <a:r>
              <a:rPr lang="es-ES" sz="1600" dirty="0">
                <a:solidFill>
                  <a:srgbClr val="3F3F3F"/>
                </a:solidFill>
                <a:latin typeface="Raleway"/>
              </a:rPr>
              <a:t>Se e</a:t>
            </a:r>
            <a:r>
              <a:rPr lang="es-ES" sz="1600" b="0" i="0" dirty="0">
                <a:solidFill>
                  <a:srgbClr val="3F3F3F"/>
                </a:solidFill>
                <a:effectLst/>
                <a:latin typeface="Raleway"/>
              </a:rPr>
              <a:t>ncarga de validar la existencia de recursos suficientes y que se estén utilizando de forma eficiente.</a:t>
            </a:r>
            <a:endParaRPr lang="es-EC" sz="1600" dirty="0"/>
          </a:p>
        </p:txBody>
      </p:sp>
      <p:pic>
        <p:nvPicPr>
          <p:cNvPr id="6" name="Imagen 5">
            <a:extLst>
              <a:ext uri="{FF2B5EF4-FFF2-40B4-BE49-F238E27FC236}">
                <a16:creationId xmlns:a16="http://schemas.microsoft.com/office/drawing/2014/main" id="{60CC0408-6CA9-4C0E-8830-90647BA6316B}"/>
              </a:ext>
            </a:extLst>
          </p:cNvPr>
          <p:cNvPicPr>
            <a:picLocks noChangeAspect="1"/>
          </p:cNvPicPr>
          <p:nvPr/>
        </p:nvPicPr>
        <p:blipFill>
          <a:blip r:embed="rId2"/>
          <a:stretch>
            <a:fillRect/>
          </a:stretch>
        </p:blipFill>
        <p:spPr>
          <a:xfrm>
            <a:off x="1841047" y="2367730"/>
            <a:ext cx="7503338" cy="2735339"/>
          </a:xfrm>
          <a:prstGeom prst="rect">
            <a:avLst/>
          </a:prstGeom>
        </p:spPr>
      </p:pic>
    </p:spTree>
    <p:extLst>
      <p:ext uri="{BB962C8B-B14F-4D97-AF65-F5344CB8AC3E}">
        <p14:creationId xmlns:p14="http://schemas.microsoft.com/office/powerpoint/2010/main" val="4235024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Niveles de Capacidad: </a:t>
            </a:r>
          </a:p>
          <a:p>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8ADBBCBA-26C8-447C-9EB7-253C2610B9D1}"/>
              </a:ext>
            </a:extLst>
          </p:cNvPr>
          <p:cNvSpPr txBox="1"/>
          <p:nvPr/>
        </p:nvSpPr>
        <p:spPr>
          <a:xfrm>
            <a:off x="1444488" y="5805858"/>
            <a:ext cx="9342783" cy="830997"/>
          </a:xfrm>
          <a:prstGeom prst="rect">
            <a:avLst/>
          </a:prstGeom>
          <a:noFill/>
        </p:spPr>
        <p:txBody>
          <a:bodyPr wrap="square" rtlCol="0">
            <a:spAutoFit/>
          </a:bodyPr>
          <a:lstStyle/>
          <a:p>
            <a:r>
              <a:rPr lang="es-ES" sz="1600" b="0" i="0" dirty="0">
                <a:solidFill>
                  <a:srgbClr val="3F3F3F"/>
                </a:solidFill>
                <a:effectLst/>
                <a:latin typeface="Raleway"/>
              </a:rPr>
              <a:t>Este plan de la capacidad nos permitirá conocer, medir y pronosticar cuales son las necesidades de infraestructura dependiendo de la demanda de un servicio. Por lo cual este plan es una entrada para la elaboración del presupuesto anual </a:t>
            </a:r>
            <a:endParaRPr lang="es-EC" sz="1600" dirty="0"/>
          </a:p>
        </p:txBody>
      </p:sp>
      <p:pic>
        <p:nvPicPr>
          <p:cNvPr id="4" name="Imagen 3">
            <a:extLst>
              <a:ext uri="{FF2B5EF4-FFF2-40B4-BE49-F238E27FC236}">
                <a16:creationId xmlns:a16="http://schemas.microsoft.com/office/drawing/2014/main" id="{10EA9DF7-753C-4C46-8946-2F3E4527DCE6}"/>
              </a:ext>
            </a:extLst>
          </p:cNvPr>
          <p:cNvPicPr>
            <a:picLocks noChangeAspect="1"/>
          </p:cNvPicPr>
          <p:nvPr/>
        </p:nvPicPr>
        <p:blipFill>
          <a:blip r:embed="rId2"/>
          <a:stretch>
            <a:fillRect/>
          </a:stretch>
        </p:blipFill>
        <p:spPr>
          <a:xfrm>
            <a:off x="1404730" y="2180699"/>
            <a:ext cx="9342782" cy="3625159"/>
          </a:xfrm>
          <a:prstGeom prst="rect">
            <a:avLst/>
          </a:prstGeom>
        </p:spPr>
      </p:pic>
    </p:spTree>
    <p:extLst>
      <p:ext uri="{BB962C8B-B14F-4D97-AF65-F5344CB8AC3E}">
        <p14:creationId xmlns:p14="http://schemas.microsoft.com/office/powerpoint/2010/main" val="4173453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la Capacidad y el Desempeño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1" name="Imagen 10">
            <a:extLst>
              <a:ext uri="{FF2B5EF4-FFF2-40B4-BE49-F238E27FC236}">
                <a16:creationId xmlns:a16="http://schemas.microsoft.com/office/drawing/2014/main" id="{976B8A0C-770A-4197-A14D-CB5450C58895}"/>
              </a:ext>
            </a:extLst>
          </p:cNvPr>
          <p:cNvPicPr>
            <a:picLocks noChangeAspect="1"/>
          </p:cNvPicPr>
          <p:nvPr/>
        </p:nvPicPr>
        <p:blipFill>
          <a:blip r:embed="rId2"/>
          <a:stretch>
            <a:fillRect/>
          </a:stretch>
        </p:blipFill>
        <p:spPr>
          <a:xfrm>
            <a:off x="723072" y="1082040"/>
            <a:ext cx="10368762" cy="5775960"/>
          </a:xfrm>
          <a:prstGeom prst="rect">
            <a:avLst/>
          </a:prstGeom>
        </p:spPr>
      </p:pic>
    </p:spTree>
    <p:extLst>
      <p:ext uri="{BB962C8B-B14F-4D97-AF65-F5344CB8AC3E}">
        <p14:creationId xmlns:p14="http://schemas.microsoft.com/office/powerpoint/2010/main" val="6596547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4. Solicitudes de Servicio</a:t>
            </a:r>
          </a:p>
          <a:p>
            <a:endParaRPr lang="es-EC" sz="2200" dirty="0"/>
          </a:p>
          <a:p>
            <a:endParaRPr lang="es-EC" sz="2200" b="1" dirty="0"/>
          </a:p>
        </p:txBody>
      </p:sp>
      <p:pic>
        <p:nvPicPr>
          <p:cNvPr id="3074" name="Picture 2" descr="Guía de preguntas y respuestas para Atención al Cliente">
            <a:extLst>
              <a:ext uri="{FF2B5EF4-FFF2-40B4-BE49-F238E27FC236}">
                <a16:creationId xmlns:a16="http://schemas.microsoft.com/office/drawing/2014/main" id="{6B2E0ADB-1712-452C-B72B-BEC24FEC86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6139" y="1208382"/>
            <a:ext cx="4670096" cy="4670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10591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Solicitudes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a:p>
            <a:pPr marL="457200" lvl="1" indent="0" algn="just">
              <a:buNone/>
            </a:pPr>
            <a:r>
              <a:rPr lang="es-ES" b="1" dirty="0">
                <a:solidFill>
                  <a:srgbClr val="FF0000"/>
                </a:solidFill>
              </a:rPr>
              <a:t>Solicitud de Servicio</a:t>
            </a:r>
            <a:r>
              <a:rPr lang="es-ES" dirty="0">
                <a:solidFill>
                  <a:srgbClr val="FF0000"/>
                </a:solidFill>
              </a:rPr>
              <a:t>: </a:t>
            </a:r>
            <a:r>
              <a:rPr lang="es-ES" dirty="0"/>
              <a:t>Una solicitud de un usuario o un representante autorizado del usuario que inicia una acción de servicio que se ha acordado previamente como parte normal de la entrega del servicio.</a:t>
            </a:r>
          </a:p>
          <a:p>
            <a:pPr marL="457200" lvl="1" indent="0" algn="just">
              <a:buNone/>
            </a:pPr>
            <a:endParaRPr lang="es-EC" dirty="0"/>
          </a:p>
          <a:p>
            <a:pPr marL="457200" lvl="1" indent="0" algn="just">
              <a:buNone/>
            </a:pPr>
            <a:r>
              <a:rPr lang="es-EC" dirty="0"/>
              <a:t>El objetivo principal de esta practica de gestión es dar atención a todas las solicitudes que se han predefinido previamente sobre un servicio las cuales son generadas por un usuario deberán ser manejadas de manera efectiva y amigable. Todo esto ayuda a respaldar la calidad acordada de un servicio </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2091253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Solicitudes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Qué puede incluir una solicitud de servicio? </a:t>
            </a:r>
          </a:p>
          <a:p>
            <a:pPr marL="0" indent="0">
              <a:buNone/>
            </a:pPr>
            <a:endParaRPr lang="es-ES" sz="2400" b="1" i="0" dirty="0">
              <a:solidFill>
                <a:srgbClr val="FF0000"/>
              </a:solidFill>
              <a:effectLst/>
              <a:latin typeface="Open Sans" panose="020B0604020202020204" pitchFamily="34" charset="0"/>
            </a:endParaRPr>
          </a:p>
          <a:p>
            <a:pPr lvl="1" algn="just"/>
            <a:r>
              <a:rPr lang="es-ES" b="1" dirty="0">
                <a:solidFill>
                  <a:srgbClr val="FF0000"/>
                </a:solidFill>
              </a:rPr>
              <a:t>Una entrega de servicios. </a:t>
            </a:r>
            <a:r>
              <a:rPr lang="es-EC" dirty="0"/>
              <a:t>Si el resultado de un servicio es un informe se puede incluir la entrega de un informe en particular.</a:t>
            </a:r>
          </a:p>
          <a:p>
            <a:pPr lvl="1" algn="just"/>
            <a:r>
              <a:rPr lang="es-EC" dirty="0"/>
              <a:t>Una solicitud de </a:t>
            </a:r>
            <a:r>
              <a:rPr lang="es-EC" b="1" dirty="0">
                <a:solidFill>
                  <a:srgbClr val="FF0000"/>
                </a:solidFill>
              </a:rPr>
              <a:t>información</a:t>
            </a:r>
            <a:r>
              <a:rPr lang="es-EC" dirty="0"/>
              <a:t>. Por ejemplo ayuda en la creación de un documento o algún dato relacionado a la disponibilidad de un servicio.</a:t>
            </a:r>
          </a:p>
          <a:p>
            <a:pPr lvl="1" algn="just"/>
            <a:r>
              <a:rPr lang="es-EC" dirty="0"/>
              <a:t>Una solicitud de </a:t>
            </a:r>
            <a:r>
              <a:rPr lang="es-EC" b="1" dirty="0">
                <a:solidFill>
                  <a:srgbClr val="FF0000"/>
                </a:solidFill>
              </a:rPr>
              <a:t>provisión de un recurso o servicio</a:t>
            </a:r>
            <a:r>
              <a:rPr lang="es-EC" dirty="0"/>
              <a:t>. Por ejemplo proporcionar una computadora o la entrega de un servidor virtual para </a:t>
            </a:r>
            <a:r>
              <a:rPr lang="es-EC" dirty="0" err="1"/>
              <a:t>algun</a:t>
            </a:r>
            <a:r>
              <a:rPr lang="es-EC" dirty="0"/>
              <a:t> proyecto de desarrollo.</a:t>
            </a:r>
          </a:p>
          <a:p>
            <a:pPr lvl="1" algn="just"/>
            <a:r>
              <a:rPr lang="es-EC" dirty="0"/>
              <a:t>Una solicitud de </a:t>
            </a:r>
            <a:r>
              <a:rPr lang="es-EC" b="1" dirty="0">
                <a:solidFill>
                  <a:srgbClr val="FF0000"/>
                </a:solidFill>
              </a:rPr>
              <a:t>acceso</a:t>
            </a:r>
            <a:r>
              <a:rPr lang="es-EC" dirty="0"/>
              <a:t> a un recurso o servicio.</a:t>
            </a:r>
          </a:p>
          <a:p>
            <a:pPr lvl="1" algn="just"/>
            <a:r>
              <a:rPr lang="es-EC" dirty="0"/>
              <a:t>Comentarios, felicitaciones o quejas.</a:t>
            </a:r>
          </a:p>
          <a:p>
            <a:pPr marL="457200" lvl="1" indent="0" algn="just">
              <a:buNone/>
            </a:pPr>
            <a:r>
              <a:rPr lang="es-EC" dirty="0"/>
              <a:t>Un cambio estándar inicia como una solicitud de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6233882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Solicitudes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082040"/>
          </a:xfrm>
        </p:spPr>
        <p:txBody>
          <a:bodyPr>
            <a:normAutofit/>
          </a:bodyPr>
          <a:lstStyle/>
          <a:p>
            <a:r>
              <a:rPr lang="es-ES" sz="3200" b="1" i="0" dirty="0">
                <a:solidFill>
                  <a:srgbClr val="FF0000"/>
                </a:solidFill>
                <a:effectLst/>
                <a:latin typeface="Open Sans" panose="020B0604020202020204" pitchFamily="34" charset="0"/>
              </a:rPr>
              <a:t>Pasos para atender una solicitud de servicio</a:t>
            </a:r>
          </a:p>
          <a:p>
            <a:pPr marL="0" indent="0">
              <a:buNone/>
            </a:pPr>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6031DCCB-6422-4C01-987B-99A1BD69EA07}"/>
              </a:ext>
            </a:extLst>
          </p:cNvPr>
          <p:cNvPicPr>
            <a:picLocks noChangeAspect="1"/>
          </p:cNvPicPr>
          <p:nvPr/>
        </p:nvPicPr>
        <p:blipFill>
          <a:blip r:embed="rId2"/>
          <a:stretch>
            <a:fillRect/>
          </a:stretch>
        </p:blipFill>
        <p:spPr>
          <a:xfrm>
            <a:off x="1095825" y="2289258"/>
            <a:ext cx="10257975" cy="4058533"/>
          </a:xfrm>
          <a:prstGeom prst="rect">
            <a:avLst/>
          </a:prstGeom>
        </p:spPr>
      </p:pic>
    </p:spTree>
    <p:extLst>
      <p:ext uri="{BB962C8B-B14F-4D97-AF65-F5344CB8AC3E}">
        <p14:creationId xmlns:p14="http://schemas.microsoft.com/office/powerpoint/2010/main" val="34835414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Solicitudes de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207D1059-4023-4B01-9716-0653FF8DDEC5}"/>
              </a:ext>
            </a:extLst>
          </p:cNvPr>
          <p:cNvPicPr>
            <a:picLocks noChangeAspect="1"/>
          </p:cNvPicPr>
          <p:nvPr/>
        </p:nvPicPr>
        <p:blipFill>
          <a:blip r:embed="rId2"/>
          <a:stretch>
            <a:fillRect/>
          </a:stretch>
        </p:blipFill>
        <p:spPr>
          <a:xfrm>
            <a:off x="859735" y="1082040"/>
            <a:ext cx="10364856" cy="5792126"/>
          </a:xfrm>
          <a:prstGeom prst="rect">
            <a:avLst/>
          </a:prstGeom>
        </p:spPr>
      </p:pic>
    </p:spTree>
    <p:extLst>
      <p:ext uri="{BB962C8B-B14F-4D97-AF65-F5344CB8AC3E}">
        <p14:creationId xmlns:p14="http://schemas.microsoft.com/office/powerpoint/2010/main" val="1134544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5. Control de cambios</a:t>
            </a:r>
          </a:p>
          <a:p>
            <a:endParaRPr lang="es-EC" sz="2200" dirty="0"/>
          </a:p>
          <a:p>
            <a:endParaRPr lang="es-EC" sz="2200" b="1" dirty="0"/>
          </a:p>
        </p:txBody>
      </p:sp>
      <p:pic>
        <p:nvPicPr>
          <p:cNvPr id="4098" name="Picture 2" descr="Qué es el control de cambios en la gestión de proyectos? - ProjectAdmin">
            <a:extLst>
              <a:ext uri="{FF2B5EF4-FFF2-40B4-BE49-F238E27FC236}">
                <a16:creationId xmlns:a16="http://schemas.microsoft.com/office/drawing/2014/main" id="{2B2A33DC-82B2-436F-B0E7-E0F547A8B2D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150" r="5576"/>
          <a:stretch/>
        </p:blipFill>
        <p:spPr bwMode="auto">
          <a:xfrm>
            <a:off x="5206002" y="1097514"/>
            <a:ext cx="6810153" cy="46629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25741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a:p>
            <a:pPr marL="457200" lvl="1" indent="0" algn="just">
              <a:buNone/>
            </a:pPr>
            <a:r>
              <a:rPr lang="es-ES" dirty="0"/>
              <a:t>Maximizar la cantidad de cambios exitosos de TI al garantizar que los riesgos se hayan evaluado adecuadamente para autorizar o declinar los cambios.</a:t>
            </a:r>
          </a:p>
          <a:p>
            <a:pPr marL="457200" lvl="1" indent="0" algn="just">
              <a:buNone/>
            </a:pPr>
            <a:endParaRPr lang="es-EC" dirty="0"/>
          </a:p>
          <a:p>
            <a:pPr marL="457200" lvl="1" indent="0" algn="just">
              <a:buNone/>
            </a:pPr>
            <a:r>
              <a:rPr lang="es-EC" dirty="0"/>
              <a:t>El control de cambios se enfoca en modificaciones de productos y servicios, no en los aspectos de cambios en las personas para garantizar mejoras e iniciativas como lo hace el cambio organizacional.</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119814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289962"/>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2AC77B31-C587-44E4-B5A9-229823601F3F}"/>
              </a:ext>
            </a:extLst>
          </p:cNvPr>
          <p:cNvPicPr>
            <a:picLocks noChangeAspect="1"/>
          </p:cNvPicPr>
          <p:nvPr/>
        </p:nvPicPr>
        <p:blipFill>
          <a:blip r:embed="rId2"/>
          <a:stretch>
            <a:fillRect/>
          </a:stretch>
        </p:blipFill>
        <p:spPr>
          <a:xfrm>
            <a:off x="1378226" y="2257246"/>
            <a:ext cx="7430328" cy="3987837"/>
          </a:xfrm>
          <a:prstGeom prst="rect">
            <a:avLst/>
          </a:prstGeom>
        </p:spPr>
      </p:pic>
    </p:spTree>
    <p:extLst>
      <p:ext uri="{BB962C8B-B14F-4D97-AF65-F5344CB8AC3E}">
        <p14:creationId xmlns:p14="http://schemas.microsoft.com/office/powerpoint/2010/main" val="35379041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974065"/>
          </a:xfrm>
        </p:spPr>
        <p:txBody>
          <a:bodyPr>
            <a:normAutofit/>
          </a:bodyPr>
          <a:lstStyle/>
          <a:p>
            <a:r>
              <a:rPr lang="es-ES" sz="3200" b="1" i="0" dirty="0">
                <a:solidFill>
                  <a:srgbClr val="FF0000"/>
                </a:solidFill>
                <a:effectLst/>
                <a:latin typeface="Open Sans" panose="020B0604020202020204" pitchFamily="34" charset="0"/>
              </a:rPr>
              <a:t>Definición </a:t>
            </a:r>
          </a:p>
          <a:p>
            <a:r>
              <a:rPr lang="es-ES" sz="2400" i="0" dirty="0">
                <a:effectLst/>
                <a:latin typeface="Open Sans" panose="020B0604020202020204" pitchFamily="34" charset="0"/>
              </a:rPr>
              <a:t>Los cambios nacen con una </a:t>
            </a:r>
            <a:r>
              <a:rPr lang="es-ES" sz="2400" i="0" dirty="0">
                <a:solidFill>
                  <a:srgbClr val="FF0000"/>
                </a:solidFill>
                <a:effectLst/>
                <a:latin typeface="Open Sans" panose="020B0604020202020204" pitchFamily="34" charset="0"/>
              </a:rPr>
              <a:t>solicitud de cambio </a:t>
            </a:r>
            <a:r>
              <a:rPr lang="es-ES" sz="2400" i="0" dirty="0">
                <a:effectLst/>
                <a:latin typeface="Open Sans" panose="020B0604020202020204" pitchFamily="34" charset="0"/>
              </a:rPr>
              <a:t>(RFC). Un RFC (</a:t>
            </a:r>
            <a:r>
              <a:rPr lang="es-ES" sz="2400" i="0" dirty="0" err="1">
                <a:effectLst/>
                <a:latin typeface="Open Sans" panose="020B0604020202020204" pitchFamily="34" charset="0"/>
              </a:rPr>
              <a:t>Request</a:t>
            </a:r>
            <a:r>
              <a:rPr lang="es-ES" sz="2400" i="0" dirty="0">
                <a:effectLst/>
                <a:latin typeface="Open Sans" panose="020B0604020202020204" pitchFamily="34" charset="0"/>
              </a:rPr>
              <a:t> </a:t>
            </a:r>
            <a:r>
              <a:rPr lang="es-ES" sz="2400" i="0" dirty="0" err="1">
                <a:effectLst/>
                <a:latin typeface="Open Sans" panose="020B0604020202020204" pitchFamily="34" charset="0"/>
              </a:rPr>
              <a:t>for</a:t>
            </a:r>
            <a:r>
              <a:rPr lang="es-ES" sz="2400" i="0" dirty="0">
                <a:effectLst/>
                <a:latin typeface="Open Sans" panose="020B0604020202020204" pitchFamily="34" charset="0"/>
              </a:rPr>
              <a:t> Change) es una propuesta formal que contiene detalles para que se analice y haga un cambio.</a:t>
            </a:r>
          </a:p>
          <a:p>
            <a:r>
              <a:rPr lang="es-ES" sz="2400" i="0" dirty="0">
                <a:effectLst/>
                <a:latin typeface="Open Sans" panose="020B0604020202020204" pitchFamily="34" charset="0"/>
              </a:rPr>
              <a:t>UN RFC puede tener origen en cualquier lugar o persona. Se deben atender las peticiones de cualquier persona que solicite un cambio. NO SIGNIFICA que se ejecutará, pero si se analizará.</a:t>
            </a:r>
          </a:p>
          <a:p>
            <a:r>
              <a:rPr lang="es-ES" sz="2400" dirty="0">
                <a:latin typeface="Open Sans" panose="020B0604020202020204" pitchFamily="34" charset="0"/>
              </a:rPr>
              <a:t>Control de cambios es una de las prácticas </a:t>
            </a:r>
            <a:r>
              <a:rPr lang="es-ES" sz="2400" dirty="0">
                <a:solidFill>
                  <a:srgbClr val="FF0000"/>
                </a:solidFill>
                <a:latin typeface="Open Sans" panose="020B0604020202020204" pitchFamily="34" charset="0"/>
              </a:rPr>
              <a:t>mas críticas </a:t>
            </a:r>
            <a:r>
              <a:rPr lang="es-ES" sz="2400" dirty="0">
                <a:latin typeface="Open Sans" panose="020B0604020202020204" pitchFamily="34" charset="0"/>
              </a:rPr>
              <a:t>en </a:t>
            </a:r>
            <a:r>
              <a:rPr lang="es-ES" sz="2400" dirty="0" err="1">
                <a:latin typeface="Open Sans" panose="020B0604020202020204" pitchFamily="34" charset="0"/>
              </a:rPr>
              <a:t>ITIL</a:t>
            </a:r>
            <a:r>
              <a:rPr lang="es-ES" sz="2400" dirty="0">
                <a:latin typeface="Open Sans" panose="020B0604020202020204" pitchFamily="34" charset="0"/>
              </a:rPr>
              <a:t>. Si un cambio provoca una falla, por pequeña que sea, afectará la percepción del valor por parte del cliente.</a:t>
            </a:r>
          </a:p>
          <a:p>
            <a:r>
              <a:rPr lang="es-ES" sz="2400" i="0" dirty="0">
                <a:effectLst/>
                <a:latin typeface="Open Sans" panose="020B0604020202020204" pitchFamily="34" charset="0"/>
              </a:rPr>
              <a:t>Los cambios se priorizan de acuerdo a su </a:t>
            </a:r>
            <a:r>
              <a:rPr lang="es-ES" sz="2400" i="0" dirty="0">
                <a:solidFill>
                  <a:srgbClr val="FF0000"/>
                </a:solidFill>
                <a:effectLst/>
                <a:latin typeface="Open Sans" panose="020B0604020202020204" pitchFamily="34" charset="0"/>
              </a:rPr>
              <a:t>riesgo e impacto </a:t>
            </a:r>
          </a:p>
          <a:p>
            <a:r>
              <a:rPr lang="es-ES" sz="2400" i="0" dirty="0">
                <a:effectLst/>
                <a:latin typeface="Open Sans" panose="020B0604020202020204" pitchFamily="34" charset="0"/>
              </a:rPr>
              <a:t>Un cambio deberá tener </a:t>
            </a:r>
            <a:r>
              <a:rPr lang="es-ES" sz="2400" i="0" dirty="0">
                <a:solidFill>
                  <a:srgbClr val="FF0000"/>
                </a:solidFill>
                <a:effectLst/>
                <a:latin typeface="Open Sans" panose="020B0604020202020204" pitchFamily="34" charset="0"/>
              </a:rPr>
              <a:t>criterios de éxito</a:t>
            </a:r>
            <a:r>
              <a:rPr lang="es-ES" sz="2400" i="0" dirty="0">
                <a:effectLst/>
                <a:latin typeface="Open Sans" panose="020B0604020202020204" pitchFamily="34" charset="0"/>
              </a:rPr>
              <a:t> claramente definidos.</a:t>
            </a:r>
          </a:p>
          <a:p>
            <a:pPr marL="0" indent="0">
              <a:buNone/>
            </a:pPr>
            <a:endParaRPr lang="es-ES" sz="2400" i="0" dirty="0">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40640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693614"/>
          </a:xfrm>
        </p:spPr>
        <p:txBody>
          <a:bodyPr>
            <a:normAutofit/>
          </a:bodyPr>
          <a:lstStyle/>
          <a:p>
            <a:r>
              <a:rPr lang="es-ES" sz="3200" b="1" i="0" dirty="0">
                <a:solidFill>
                  <a:srgbClr val="FF0000"/>
                </a:solidFill>
                <a:effectLst/>
                <a:latin typeface="Open Sans" panose="020B0604020202020204" pitchFamily="34" charset="0"/>
              </a:rPr>
              <a:t>Definición /Conceptos </a:t>
            </a:r>
          </a:p>
          <a:p>
            <a:pPr marL="0" indent="0">
              <a:buNone/>
            </a:pPr>
            <a:endParaRPr lang="es-ES" sz="2400" i="0" dirty="0">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9B2C6EBA-97ED-4A1A-AB1F-6CA037A0AE44}"/>
              </a:ext>
            </a:extLst>
          </p:cNvPr>
          <p:cNvPicPr>
            <a:picLocks noChangeAspect="1"/>
          </p:cNvPicPr>
          <p:nvPr/>
        </p:nvPicPr>
        <p:blipFill>
          <a:blip r:embed="rId2"/>
          <a:stretch>
            <a:fillRect/>
          </a:stretch>
        </p:blipFill>
        <p:spPr>
          <a:xfrm>
            <a:off x="1653208" y="2305879"/>
            <a:ext cx="9212912" cy="3099557"/>
          </a:xfrm>
          <a:prstGeom prst="rect">
            <a:avLst/>
          </a:prstGeom>
        </p:spPr>
      </p:pic>
      <p:sp>
        <p:nvSpPr>
          <p:cNvPr id="5" name="CuadroTexto 4">
            <a:extLst>
              <a:ext uri="{FF2B5EF4-FFF2-40B4-BE49-F238E27FC236}">
                <a16:creationId xmlns:a16="http://schemas.microsoft.com/office/drawing/2014/main" id="{88C7C59A-4C52-4DFE-ADB8-B2F0310CA2B6}"/>
              </a:ext>
            </a:extLst>
          </p:cNvPr>
          <p:cNvSpPr txBox="1"/>
          <p:nvPr/>
        </p:nvSpPr>
        <p:spPr>
          <a:xfrm>
            <a:off x="1192696" y="5547043"/>
            <a:ext cx="9475304" cy="1200329"/>
          </a:xfrm>
          <a:prstGeom prst="rect">
            <a:avLst/>
          </a:prstGeom>
          <a:noFill/>
        </p:spPr>
        <p:txBody>
          <a:bodyPr wrap="square" rtlCol="0">
            <a:spAutoFit/>
          </a:bodyPr>
          <a:lstStyle/>
          <a:p>
            <a:r>
              <a:rPr lang="es-EC" dirty="0"/>
              <a:t>EL </a:t>
            </a:r>
            <a:r>
              <a:rPr lang="es-EC" dirty="0" err="1"/>
              <a:t>CAB</a:t>
            </a:r>
            <a:r>
              <a:rPr lang="es-EC" dirty="0"/>
              <a:t> apoyan en la toma de decisiones pero no tienen responsabilidad en el ciclo de vida del cambio.</a:t>
            </a:r>
          </a:p>
          <a:p>
            <a:r>
              <a:rPr lang="es-EC" dirty="0"/>
              <a:t>Este comité se encarga de asesorar en asistir y asesorar en la ejecución de un cambio pero la decisión final es del gestor de cambio (autoridad de cambio)</a:t>
            </a:r>
          </a:p>
        </p:txBody>
      </p:sp>
    </p:spTree>
    <p:extLst>
      <p:ext uri="{BB962C8B-B14F-4D97-AF65-F5344CB8AC3E}">
        <p14:creationId xmlns:p14="http://schemas.microsoft.com/office/powerpoint/2010/main" val="7476800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693614"/>
          </a:xfrm>
        </p:spPr>
        <p:txBody>
          <a:bodyPr>
            <a:normAutofit/>
          </a:bodyPr>
          <a:lstStyle/>
          <a:p>
            <a:r>
              <a:rPr lang="es-ES" sz="3200" b="1" i="0" dirty="0">
                <a:solidFill>
                  <a:srgbClr val="FF0000"/>
                </a:solidFill>
                <a:effectLst/>
                <a:latin typeface="Open Sans" panose="020B0604020202020204" pitchFamily="34" charset="0"/>
              </a:rPr>
              <a:t>Tipos de cambios</a:t>
            </a:r>
          </a:p>
          <a:p>
            <a:pPr marL="0" indent="0">
              <a:buNone/>
            </a:pPr>
            <a:endParaRPr lang="es-ES" sz="2400" i="0" dirty="0">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70CBE385-EA24-42B8-A8DE-DC4B19F8745F}"/>
              </a:ext>
            </a:extLst>
          </p:cNvPr>
          <p:cNvPicPr>
            <a:picLocks noChangeAspect="1"/>
          </p:cNvPicPr>
          <p:nvPr/>
        </p:nvPicPr>
        <p:blipFill>
          <a:blip r:embed="rId2"/>
          <a:stretch>
            <a:fillRect/>
          </a:stretch>
        </p:blipFill>
        <p:spPr>
          <a:xfrm>
            <a:off x="1650619" y="2305879"/>
            <a:ext cx="8890761" cy="4269813"/>
          </a:xfrm>
          <a:prstGeom prst="rect">
            <a:avLst/>
          </a:prstGeom>
        </p:spPr>
      </p:pic>
    </p:spTree>
    <p:extLst>
      <p:ext uri="{BB962C8B-B14F-4D97-AF65-F5344CB8AC3E}">
        <p14:creationId xmlns:p14="http://schemas.microsoft.com/office/powerpoint/2010/main" val="5971155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4748778"/>
          </a:xfrm>
        </p:spPr>
        <p:txBody>
          <a:bodyPr>
            <a:normAutofit fontScale="92500" lnSpcReduction="20000"/>
          </a:bodyPr>
          <a:lstStyle/>
          <a:p>
            <a:r>
              <a:rPr lang="es-ES" sz="3200" b="1" i="0" dirty="0">
                <a:solidFill>
                  <a:srgbClr val="FF0000"/>
                </a:solidFill>
                <a:effectLst/>
                <a:latin typeface="Open Sans" panose="020B0604020202020204" pitchFamily="34" charset="0"/>
              </a:rPr>
              <a:t>Tipos de cambios / consideraciones</a:t>
            </a:r>
          </a:p>
          <a:p>
            <a:r>
              <a:rPr lang="es-ES" sz="2000" b="1" i="0" dirty="0">
                <a:solidFill>
                  <a:srgbClr val="444340"/>
                </a:solidFill>
                <a:effectLst/>
              </a:rPr>
              <a:t>Cambios estándar. </a:t>
            </a:r>
            <a:r>
              <a:rPr lang="es-ES" sz="2000" b="0" i="0" dirty="0">
                <a:solidFill>
                  <a:srgbClr val="444340"/>
                </a:solidFill>
                <a:effectLst/>
              </a:rPr>
              <a:t>Cuando se crea o modifica el procedimiento para un cambio estándar, debe haber una evaluación y autorización de riesgos completa como para cualquier otro cambio. Esta evaluación de riesgos no necesita repetirse cada vez que se implementa el cambio estándar; sólo es necesario realizarlo si hay alguna modificación en la forma en que se realiza.</a:t>
            </a:r>
          </a:p>
          <a:p>
            <a:r>
              <a:rPr lang="es-ES" sz="2000" b="1" dirty="0">
                <a:solidFill>
                  <a:srgbClr val="444340"/>
                </a:solidFill>
              </a:rPr>
              <a:t>Cambios Normales. </a:t>
            </a:r>
            <a:r>
              <a:rPr lang="es-ES" sz="2000" dirty="0">
                <a:solidFill>
                  <a:srgbClr val="444340"/>
                </a:solidFill>
              </a:rPr>
              <a:t>A</a:t>
            </a:r>
            <a:r>
              <a:rPr lang="es-ES" sz="2000" b="0" i="0" dirty="0">
                <a:solidFill>
                  <a:srgbClr val="444340"/>
                </a:solidFill>
                <a:effectLst/>
              </a:rPr>
              <a:t>lgunos cambios normales son de bajo riesgo y la autoridad de cambio para estos suele ser alguien que pueda tomar decisiones rápidas, a menudo utilizando la automatización para acelerar el cambio. Otros cambios normales son muy importantes y la autoridad de cambio podría ser tan alta como el consejo de administración (o equivalente). El inicio de un cambio normal se desencadena mediante la creación de una solicitud de cambio. Esto puede crearse manualmente, pero las organizaciones que tienen una canalización automatizada para la integración continua y la implementación continua a menudo automatizan la mayoría de los pasos del proceso de control de cambios.</a:t>
            </a:r>
            <a:endParaRPr lang="es-ES" sz="2000" dirty="0">
              <a:solidFill>
                <a:srgbClr val="444340"/>
              </a:solidFill>
            </a:endParaRPr>
          </a:p>
          <a:p>
            <a:r>
              <a:rPr lang="es-ES" sz="2000" b="1" i="0" dirty="0">
                <a:solidFill>
                  <a:srgbClr val="444340"/>
                </a:solidFill>
                <a:effectLst/>
              </a:rPr>
              <a:t>Cambios de emergencia. </a:t>
            </a:r>
            <a:r>
              <a:rPr lang="es-ES" sz="2000" b="0" i="0" dirty="0">
                <a:solidFill>
                  <a:srgbClr val="444340"/>
                </a:solidFill>
                <a:effectLst/>
              </a:rPr>
              <a:t>En la medida de lo posible, los cambios de emergencia deben estar sujetos a las mismas pruebas, evaluación y autorización que los cambios normales, pero puede ser aceptable diferir parte de la documentación hasta después de que se haya implementado el cambio y, a veces, será necesario implementar el cambio con menos pruebas debido a limitaciones de tiempo. También puede haber una autoridad de cambio separada para cambios de emergencia, que generalmente incluye una pequeña cantidad de gerentes senior que comprenden los riesgos comerciales involucrados.</a:t>
            </a:r>
            <a:endParaRPr lang="es-ES" sz="3200" b="1" i="0" dirty="0">
              <a:solidFill>
                <a:srgbClr val="FF0000"/>
              </a:solidFill>
              <a:effectLst/>
            </a:endParaRPr>
          </a:p>
          <a:p>
            <a:pPr marL="0" indent="0">
              <a:buNone/>
            </a:pPr>
            <a:endParaRPr lang="es-ES" sz="2400" i="0" dirty="0">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3005479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693614"/>
          </a:xfrm>
        </p:spPr>
        <p:txBody>
          <a:bodyPr>
            <a:normAutofit/>
          </a:bodyPr>
          <a:lstStyle/>
          <a:p>
            <a:r>
              <a:rPr lang="es-ES" sz="3200" b="1" i="0" dirty="0">
                <a:solidFill>
                  <a:srgbClr val="FF0000"/>
                </a:solidFill>
                <a:effectLst/>
                <a:latin typeface="Open Sans" panose="020B0604020202020204" pitchFamily="34" charset="0"/>
              </a:rPr>
              <a:t>Etapas del ciclo de vida de un cambio</a:t>
            </a:r>
          </a:p>
          <a:p>
            <a:pPr marL="0" indent="0">
              <a:buNone/>
            </a:pPr>
            <a:endParaRPr lang="es-ES" sz="2400" i="0" dirty="0">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DD18C1AB-3993-4681-A282-5C5DEDD178FF}"/>
              </a:ext>
            </a:extLst>
          </p:cNvPr>
          <p:cNvPicPr>
            <a:picLocks noChangeAspect="1"/>
          </p:cNvPicPr>
          <p:nvPr/>
        </p:nvPicPr>
        <p:blipFill>
          <a:blip r:embed="rId2"/>
          <a:stretch>
            <a:fillRect/>
          </a:stretch>
        </p:blipFill>
        <p:spPr>
          <a:xfrm>
            <a:off x="1749286" y="2173358"/>
            <a:ext cx="8123583" cy="4500565"/>
          </a:xfrm>
          <a:prstGeom prst="rect">
            <a:avLst/>
          </a:prstGeom>
        </p:spPr>
      </p:pic>
    </p:spTree>
    <p:extLst>
      <p:ext uri="{BB962C8B-B14F-4D97-AF65-F5344CB8AC3E}">
        <p14:creationId xmlns:p14="http://schemas.microsoft.com/office/powerpoint/2010/main" val="21220764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Control de Cambios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B925B8D9-3A8A-4665-88F8-9A3C601EA438}"/>
              </a:ext>
            </a:extLst>
          </p:cNvPr>
          <p:cNvPicPr>
            <a:picLocks noChangeAspect="1"/>
          </p:cNvPicPr>
          <p:nvPr/>
        </p:nvPicPr>
        <p:blipFill>
          <a:blip r:embed="rId2"/>
          <a:stretch>
            <a:fillRect/>
          </a:stretch>
        </p:blipFill>
        <p:spPr>
          <a:xfrm>
            <a:off x="1067648" y="1082040"/>
            <a:ext cx="10056703" cy="5643103"/>
          </a:xfrm>
          <a:prstGeom prst="rect">
            <a:avLst/>
          </a:prstGeom>
        </p:spPr>
      </p:pic>
    </p:spTree>
    <p:extLst>
      <p:ext uri="{BB962C8B-B14F-4D97-AF65-F5344CB8AC3E}">
        <p14:creationId xmlns:p14="http://schemas.microsoft.com/office/powerpoint/2010/main" val="1855077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6. Niveles de Servicios</a:t>
            </a:r>
          </a:p>
          <a:p>
            <a:endParaRPr lang="es-EC" sz="2200" dirty="0"/>
          </a:p>
          <a:p>
            <a:endParaRPr lang="es-EC" sz="2200" b="1" dirty="0"/>
          </a:p>
        </p:txBody>
      </p:sp>
      <p:pic>
        <p:nvPicPr>
          <p:cNvPr id="5122" name="Picture 2" descr="3 Tipos de acuerdo de nivel de servicio (SLA) | Blog de Motadata">
            <a:extLst>
              <a:ext uri="{FF2B5EF4-FFF2-40B4-BE49-F238E27FC236}">
                <a16:creationId xmlns:a16="http://schemas.microsoft.com/office/drawing/2014/main" id="{A7B1E3E9-3140-4CBC-AB20-8388C3D5457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097" r="8631"/>
          <a:stretch/>
        </p:blipFill>
        <p:spPr bwMode="auto">
          <a:xfrm>
            <a:off x="5598942" y="935991"/>
            <a:ext cx="6367584" cy="5408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4373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a:p>
            <a:pPr marL="457200" lvl="1" indent="0" algn="just">
              <a:buNone/>
            </a:pPr>
            <a:r>
              <a:rPr lang="es-ES" b="0" i="0" dirty="0">
                <a:solidFill>
                  <a:srgbClr val="444340"/>
                </a:solidFill>
                <a:effectLst/>
                <a:latin typeface="Ubuntu"/>
              </a:rPr>
              <a:t>El propósito de la práctica de gestión del nivel de servicio es establecer objetivos claros basados en el negocio para los niveles de servicio y garantizar que la prestación de servicios se evalúe, supervise y gestione adecuadamente en función de estos objetivos.</a:t>
            </a:r>
          </a:p>
          <a:p>
            <a:pPr marL="457200" lvl="1" indent="0" algn="just">
              <a:buNone/>
            </a:pPr>
            <a:endParaRPr lang="es-ES" dirty="0">
              <a:solidFill>
                <a:srgbClr val="444340"/>
              </a:solidFill>
              <a:latin typeface="Ubuntu"/>
            </a:endParaRPr>
          </a:p>
          <a:p>
            <a:pPr algn="l" fontAlgn="base"/>
            <a:r>
              <a:rPr lang="es-ES" b="1" i="0" dirty="0">
                <a:solidFill>
                  <a:srgbClr val="444340"/>
                </a:solidFill>
                <a:effectLst/>
                <a:latin typeface="inherit"/>
              </a:rPr>
              <a:t>Nivel de servicio</a:t>
            </a:r>
            <a:r>
              <a:rPr lang="es-ES" b="0" i="0" dirty="0">
                <a:solidFill>
                  <a:srgbClr val="444340"/>
                </a:solidFill>
                <a:effectLst/>
                <a:latin typeface="Ubuntu"/>
              </a:rPr>
              <a:t>. Una o más métricas que definen la calidad de servicio esperada o lograda.</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8218580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fontScale="77500" lnSpcReduction="20000"/>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a:p>
            <a:pPr marL="0" indent="0" algn="l" fontAlgn="base">
              <a:buNone/>
            </a:pPr>
            <a:r>
              <a:rPr lang="es-ES" b="0" i="0" dirty="0">
                <a:solidFill>
                  <a:srgbClr val="444340"/>
                </a:solidFill>
                <a:effectLst/>
                <a:latin typeface="Ubuntu"/>
              </a:rPr>
              <a:t>La gestión del nivel de servicio proporciona la visibilidad de un extremo a otro de los servicios de la organización. Para lograr esto, la gestión del nivel de servicio:</a:t>
            </a:r>
          </a:p>
          <a:p>
            <a:pPr algn="l" fontAlgn="base">
              <a:buFont typeface="Arial" panose="020B0604020202020204" pitchFamily="34" charset="0"/>
              <a:buChar char="•"/>
            </a:pPr>
            <a:r>
              <a:rPr lang="es-ES" b="0" i="0" dirty="0">
                <a:solidFill>
                  <a:srgbClr val="444340"/>
                </a:solidFill>
                <a:effectLst/>
                <a:latin typeface="inherit"/>
              </a:rPr>
              <a:t>establece una visión compartida de los servicios y niveles de servicio objetivo con los clientes</a:t>
            </a:r>
          </a:p>
          <a:p>
            <a:pPr algn="l" fontAlgn="base">
              <a:buFont typeface="Arial" panose="020B0604020202020204" pitchFamily="34" charset="0"/>
              <a:buChar char="•"/>
            </a:pPr>
            <a:r>
              <a:rPr lang="es-ES" b="0" i="0" dirty="0">
                <a:solidFill>
                  <a:srgbClr val="444340"/>
                </a:solidFill>
                <a:effectLst/>
                <a:latin typeface="inherit"/>
              </a:rPr>
              <a:t>Garantiza que la organización cumpla con los niveles de servicio definidos mediante la recopilación, el análisis, el almacenamiento y la generación de informes de las métricas relevantes para los servicios identificados.</a:t>
            </a:r>
          </a:p>
          <a:p>
            <a:pPr algn="l" fontAlgn="base">
              <a:buFont typeface="Arial" panose="020B0604020202020204" pitchFamily="34" charset="0"/>
              <a:buChar char="•"/>
            </a:pPr>
            <a:r>
              <a:rPr lang="es-ES" b="0" i="0" dirty="0">
                <a:solidFill>
                  <a:srgbClr val="444340"/>
                </a:solidFill>
                <a:effectLst/>
                <a:latin typeface="inherit"/>
              </a:rPr>
              <a:t>realiza revisiones de servicios para garantizar que el conjunto actual de servicios continúe satisfaciendo las necesidades de la organización y sus clientes</a:t>
            </a:r>
          </a:p>
          <a:p>
            <a:pPr algn="l" fontAlgn="base">
              <a:buFont typeface="Arial" panose="020B0604020202020204" pitchFamily="34" charset="0"/>
              <a:buChar char="•"/>
            </a:pPr>
            <a:r>
              <a:rPr lang="es-ES" b="0" i="0" dirty="0">
                <a:solidFill>
                  <a:srgbClr val="444340"/>
                </a:solidFill>
                <a:effectLst/>
                <a:latin typeface="inherit"/>
              </a:rPr>
              <a:t>captura e informa sobre problemas de servicio, incluido el rendimiento frente a niveles de servicio definidos.</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6343973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DCFFAE5A-A2B0-4B8D-9A06-BB02F6CCCAE3}"/>
              </a:ext>
            </a:extLst>
          </p:cNvPr>
          <p:cNvPicPr>
            <a:picLocks noChangeAspect="1"/>
          </p:cNvPicPr>
          <p:nvPr/>
        </p:nvPicPr>
        <p:blipFill>
          <a:blip r:embed="rId2"/>
          <a:stretch>
            <a:fillRect/>
          </a:stretch>
        </p:blipFill>
        <p:spPr>
          <a:xfrm>
            <a:off x="1084192" y="2264491"/>
            <a:ext cx="9781927" cy="4506141"/>
          </a:xfrm>
          <a:prstGeom prst="rect">
            <a:avLst/>
          </a:prstGeom>
        </p:spPr>
      </p:pic>
    </p:spTree>
    <p:extLst>
      <p:ext uri="{BB962C8B-B14F-4D97-AF65-F5344CB8AC3E}">
        <p14:creationId xmlns:p14="http://schemas.microsoft.com/office/powerpoint/2010/main" val="8216236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fontScale="77500" lnSpcReduction="20000"/>
          </a:bodyPr>
          <a:lstStyle/>
          <a:p>
            <a:r>
              <a:rPr lang="es-ES" sz="3200" b="1" i="0" dirty="0">
                <a:solidFill>
                  <a:srgbClr val="FF0000"/>
                </a:solidFill>
                <a:effectLst/>
                <a:latin typeface="Open Sans" panose="020B0604020202020204" pitchFamily="34" charset="0"/>
              </a:rPr>
              <a:t>Requisitos claves para los </a:t>
            </a:r>
            <a:r>
              <a:rPr lang="es-ES" sz="3200" b="1" i="0" dirty="0" err="1">
                <a:solidFill>
                  <a:srgbClr val="FF0000"/>
                </a:solidFill>
                <a:effectLst/>
                <a:latin typeface="Open Sans" panose="020B0604020202020204" pitchFamily="34" charset="0"/>
              </a:rPr>
              <a:t>SLA</a:t>
            </a:r>
            <a:r>
              <a:rPr lang="es-ES" sz="3200" b="1" i="0" dirty="0">
                <a:solidFill>
                  <a:srgbClr val="FF0000"/>
                </a:solidFill>
                <a:effectLst/>
                <a:latin typeface="Open Sans" panose="020B0604020202020204" pitchFamily="34" charset="0"/>
              </a:rPr>
              <a:t> </a:t>
            </a:r>
          </a:p>
          <a:p>
            <a:pPr marL="0" indent="0">
              <a:buNone/>
            </a:pPr>
            <a:endParaRPr lang="es-ES" sz="2400" b="1" i="0" dirty="0">
              <a:solidFill>
                <a:srgbClr val="FF0000"/>
              </a:solidFill>
              <a:effectLst/>
              <a:latin typeface="Open Sans" panose="020B0604020202020204" pitchFamily="34" charset="0"/>
            </a:endParaRPr>
          </a:p>
          <a:p>
            <a:pPr marL="0" indent="0" algn="l" fontAlgn="base">
              <a:buNone/>
            </a:pPr>
            <a:r>
              <a:rPr lang="es-ES" b="0" i="0" dirty="0">
                <a:solidFill>
                  <a:srgbClr val="444340"/>
                </a:solidFill>
                <a:effectLst/>
                <a:latin typeface="Ubuntu"/>
              </a:rPr>
              <a:t>Algunos de los requisitos clave para los </a:t>
            </a:r>
            <a:r>
              <a:rPr lang="es-ES" b="0" i="0" dirty="0" err="1">
                <a:solidFill>
                  <a:srgbClr val="444340"/>
                </a:solidFill>
                <a:effectLst/>
                <a:latin typeface="Ubuntu"/>
              </a:rPr>
              <a:t>SLA</a:t>
            </a:r>
            <a:r>
              <a:rPr lang="es-ES" b="0" i="0" dirty="0">
                <a:solidFill>
                  <a:srgbClr val="444340"/>
                </a:solidFill>
                <a:effectLst/>
                <a:latin typeface="Ubuntu"/>
              </a:rPr>
              <a:t> exitosos incluyen:</a:t>
            </a:r>
          </a:p>
          <a:p>
            <a:pPr lvl="1" fontAlgn="base"/>
            <a:r>
              <a:rPr lang="es-ES" sz="2600" b="0" i="0" dirty="0">
                <a:solidFill>
                  <a:srgbClr val="444340"/>
                </a:solidFill>
                <a:effectLst/>
                <a:latin typeface="inherit"/>
              </a:rPr>
              <a:t>Deben</a:t>
            </a:r>
            <a:r>
              <a:rPr lang="es-ES" b="0" i="0" dirty="0">
                <a:solidFill>
                  <a:srgbClr val="444340"/>
                </a:solidFill>
                <a:effectLst/>
                <a:latin typeface="inherit"/>
              </a:rPr>
              <a:t> </a:t>
            </a:r>
            <a:r>
              <a:rPr lang="es-ES" sz="2800" b="0" i="0" dirty="0">
                <a:solidFill>
                  <a:srgbClr val="444340"/>
                </a:solidFill>
                <a:effectLst/>
                <a:latin typeface="inherit"/>
              </a:rPr>
              <a:t>estar relacionados con un “servicio” definido en el catálogo de servicios; de lo contrario, son simplemente métricas individuales sin un propósito, que no brindan una visibilidad adecuada ni reflejan la perspectiva del servicio.</a:t>
            </a:r>
          </a:p>
          <a:p>
            <a:pPr lvl="1" fontAlgn="base"/>
            <a:r>
              <a:rPr lang="es-ES" sz="2800" b="0" i="0" dirty="0">
                <a:solidFill>
                  <a:srgbClr val="444340"/>
                </a:solidFill>
                <a:effectLst/>
                <a:latin typeface="inherit"/>
              </a:rPr>
              <a:t>Deben relacionarse con resultados definidos y no simplemente métricas operativas. Esto se puede lograr con paquetes equilibrados de métricas, como la satisfacción del cliente y los resultados comerciales clave.</a:t>
            </a:r>
          </a:p>
          <a:p>
            <a:pPr lvl="1" fontAlgn="base"/>
            <a:r>
              <a:rPr lang="es-ES" sz="2800" b="0" i="0" dirty="0">
                <a:solidFill>
                  <a:srgbClr val="444340"/>
                </a:solidFill>
                <a:effectLst/>
                <a:latin typeface="inherit"/>
              </a:rPr>
              <a:t>Deben reflejar un “acuerdo”, es decir, el compromiso y la discusión entre el proveedor de servicios y el consumidor de servicios. Es importante involucrar a todas las partes interesadas, incluidos socios, patrocinadores, usuarios y clientes.</a:t>
            </a:r>
          </a:p>
          <a:p>
            <a:pPr lvl="1" fontAlgn="base"/>
            <a:r>
              <a:rPr lang="es-ES" sz="2800" b="0" i="0" dirty="0">
                <a:solidFill>
                  <a:srgbClr val="444340"/>
                </a:solidFill>
                <a:effectLst/>
                <a:latin typeface="inherit"/>
              </a:rPr>
              <a:t>Deben estar redactados de forma sencilla y fáciles de entender y utilizar para todas las partes.</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896152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fontScale="92500" lnSpcReduction="20000"/>
          </a:bodyPr>
          <a:lstStyle/>
          <a:p>
            <a:r>
              <a:rPr lang="es-ES" sz="3200" b="1" i="0" dirty="0">
                <a:solidFill>
                  <a:srgbClr val="FF0000"/>
                </a:solidFill>
                <a:effectLst/>
                <a:latin typeface="Open Sans" panose="020B0604020202020204" pitchFamily="34" charset="0"/>
              </a:rPr>
              <a:t>Enfoque y esfuerzo del proveedor</a:t>
            </a:r>
          </a:p>
          <a:p>
            <a:pPr marL="0" indent="0">
              <a:buNone/>
            </a:pPr>
            <a:endParaRPr lang="es-ES" sz="2400" b="1" i="0" dirty="0">
              <a:solidFill>
                <a:srgbClr val="FF0000"/>
              </a:solidFill>
              <a:effectLst/>
              <a:latin typeface="Open Sans" panose="020B0604020202020204" pitchFamily="34" charset="0"/>
            </a:endParaRPr>
          </a:p>
          <a:p>
            <a:pPr marL="0" indent="0" algn="l" fontAlgn="base">
              <a:buNone/>
            </a:pPr>
            <a:r>
              <a:rPr lang="es-ES" b="0" i="0" dirty="0">
                <a:solidFill>
                  <a:srgbClr val="444340"/>
                </a:solidFill>
                <a:effectLst/>
                <a:latin typeface="Ubuntu"/>
              </a:rPr>
              <a:t>La gestión del nivel de servicio requiere enfoque y esfuerzo para participar y escuchar los requisitos, problemas, preocupaciones y necesidades diarias de los clientes:</a:t>
            </a:r>
          </a:p>
          <a:p>
            <a:pPr lvl="1" fontAlgn="base"/>
            <a:r>
              <a:rPr lang="es-ES" b="0" i="0" dirty="0">
                <a:solidFill>
                  <a:srgbClr val="444340"/>
                </a:solidFill>
                <a:effectLst/>
                <a:latin typeface="inherit"/>
              </a:rPr>
              <a:t>El </a:t>
            </a:r>
            <a:r>
              <a:rPr lang="es-ES" sz="2600" b="0" i="0" dirty="0">
                <a:solidFill>
                  <a:srgbClr val="444340"/>
                </a:solidFill>
                <a:effectLst/>
                <a:latin typeface="inherit"/>
              </a:rPr>
              <a:t>compromiso es necesario para comprender y confirmar las necesidades y los requisitos actuales y reales de los clientes, no simplemente lo que el proveedor de servicios interpreta o acuerda varios años antes.</a:t>
            </a:r>
          </a:p>
          <a:p>
            <a:pPr lvl="1" fontAlgn="base"/>
            <a:r>
              <a:rPr lang="es-ES" sz="2600" b="0" i="0" dirty="0">
                <a:solidFill>
                  <a:srgbClr val="444340"/>
                </a:solidFill>
                <a:effectLst/>
                <a:latin typeface="inherit"/>
              </a:rPr>
              <a:t>Escuchar es importante como actividad de construcción de relaciones y confianza, para mostrar a los clientes que son valorados y comprendidos. Esto ayuda a que el proveedor deje de estar siempre en “modo de solución” y cree asociaciones </a:t>
            </a:r>
            <a:r>
              <a:rPr lang="es-ES" b="0" i="0" dirty="0">
                <a:solidFill>
                  <a:srgbClr val="444340"/>
                </a:solidFill>
                <a:effectLst/>
                <a:latin typeface="inherit"/>
              </a:rPr>
              <a:t>nuevas y más constructivas</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039022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Recopilación de información </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B3D4BEB5-F696-42BB-8B06-FF0026C15F7D}"/>
              </a:ext>
            </a:extLst>
          </p:cNvPr>
          <p:cNvPicPr>
            <a:picLocks noChangeAspect="1"/>
          </p:cNvPicPr>
          <p:nvPr/>
        </p:nvPicPr>
        <p:blipFill>
          <a:blip r:embed="rId2"/>
          <a:stretch>
            <a:fillRect/>
          </a:stretch>
        </p:blipFill>
        <p:spPr>
          <a:xfrm>
            <a:off x="1453598" y="2350189"/>
            <a:ext cx="6904484" cy="4289149"/>
          </a:xfrm>
          <a:prstGeom prst="rect">
            <a:avLst/>
          </a:prstGeom>
        </p:spPr>
      </p:pic>
    </p:spTree>
    <p:extLst>
      <p:ext uri="{BB962C8B-B14F-4D97-AF65-F5344CB8AC3E}">
        <p14:creationId xmlns:p14="http://schemas.microsoft.com/office/powerpoint/2010/main" val="32866918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053579"/>
          </a:xfrm>
        </p:spPr>
        <p:txBody>
          <a:bodyPr>
            <a:normAutofit fontScale="77500" lnSpcReduction="20000"/>
          </a:bodyPr>
          <a:lstStyle/>
          <a:p>
            <a:pPr algn="l" fontAlgn="base"/>
            <a:r>
              <a:rPr lang="es-ES" sz="4000" b="1" i="0" dirty="0">
                <a:solidFill>
                  <a:srgbClr val="FF0000"/>
                </a:solidFill>
                <a:effectLst/>
              </a:rPr>
              <a:t>El efecto </a:t>
            </a:r>
            <a:r>
              <a:rPr lang="es-ES" sz="4000" b="1" i="0" dirty="0" err="1">
                <a:solidFill>
                  <a:srgbClr val="FF0000"/>
                </a:solidFill>
                <a:effectLst/>
              </a:rPr>
              <a:t>SLA</a:t>
            </a:r>
            <a:r>
              <a:rPr lang="es-ES" sz="4000" b="1" i="0" dirty="0">
                <a:solidFill>
                  <a:srgbClr val="FF0000"/>
                </a:solidFill>
                <a:effectLst/>
              </a:rPr>
              <a:t> de sandía</a:t>
            </a:r>
            <a:endParaRPr lang="es-ES" sz="4000" b="0" i="0" dirty="0">
              <a:solidFill>
                <a:srgbClr val="FF0000"/>
              </a:solidFill>
              <a:effectLst/>
            </a:endParaRPr>
          </a:p>
          <a:p>
            <a:pPr algn="l" fontAlgn="base"/>
            <a:r>
              <a:rPr lang="es-ES" b="0" i="0" dirty="0">
                <a:solidFill>
                  <a:srgbClr val="444340"/>
                </a:solidFill>
                <a:effectLst/>
                <a:latin typeface="Ubuntu"/>
              </a:rPr>
              <a:t>Los </a:t>
            </a:r>
            <a:r>
              <a:rPr lang="es-ES" b="0" i="0" dirty="0" err="1">
                <a:solidFill>
                  <a:srgbClr val="444340"/>
                </a:solidFill>
                <a:effectLst/>
                <a:latin typeface="Ubuntu"/>
              </a:rPr>
              <a:t>SLA</a:t>
            </a:r>
            <a:r>
              <a:rPr lang="es-ES" b="0" i="0" dirty="0">
                <a:solidFill>
                  <a:srgbClr val="444340"/>
                </a:solidFill>
                <a:effectLst/>
                <a:latin typeface="Ubuntu"/>
              </a:rPr>
              <a:t> tradicionales se han basado en actividades individuales como los tiempos de resolución de incidentes, la disponibilidad del sistema (’99 .9 ‘) y métricas de volumen (por ejemplo, número de incidentes o solicitudes manejadas). Sin un contexto empresarial, estas métricas a menudo carecen de sentido. Por ejemplo, aunque una disponibilidad del sistema del 99,6% es impresionante, esto aún debe alinearse con los requisitos comerciales clave. El sistema puede tener una indisponibilidad aceptable del 0,4%, pero si ese tiempo cae cuando se está produciendo un proceso importante (como una transacción comercial, un quirófano en uso o cajas en el punto de venta en uso), entonces el cliente / La satisfacción del usuario será baja, independientemente de si se ha cumplido el </a:t>
            </a:r>
            <a:r>
              <a:rPr lang="es-ES" b="0" i="0" dirty="0" err="1">
                <a:solidFill>
                  <a:srgbClr val="444340"/>
                </a:solidFill>
                <a:effectLst/>
                <a:latin typeface="Ubuntu"/>
              </a:rPr>
              <a:t>SLA</a:t>
            </a:r>
            <a:r>
              <a:rPr lang="es-ES" b="0" i="0" dirty="0">
                <a:solidFill>
                  <a:srgbClr val="444340"/>
                </a:solidFill>
                <a:effectLst/>
                <a:latin typeface="Ubuntu"/>
              </a:rPr>
              <a:t>.</a:t>
            </a:r>
          </a:p>
          <a:p>
            <a:pPr algn="l" fontAlgn="base"/>
            <a:r>
              <a:rPr lang="es-ES" b="0" i="0" dirty="0">
                <a:solidFill>
                  <a:srgbClr val="444340"/>
                </a:solidFill>
                <a:effectLst/>
                <a:latin typeface="Ubuntu"/>
              </a:rPr>
              <a:t>Esto puede ser problemático para el proveedor de servicios si cree que está haciendo un gran trabajo (todos los informes son verdes), cuando en realidad sus clientes no están satisfechos con el servicio recibido y también frustrados porque el proveedor no se da cuenta de esto. Esto se conoce como efecto </a:t>
            </a:r>
            <a:r>
              <a:rPr lang="es-ES" b="0" i="0" dirty="0" err="1">
                <a:solidFill>
                  <a:srgbClr val="444340"/>
                </a:solidFill>
                <a:effectLst/>
                <a:latin typeface="Ubuntu"/>
              </a:rPr>
              <a:t>SLA</a:t>
            </a:r>
            <a:r>
              <a:rPr lang="es-ES" b="0" i="0" dirty="0">
                <a:solidFill>
                  <a:srgbClr val="444340"/>
                </a:solidFill>
                <a:effectLst/>
                <a:latin typeface="Ubuntu"/>
              </a:rPr>
              <a:t> de sandía, porque al igual que una sandía, el </a:t>
            </a:r>
            <a:r>
              <a:rPr lang="es-ES" b="0" i="0" dirty="0" err="1">
                <a:solidFill>
                  <a:srgbClr val="444340"/>
                </a:solidFill>
                <a:effectLst/>
                <a:latin typeface="Ubuntu"/>
              </a:rPr>
              <a:t>SLA</a:t>
            </a:r>
            <a:r>
              <a:rPr lang="es-ES" b="0" i="0" dirty="0">
                <a:solidFill>
                  <a:srgbClr val="444340"/>
                </a:solidFill>
                <a:effectLst/>
                <a:latin typeface="Ubuntu"/>
              </a:rPr>
              <a:t> puede parecer verde por fuera, pero en realidad es rojo por dentro.</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063207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1634519"/>
          </a:xfrm>
        </p:spPr>
        <p:txBody>
          <a:bodyPr>
            <a:normAutofit/>
          </a:bodyPr>
          <a:lstStyle/>
          <a:p>
            <a:r>
              <a:rPr lang="es-ES" sz="3200" b="1" i="0" dirty="0">
                <a:solidFill>
                  <a:srgbClr val="FF0000"/>
                </a:solidFill>
                <a:effectLst/>
                <a:latin typeface="Open Sans" panose="020B0604020202020204" pitchFamily="34" charset="0"/>
              </a:rPr>
              <a:t>Gestión de nivel de servicio</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D2594456-2585-4599-9C22-BC7FB0880915}"/>
              </a:ext>
            </a:extLst>
          </p:cNvPr>
          <p:cNvPicPr>
            <a:picLocks noChangeAspect="1"/>
          </p:cNvPicPr>
          <p:nvPr/>
        </p:nvPicPr>
        <p:blipFill>
          <a:blip r:embed="rId2"/>
          <a:stretch>
            <a:fillRect/>
          </a:stretch>
        </p:blipFill>
        <p:spPr>
          <a:xfrm>
            <a:off x="518820" y="2600255"/>
            <a:ext cx="11154360" cy="3694528"/>
          </a:xfrm>
          <a:prstGeom prst="rect">
            <a:avLst/>
          </a:prstGeom>
        </p:spPr>
      </p:pic>
    </p:spTree>
    <p:extLst>
      <p:ext uri="{BB962C8B-B14F-4D97-AF65-F5344CB8AC3E}">
        <p14:creationId xmlns:p14="http://schemas.microsoft.com/office/powerpoint/2010/main" val="39561564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Niveles de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AFCAC038-2F9D-4092-A3AE-5B05D3AEFA79}"/>
              </a:ext>
            </a:extLst>
          </p:cNvPr>
          <p:cNvPicPr>
            <a:picLocks noChangeAspect="1"/>
          </p:cNvPicPr>
          <p:nvPr/>
        </p:nvPicPr>
        <p:blipFill>
          <a:blip r:embed="rId2"/>
          <a:stretch>
            <a:fillRect/>
          </a:stretch>
        </p:blipFill>
        <p:spPr>
          <a:xfrm>
            <a:off x="790368" y="1082040"/>
            <a:ext cx="10243392" cy="5721226"/>
          </a:xfrm>
          <a:prstGeom prst="rect">
            <a:avLst/>
          </a:prstGeom>
        </p:spPr>
      </p:pic>
    </p:spTree>
    <p:extLst>
      <p:ext uri="{BB962C8B-B14F-4D97-AF65-F5344CB8AC3E}">
        <p14:creationId xmlns:p14="http://schemas.microsoft.com/office/powerpoint/2010/main" val="20756746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7. Gestión de Liberaciones</a:t>
            </a:r>
          </a:p>
          <a:p>
            <a:endParaRPr lang="es-EC" sz="2200" dirty="0"/>
          </a:p>
          <a:p>
            <a:endParaRPr lang="es-EC" sz="2200" b="1" dirty="0"/>
          </a:p>
        </p:txBody>
      </p:sp>
      <p:pic>
        <p:nvPicPr>
          <p:cNvPr id="6146" name="Picture 2" descr="Requisitos para la liberación del producto o servicio según la ISO 9001:2015">
            <a:extLst>
              <a:ext uri="{FF2B5EF4-FFF2-40B4-BE49-F238E27FC236}">
                <a16:creationId xmlns:a16="http://schemas.microsoft.com/office/drawing/2014/main" id="{7CEDFA79-0CF5-411D-AA7F-06BCFC8D6B6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319" r="10840"/>
          <a:stretch/>
        </p:blipFill>
        <p:spPr bwMode="auto">
          <a:xfrm>
            <a:off x="4789671" y="1743109"/>
            <a:ext cx="7251976" cy="3911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34908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Liberaciones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lnSpcReduction="10000"/>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a:p>
            <a:pPr marL="457200" lvl="1" indent="0" algn="just">
              <a:buNone/>
            </a:pPr>
            <a:r>
              <a:rPr lang="es-ES" b="0" i="0" dirty="0">
                <a:solidFill>
                  <a:srgbClr val="444340"/>
                </a:solidFill>
                <a:effectLst/>
                <a:latin typeface="Ubuntu"/>
              </a:rPr>
              <a:t>En </a:t>
            </a:r>
            <a:r>
              <a:rPr lang="es-ES" b="0" i="0" dirty="0" err="1">
                <a:solidFill>
                  <a:srgbClr val="444340"/>
                </a:solidFill>
                <a:effectLst/>
                <a:latin typeface="Ubuntu"/>
              </a:rPr>
              <a:t>ITIL</a:t>
            </a:r>
            <a:r>
              <a:rPr lang="es-ES" b="0" i="0" dirty="0">
                <a:solidFill>
                  <a:srgbClr val="444340"/>
                </a:solidFill>
                <a:effectLst/>
                <a:latin typeface="Ubuntu"/>
              </a:rPr>
              <a:t> una liberación no implica tener una interacción con el ambiente de producción eso se revisa en la practica de gestión de las implementaciones.</a:t>
            </a:r>
          </a:p>
          <a:p>
            <a:pPr marL="457200" lvl="1" indent="0" algn="just">
              <a:buNone/>
            </a:pPr>
            <a:endParaRPr lang="es-ES" b="0" i="0" dirty="0">
              <a:solidFill>
                <a:srgbClr val="444340"/>
              </a:solidFill>
              <a:effectLst/>
              <a:latin typeface="Ubuntu"/>
            </a:endParaRPr>
          </a:p>
          <a:p>
            <a:pPr marL="457200" lvl="1" indent="0" algn="just">
              <a:buNone/>
            </a:pPr>
            <a:r>
              <a:rPr lang="es-ES" b="1" dirty="0">
                <a:solidFill>
                  <a:srgbClr val="FF0000"/>
                </a:solidFill>
                <a:latin typeface="Ubuntu"/>
              </a:rPr>
              <a:t>Liberación</a:t>
            </a:r>
            <a:r>
              <a:rPr lang="es-ES" dirty="0">
                <a:solidFill>
                  <a:srgbClr val="444340"/>
                </a:solidFill>
                <a:latin typeface="Ubuntu"/>
              </a:rPr>
              <a:t>: una versión de un servicio, un elemento de configuración o una colección de elementos de configuración, que está disponible en algún repositorio para su uso</a:t>
            </a:r>
            <a:r>
              <a:rPr lang="es-ES" b="0" i="0" dirty="0">
                <a:solidFill>
                  <a:srgbClr val="444340"/>
                </a:solidFill>
                <a:effectLst/>
                <a:latin typeface="Ubuntu"/>
              </a:rPr>
              <a:t>.</a:t>
            </a:r>
          </a:p>
          <a:p>
            <a:pPr marL="457200" lvl="1" indent="0" algn="just">
              <a:buNone/>
            </a:pPr>
            <a:r>
              <a:rPr lang="es-ES" b="0" i="0" dirty="0">
                <a:solidFill>
                  <a:srgbClr val="444340"/>
                </a:solidFill>
                <a:effectLst/>
                <a:latin typeface="Ubuntu"/>
              </a:rPr>
              <a:t>El objetivo de esta práctica de gestión es hacer que los servicios nuevos o modificados y sus características estén disponibles para su uso.</a:t>
            </a: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740203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Liberaciones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lnSpcReduction="10000"/>
          </a:bodyPr>
          <a:lstStyle/>
          <a:p>
            <a:r>
              <a:rPr lang="es-ES" sz="3200" b="1" i="0" dirty="0">
                <a:solidFill>
                  <a:srgbClr val="FF0000"/>
                </a:solidFill>
                <a:effectLst/>
                <a:latin typeface="Open Sans" panose="020B0604020202020204" pitchFamily="34" charset="0"/>
              </a:rPr>
              <a:t>Plan de Liberación </a:t>
            </a:r>
          </a:p>
          <a:p>
            <a:pPr marL="0" indent="0">
              <a:buNone/>
            </a:pPr>
            <a:endParaRPr lang="es-ES" sz="2400" b="1" i="0" dirty="0">
              <a:solidFill>
                <a:srgbClr val="FF0000"/>
              </a:solidFill>
              <a:effectLst/>
              <a:latin typeface="Open Sans" panose="020B0604020202020204" pitchFamily="34" charset="0"/>
            </a:endParaRPr>
          </a:p>
          <a:p>
            <a:pPr marL="0" indent="0">
              <a:buNone/>
            </a:pPr>
            <a:r>
              <a:rPr lang="es-ES" dirty="0"/>
              <a:t>En la practica de gestión de liberación se requiere de la creación de un plan de liberaciones, en el cual se detallan los componentes a implementar, y su fecha exacta de liberación. Este plan de liberación se debe llevar a cabo sin importar si se esta realizando una liberación pequeña o muy compleja.</a:t>
            </a:r>
          </a:p>
          <a:p>
            <a:pPr marL="0" indent="0">
              <a:buNone/>
            </a:pPr>
            <a:r>
              <a:rPr lang="es-ES" dirty="0"/>
              <a:t>Las liberaciones deben ser negociadas y acordadas con todas las partes interesadas.</a:t>
            </a:r>
          </a:p>
          <a:p>
            <a:pPr marL="0" indent="0">
              <a:buNone/>
            </a:pPr>
            <a:r>
              <a:rPr lang="es-ES" dirty="0"/>
              <a:t>La liberación puede comprender infraestructura, documentación, capacitación, procesos o herramientas.</a:t>
            </a: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8260194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Liberaciones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Formas de realizar la liberación</a:t>
            </a:r>
          </a:p>
          <a:p>
            <a:pPr marL="0" indent="0">
              <a:buNone/>
            </a:pPr>
            <a:endParaRPr lang="es-ES" sz="2400" b="1" i="0" dirty="0">
              <a:solidFill>
                <a:srgbClr val="FF0000"/>
              </a:solidFill>
              <a:effectLst/>
              <a:latin typeface="Open Sans" panose="020B0604020202020204" pitchFamily="34" charset="0"/>
            </a:endParaRP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16111380-0988-4427-87AE-9BDFABAD3EA9}"/>
              </a:ext>
            </a:extLst>
          </p:cNvPr>
          <p:cNvPicPr>
            <a:picLocks noChangeAspect="1"/>
          </p:cNvPicPr>
          <p:nvPr/>
        </p:nvPicPr>
        <p:blipFill>
          <a:blip r:embed="rId2"/>
          <a:stretch>
            <a:fillRect/>
          </a:stretch>
        </p:blipFill>
        <p:spPr>
          <a:xfrm>
            <a:off x="1459188" y="2397761"/>
            <a:ext cx="8917264" cy="4279714"/>
          </a:xfrm>
          <a:prstGeom prst="rect">
            <a:avLst/>
          </a:prstGeom>
        </p:spPr>
      </p:pic>
    </p:spTree>
    <p:extLst>
      <p:ext uri="{BB962C8B-B14F-4D97-AF65-F5344CB8AC3E}">
        <p14:creationId xmlns:p14="http://schemas.microsoft.com/office/powerpoint/2010/main" val="21487366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Liberaciones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4762031"/>
          </a:xfrm>
        </p:spPr>
        <p:txBody>
          <a:bodyPr>
            <a:normAutofit/>
          </a:bodyPr>
          <a:lstStyle/>
          <a:p>
            <a:r>
              <a:rPr lang="es-ES" sz="3200" b="1" i="0" dirty="0">
                <a:solidFill>
                  <a:srgbClr val="FF0000"/>
                </a:solidFill>
                <a:effectLst/>
                <a:latin typeface="Open Sans" panose="020B0604020202020204" pitchFamily="34" charset="0"/>
              </a:rPr>
              <a:t>Formas de realizar la liberación</a:t>
            </a:r>
          </a:p>
          <a:p>
            <a:pPr marL="0" indent="0">
              <a:buNone/>
            </a:pPr>
            <a:endParaRPr lang="es-ES" sz="2400" b="1" i="0" dirty="0">
              <a:solidFill>
                <a:srgbClr val="FF0000"/>
              </a:solidFill>
              <a:effectLst/>
              <a:latin typeface="Open Sans" panose="020B0604020202020204" pitchFamily="34" charset="0"/>
            </a:endParaRPr>
          </a:p>
          <a:p>
            <a:pPr marL="0" indent="0">
              <a:buNone/>
            </a:pPr>
            <a:br>
              <a:rPr lang="es-ES" dirty="0"/>
            </a:br>
            <a:endParaRPr lang="es-EC" dirty="0"/>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C6BF1EE9-08B3-4D6F-8840-4BC017BAA3DC}"/>
              </a:ext>
            </a:extLst>
          </p:cNvPr>
          <p:cNvPicPr>
            <a:picLocks noChangeAspect="1"/>
          </p:cNvPicPr>
          <p:nvPr/>
        </p:nvPicPr>
        <p:blipFill>
          <a:blip r:embed="rId2"/>
          <a:stretch>
            <a:fillRect/>
          </a:stretch>
        </p:blipFill>
        <p:spPr>
          <a:xfrm>
            <a:off x="1541393" y="2254885"/>
            <a:ext cx="9918068" cy="4119409"/>
          </a:xfrm>
          <a:prstGeom prst="rect">
            <a:avLst/>
          </a:prstGeom>
        </p:spPr>
      </p:pic>
    </p:spTree>
    <p:extLst>
      <p:ext uri="{BB962C8B-B14F-4D97-AF65-F5344CB8AC3E}">
        <p14:creationId xmlns:p14="http://schemas.microsoft.com/office/powerpoint/2010/main" val="525495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Liberaciones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39840E39-248A-49CD-9FDF-F82D2B18158F}"/>
              </a:ext>
            </a:extLst>
          </p:cNvPr>
          <p:cNvPicPr>
            <a:picLocks noChangeAspect="1"/>
          </p:cNvPicPr>
          <p:nvPr/>
        </p:nvPicPr>
        <p:blipFill>
          <a:blip r:embed="rId2"/>
          <a:stretch>
            <a:fillRect/>
          </a:stretch>
        </p:blipFill>
        <p:spPr>
          <a:xfrm>
            <a:off x="947738" y="1082039"/>
            <a:ext cx="10408713" cy="5810530"/>
          </a:xfrm>
          <a:prstGeom prst="rect">
            <a:avLst/>
          </a:prstGeom>
        </p:spPr>
      </p:pic>
    </p:spTree>
    <p:extLst>
      <p:ext uri="{BB962C8B-B14F-4D97-AF65-F5344CB8AC3E}">
        <p14:creationId xmlns:p14="http://schemas.microsoft.com/office/powerpoint/2010/main" val="36157565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8. Gestión de Validación y Pruebas</a:t>
            </a:r>
          </a:p>
          <a:p>
            <a:endParaRPr lang="es-EC" sz="2200" dirty="0"/>
          </a:p>
          <a:p>
            <a:endParaRPr lang="es-EC" sz="2200" b="1" dirty="0"/>
          </a:p>
        </p:txBody>
      </p:sp>
      <p:pic>
        <p:nvPicPr>
          <p:cNvPr id="7170" name="Picture 2" descr="What makes test automation successful? - Galil Software">
            <a:extLst>
              <a:ext uri="{FF2B5EF4-FFF2-40B4-BE49-F238E27FC236}">
                <a16:creationId xmlns:a16="http://schemas.microsoft.com/office/drawing/2014/main" id="{C700ED3E-A924-418D-ADE1-679C7FA522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5089" y="987691"/>
            <a:ext cx="6959245" cy="4822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9585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Validaciones y pruebas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812884"/>
          </a:xfrm>
        </p:spPr>
        <p:txBody>
          <a:bodyPr>
            <a:normAutofit/>
          </a:bodyPr>
          <a:lstStyle/>
          <a:p>
            <a:r>
              <a:rPr lang="es-ES" sz="3200" b="1" i="0" dirty="0">
                <a:solidFill>
                  <a:srgbClr val="FF0000"/>
                </a:solidFill>
                <a:effectLst/>
                <a:latin typeface="Open Sans" panose="020B0604020202020204" pitchFamily="34" charset="0"/>
              </a:rPr>
              <a:t>Definición </a:t>
            </a:r>
          </a:p>
          <a:p>
            <a:pPr marL="0" indent="0">
              <a:buNone/>
            </a:pPr>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0E1F6FB1-D6A0-4472-B146-9C7569C34293}"/>
              </a:ext>
            </a:extLst>
          </p:cNvPr>
          <p:cNvPicPr>
            <a:picLocks noChangeAspect="1"/>
          </p:cNvPicPr>
          <p:nvPr/>
        </p:nvPicPr>
        <p:blipFill rotWithShape="1">
          <a:blip r:embed="rId2"/>
          <a:srcRect t="2382" b="1"/>
          <a:stretch/>
        </p:blipFill>
        <p:spPr>
          <a:xfrm>
            <a:off x="1356301" y="2332382"/>
            <a:ext cx="10412397" cy="3697357"/>
          </a:xfrm>
          <a:prstGeom prst="rect">
            <a:avLst/>
          </a:prstGeom>
        </p:spPr>
      </p:pic>
    </p:spTree>
    <p:extLst>
      <p:ext uri="{BB962C8B-B14F-4D97-AF65-F5344CB8AC3E}">
        <p14:creationId xmlns:p14="http://schemas.microsoft.com/office/powerpoint/2010/main" val="33786702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Validaciones y pruebas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02779743-89B6-4D36-B285-C6F886D3243B}"/>
              </a:ext>
            </a:extLst>
          </p:cNvPr>
          <p:cNvPicPr>
            <a:picLocks noChangeAspect="1"/>
          </p:cNvPicPr>
          <p:nvPr/>
        </p:nvPicPr>
        <p:blipFill>
          <a:blip r:embed="rId2"/>
          <a:stretch>
            <a:fillRect/>
          </a:stretch>
        </p:blipFill>
        <p:spPr>
          <a:xfrm>
            <a:off x="506697" y="1825625"/>
            <a:ext cx="11178605" cy="4199370"/>
          </a:xfrm>
          <a:prstGeom prst="rect">
            <a:avLst/>
          </a:prstGeom>
        </p:spPr>
      </p:pic>
    </p:spTree>
    <p:extLst>
      <p:ext uri="{BB962C8B-B14F-4D97-AF65-F5344CB8AC3E}">
        <p14:creationId xmlns:p14="http://schemas.microsoft.com/office/powerpoint/2010/main" val="49851304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Validaciones y pruebas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5D3CB89E-BE7C-45AB-B6EA-704DDCF887FD}"/>
              </a:ext>
            </a:extLst>
          </p:cNvPr>
          <p:cNvPicPr>
            <a:picLocks noChangeAspect="1"/>
          </p:cNvPicPr>
          <p:nvPr/>
        </p:nvPicPr>
        <p:blipFill>
          <a:blip r:embed="rId2"/>
          <a:stretch>
            <a:fillRect/>
          </a:stretch>
        </p:blipFill>
        <p:spPr>
          <a:xfrm>
            <a:off x="350520" y="1752599"/>
            <a:ext cx="11205376" cy="4918070"/>
          </a:xfrm>
          <a:prstGeom prst="rect">
            <a:avLst/>
          </a:prstGeom>
        </p:spPr>
      </p:pic>
    </p:spTree>
    <p:extLst>
      <p:ext uri="{BB962C8B-B14F-4D97-AF65-F5344CB8AC3E}">
        <p14:creationId xmlns:p14="http://schemas.microsoft.com/office/powerpoint/2010/main" val="27861256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Validaciones y pruebas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A0F09445-2628-48D2-A3D2-E59096FD15CC}"/>
              </a:ext>
            </a:extLst>
          </p:cNvPr>
          <p:cNvPicPr>
            <a:picLocks noChangeAspect="1"/>
          </p:cNvPicPr>
          <p:nvPr/>
        </p:nvPicPr>
        <p:blipFill>
          <a:blip r:embed="rId2"/>
          <a:stretch>
            <a:fillRect/>
          </a:stretch>
        </p:blipFill>
        <p:spPr>
          <a:xfrm>
            <a:off x="923926" y="1077402"/>
            <a:ext cx="10351052" cy="5780598"/>
          </a:xfrm>
          <a:prstGeom prst="rect">
            <a:avLst/>
          </a:prstGeom>
        </p:spPr>
      </p:pic>
    </p:spTree>
    <p:extLst>
      <p:ext uri="{BB962C8B-B14F-4D97-AF65-F5344CB8AC3E}">
        <p14:creationId xmlns:p14="http://schemas.microsoft.com/office/powerpoint/2010/main" val="186265130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9. Gestión de Análisis del Negocio</a:t>
            </a:r>
          </a:p>
          <a:p>
            <a:endParaRPr lang="es-EC" sz="2200" dirty="0"/>
          </a:p>
          <a:p>
            <a:endParaRPr lang="es-EC" sz="2200" b="1" dirty="0"/>
          </a:p>
        </p:txBody>
      </p:sp>
      <p:pic>
        <p:nvPicPr>
          <p:cNvPr id="8194" name="Picture 2" descr="Herramientas de análisis de negocio - Recomendaciones para elegir una.">
            <a:extLst>
              <a:ext uri="{FF2B5EF4-FFF2-40B4-BE49-F238E27FC236}">
                <a16:creationId xmlns:a16="http://schemas.microsoft.com/office/drawing/2014/main" id="{1C8B5780-067C-4C49-BBDE-C9FD7D580C9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737" r="17848"/>
          <a:stretch/>
        </p:blipFill>
        <p:spPr bwMode="auto">
          <a:xfrm>
            <a:off x="5008682" y="865632"/>
            <a:ext cx="6998299" cy="5206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2515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a:bodyPr>
          <a:lstStyle/>
          <a:p>
            <a:r>
              <a:rPr lang="es-ES" sz="3200" b="1" i="0" dirty="0">
                <a:solidFill>
                  <a:srgbClr val="FF0000"/>
                </a:solidFill>
                <a:effectLst/>
                <a:latin typeface="Open Sans" panose="020B0604020202020204" pitchFamily="34" charset="0"/>
              </a:rPr>
              <a:t>Definición</a:t>
            </a:r>
          </a:p>
          <a:p>
            <a:endParaRPr lang="es-ES" sz="3200" b="1" dirty="0">
              <a:solidFill>
                <a:srgbClr val="FF0000"/>
              </a:solidFill>
              <a:latin typeface="Open Sans" panose="020B0604020202020204" pitchFamily="34" charset="0"/>
            </a:endParaRPr>
          </a:p>
          <a:p>
            <a:pPr marL="457200" lvl="1" indent="0">
              <a:buNone/>
            </a:pPr>
            <a:r>
              <a:rPr lang="es-ES" sz="3600" b="1" i="0" dirty="0">
                <a:solidFill>
                  <a:srgbClr val="FF0000"/>
                </a:solidFill>
                <a:effectLst/>
                <a:latin typeface="Open Sans" panose="020B0604020202020204" pitchFamily="34" charset="0"/>
              </a:rPr>
              <a:t> </a:t>
            </a:r>
            <a:r>
              <a:rPr lang="es-ES" b="0" i="0" dirty="0">
                <a:solidFill>
                  <a:srgbClr val="444340"/>
                </a:solidFill>
                <a:effectLst/>
                <a:latin typeface="Ubuntu"/>
              </a:rPr>
              <a:t>El propósito de la práctica de análisis del Negocio es analizar un negocio o algún elemento del mismo, definir sus necesidades asociadas y recomendar soluciones para atender estas necesidades y / o resolver un problema empresarial, que debe facilitar la creación de valor para los grupos de interés. El análisis del negocio permite a una organización comunicar sus necesidades de manera significativa, expresar la justificación del cambio y diseñar y describir soluciones que permitan la creación de valor en consonancia con los objetivos de la organización</a:t>
            </a:r>
            <a:r>
              <a:rPr lang="es-ES" sz="1600" b="0" i="0" dirty="0">
                <a:solidFill>
                  <a:srgbClr val="444340"/>
                </a:solidFill>
                <a:effectLst/>
                <a:latin typeface="Ubuntu"/>
              </a:rPr>
              <a:t>.</a:t>
            </a:r>
            <a:endParaRPr lang="es-ES" sz="2800" b="1" i="0" dirty="0">
              <a:solidFill>
                <a:srgbClr val="FF0000"/>
              </a:solidFill>
              <a:effectLst/>
              <a:latin typeface="Open Sans" panose="020B0604020202020204" pitchFamily="34" charset="0"/>
            </a:endParaRPr>
          </a:p>
          <a:p>
            <a:pPr marL="0" indent="0">
              <a:buNone/>
            </a:pPr>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7429432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a:bodyPr>
          <a:lstStyle/>
          <a:p>
            <a:r>
              <a:rPr lang="es-ES" sz="3200" b="1" i="0" dirty="0">
                <a:solidFill>
                  <a:srgbClr val="FF0000"/>
                </a:solidFill>
                <a:effectLst/>
                <a:latin typeface="Open Sans" panose="020B0604020202020204" pitchFamily="34" charset="0"/>
              </a:rPr>
              <a:t>Definición</a:t>
            </a:r>
          </a:p>
          <a:p>
            <a:endParaRPr lang="es-ES" sz="3200" b="1" dirty="0">
              <a:solidFill>
                <a:srgbClr val="FF0000"/>
              </a:solidFill>
              <a:latin typeface="Open Sans" panose="020B0604020202020204" pitchFamily="34" charset="0"/>
            </a:endParaRPr>
          </a:p>
          <a:p>
            <a:pPr marL="457200" lvl="1" indent="0">
              <a:buNone/>
            </a:pPr>
            <a:r>
              <a:rPr lang="es-ES" sz="3600" b="1" i="0" dirty="0">
                <a:solidFill>
                  <a:srgbClr val="FF0000"/>
                </a:solidFill>
                <a:effectLst/>
                <a:latin typeface="Open Sans" panose="020B0604020202020204" pitchFamily="34" charset="0"/>
              </a:rPr>
              <a:t> </a:t>
            </a:r>
            <a:r>
              <a:rPr lang="es-ES" b="0" i="0" dirty="0">
                <a:solidFill>
                  <a:srgbClr val="444340"/>
                </a:solidFill>
                <a:effectLst/>
                <a:latin typeface="Ubuntu"/>
              </a:rPr>
              <a:t>El análisis y las soluciones deben abordarse de una manera holística que incluya la consideración de procesos, cambio organizacional, tecnología, información, políticas y planificación estratégica. El trabajo de análisis de negocios es realizado principalmente por analistas de negocios (BA), aunque otros pueden contribuir.</a:t>
            </a:r>
          </a:p>
          <a:p>
            <a:pPr marL="457200" lvl="1" indent="0">
              <a:buNone/>
            </a:pPr>
            <a:r>
              <a:rPr lang="es-ES" b="0" i="0" dirty="0">
                <a:solidFill>
                  <a:srgbClr val="444340"/>
                </a:solidFill>
                <a:effectLst/>
                <a:latin typeface="Ubuntu"/>
              </a:rPr>
              <a:t>En TI, las prácticas de análisis de negocio se aplican con frecuencia en proyectos de desarrollo de software, pero también son apropiadas para arquitecturas, servicios de nivel superior y el sistema de valor de servicio (</a:t>
            </a:r>
            <a:r>
              <a:rPr lang="es-ES" b="0" i="0" dirty="0" err="1">
                <a:solidFill>
                  <a:srgbClr val="444340"/>
                </a:solidFill>
                <a:effectLst/>
                <a:latin typeface="Ubuntu"/>
              </a:rPr>
              <a:t>SVS</a:t>
            </a:r>
            <a:r>
              <a:rPr lang="es-ES" b="0" i="0" dirty="0">
                <a:solidFill>
                  <a:srgbClr val="444340"/>
                </a:solidFill>
                <a:effectLst/>
                <a:latin typeface="Ubuntu"/>
              </a:rPr>
              <a:t>) de la organización en general. Restringir la aplicación del análisis de negocio solo al desarrollo de software es correr el riesgo de desarrollar soluciones incompletas</a:t>
            </a:r>
            <a:endParaRPr lang="es-ES" sz="2400" b="1" i="0" dirty="0">
              <a:solidFill>
                <a:srgbClr val="FF0000"/>
              </a:solidFill>
              <a:effectLst/>
              <a:latin typeface="Open Sans" panose="020B0604020202020204" pitchFamily="34" charset="0"/>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74482480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263457"/>
          </a:xfrm>
        </p:spPr>
        <p:txBody>
          <a:bodyPr>
            <a:normAutofit/>
          </a:bodyPr>
          <a:lstStyle/>
          <a:p>
            <a:r>
              <a:rPr lang="es-ES" sz="3200" b="1" i="0" dirty="0">
                <a:solidFill>
                  <a:srgbClr val="FF0000"/>
                </a:solidFill>
                <a:effectLst/>
                <a:latin typeface="Open Sans" panose="020B0604020202020204" pitchFamily="34" charset="0"/>
              </a:rPr>
              <a:t>Pasos para el Análisis del Negocio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6624612F-D719-48A2-9231-DA964BE8676A}"/>
              </a:ext>
            </a:extLst>
          </p:cNvPr>
          <p:cNvPicPr>
            <a:picLocks noChangeAspect="1"/>
          </p:cNvPicPr>
          <p:nvPr/>
        </p:nvPicPr>
        <p:blipFill>
          <a:blip r:embed="rId2"/>
          <a:stretch>
            <a:fillRect/>
          </a:stretch>
        </p:blipFill>
        <p:spPr>
          <a:xfrm>
            <a:off x="1150247" y="2243993"/>
            <a:ext cx="9915318" cy="4535316"/>
          </a:xfrm>
          <a:prstGeom prst="rect">
            <a:avLst/>
          </a:prstGeom>
        </p:spPr>
      </p:pic>
    </p:spTree>
    <p:extLst>
      <p:ext uri="{BB962C8B-B14F-4D97-AF65-F5344CB8AC3E}">
        <p14:creationId xmlns:p14="http://schemas.microsoft.com/office/powerpoint/2010/main" val="85870816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a:bodyPr>
          <a:lstStyle/>
          <a:p>
            <a:r>
              <a:rPr lang="es-ES" sz="3200" b="1" i="0" dirty="0">
                <a:solidFill>
                  <a:srgbClr val="FF0000"/>
                </a:solidFill>
                <a:effectLst/>
                <a:latin typeface="Open Sans" panose="020B0604020202020204" pitchFamily="34" charset="0"/>
              </a:rPr>
              <a:t>Tipos de Requisitos</a:t>
            </a:r>
          </a:p>
          <a:p>
            <a:r>
              <a:rPr lang="es-ES" sz="2400" dirty="0">
                <a:latin typeface="Open Sans" panose="020B0604020202020204" pitchFamily="34" charset="0"/>
              </a:rPr>
              <a:t>Los requisitos del negocio pueden centrarse en la utilidad o en la garantía.</a:t>
            </a:r>
          </a:p>
          <a:p>
            <a:pPr algn="l" fontAlgn="base"/>
            <a:r>
              <a:rPr lang="es-ES" b="1" i="0" dirty="0">
                <a:solidFill>
                  <a:srgbClr val="444340"/>
                </a:solidFill>
                <a:effectLst/>
                <a:latin typeface="inherit"/>
              </a:rPr>
              <a:t>Requisitos de garantía.</a:t>
            </a:r>
            <a:r>
              <a:rPr lang="es-ES" b="0" i="0" dirty="0">
                <a:solidFill>
                  <a:srgbClr val="444340"/>
                </a:solidFill>
                <a:effectLst/>
                <a:latin typeface="Ubuntu"/>
              </a:rPr>
              <a:t> Por lo general, los requisitos no funcionales capturados como aportaciones de las partes interesadas clave y otras prácticas. Las organizaciones deben tener como objetivo administrar una biblioteca de criterios de aceptación de garantía predefinidos para su uso en prácticas como la gestión de proyectos y el desarrollo y la gestión de software.</a:t>
            </a:r>
          </a:p>
          <a:p>
            <a:pPr algn="l" fontAlgn="base"/>
            <a:r>
              <a:rPr lang="es-ES" b="1" i="0" dirty="0">
                <a:solidFill>
                  <a:srgbClr val="444340"/>
                </a:solidFill>
                <a:effectLst/>
                <a:latin typeface="inherit"/>
              </a:rPr>
              <a:t>Requisitos de utilidad.</a:t>
            </a:r>
            <a:r>
              <a:rPr lang="es-ES" b="0" i="0" dirty="0">
                <a:solidFill>
                  <a:srgbClr val="444340"/>
                </a:solidFill>
                <a:effectLst/>
                <a:latin typeface="Ubuntu"/>
              </a:rPr>
              <a:t> Requisitos funcionales que han sido definidos por el cliente y son exclusivos de un producto específico.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7016522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lnSpcReduction="10000"/>
          </a:bodyPr>
          <a:lstStyle/>
          <a:p>
            <a:pPr marL="0" indent="0">
              <a:buNone/>
            </a:pPr>
            <a:r>
              <a:rPr lang="es-ES" sz="3200" b="1" i="0" dirty="0">
                <a:solidFill>
                  <a:srgbClr val="FF0000"/>
                </a:solidFill>
                <a:effectLst/>
                <a:latin typeface="Open Sans" panose="020B0604020202020204" pitchFamily="34" charset="0"/>
              </a:rPr>
              <a:t>Consideraciones</a:t>
            </a:r>
          </a:p>
          <a:p>
            <a:pPr lvl="1" fontAlgn="base"/>
            <a:r>
              <a:rPr lang="es-ES" b="0" i="0" dirty="0">
                <a:solidFill>
                  <a:srgbClr val="444340"/>
                </a:solidFill>
                <a:effectLst/>
                <a:latin typeface="Ubuntu"/>
              </a:rPr>
              <a:t>El análisis del negocio debe garantizar el logro más eficiente y completo de estas actividades, pero no cometer el error de análisis sin la intención de una acción posterior. Una organización no debe intentar analizar un problema tan profundamente o durante tanto tiempo que no se pueda lograr una solución oportuna, o tratar de resolver cada problema con una iniciativa única y masiva que no facilita la creación de valor en el tiempo suficiente para ser de uso práctico. Los procesos asociados con esta práctica deben protegerse contra estos errores.</a:t>
            </a:r>
          </a:p>
          <a:p>
            <a:pPr lvl="1" fontAlgn="base"/>
            <a:r>
              <a:rPr lang="es-ES" b="0" i="0" dirty="0">
                <a:solidFill>
                  <a:srgbClr val="444340"/>
                </a:solidFill>
                <a:effectLst/>
                <a:latin typeface="Ubuntu"/>
              </a:rPr>
              <a:t>El alcance del trabajo para la práctica del análisis empresarial incluye el uso y la evaluación de la información de las operaciones y el soporte para generar conocimiento sobre cómo se están desempeñando los servicios y las prácticas en el entorno en vivo. Este conocimiento no solo ayudará a identificar áreas de mejora en el diseño actual del servicio, sino que también revelará lecciones aprendidas que mejorarán los diseños futuros.</a:t>
            </a:r>
            <a:endParaRPr lang="es-ES" sz="1400" b="0" i="0" dirty="0">
              <a:solidFill>
                <a:srgbClr val="444340"/>
              </a:solidFill>
              <a:effectLst/>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3541035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a:bodyPr>
          <a:lstStyle/>
          <a:p>
            <a:pPr marL="0" indent="0">
              <a:buNone/>
            </a:pPr>
            <a:r>
              <a:rPr lang="es-ES" sz="3200" b="1" i="0" dirty="0">
                <a:solidFill>
                  <a:srgbClr val="FF0000"/>
                </a:solidFill>
                <a:effectLst/>
                <a:latin typeface="Open Sans" panose="020B0604020202020204" pitchFamily="34" charset="0"/>
              </a:rPr>
              <a:t>Consideraciones</a:t>
            </a:r>
          </a:p>
          <a:p>
            <a:pPr lvl="1" fontAlgn="base"/>
            <a:r>
              <a:rPr lang="es-ES" sz="2800" b="0" i="0" dirty="0">
                <a:solidFill>
                  <a:srgbClr val="444340"/>
                </a:solidFill>
                <a:effectLst/>
                <a:latin typeface="Ubuntu"/>
              </a:rPr>
              <a:t>Sin la información adecuada, el análisis empresarial no puede tener éxito y, para ser eficaz, necesita acceso a toda la información relacionada con el área bajo análisis. Para los procesos comerciales, por ejemplo, los analistas comerciales necesitarán acceso a toda la documentación del proceso, incluidos los flujos de proceso, los procedimientos y las instrucciones de trabajo, las políticas y las métricas del proceso. Es posible que deban entrevistar no solo a la persona responsable del proceso comercial, sino también a quienes participan en cada parte del proceso para compilar una visión clara del proceso y los problemas relacionados.</a:t>
            </a:r>
            <a:endParaRPr lang="es-ES" sz="1200" b="0" i="0" dirty="0">
              <a:solidFill>
                <a:srgbClr val="444340"/>
              </a:solidFill>
              <a:effectLst/>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9101895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Análisis del Negocio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87CF1F5C-6BD5-44B1-A314-99B2E6892183}"/>
              </a:ext>
            </a:extLst>
          </p:cNvPr>
          <p:cNvPicPr>
            <a:picLocks noChangeAspect="1"/>
          </p:cNvPicPr>
          <p:nvPr/>
        </p:nvPicPr>
        <p:blipFill>
          <a:blip r:embed="rId2"/>
          <a:stretch>
            <a:fillRect/>
          </a:stretch>
        </p:blipFill>
        <p:spPr>
          <a:xfrm>
            <a:off x="844410" y="1082040"/>
            <a:ext cx="10406683" cy="5768214"/>
          </a:xfrm>
          <a:prstGeom prst="rect">
            <a:avLst/>
          </a:prstGeom>
        </p:spPr>
      </p:pic>
    </p:spTree>
    <p:extLst>
      <p:ext uri="{BB962C8B-B14F-4D97-AF65-F5344CB8AC3E}">
        <p14:creationId xmlns:p14="http://schemas.microsoft.com/office/powerpoint/2010/main" val="411864366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10. Gestión de Diseño del Servicio</a:t>
            </a:r>
          </a:p>
          <a:p>
            <a:endParaRPr lang="es-EC" sz="2200" dirty="0"/>
          </a:p>
          <a:p>
            <a:endParaRPr lang="es-EC" sz="2200" b="1" dirty="0"/>
          </a:p>
        </p:txBody>
      </p:sp>
      <p:pic>
        <p:nvPicPr>
          <p:cNvPr id="9218" name="Picture 2" descr="Servicio, Gestión De, Servicio De Atención Al Cliente imagen png - imagen  transparente descarga gratuita">
            <a:extLst>
              <a:ext uri="{FF2B5EF4-FFF2-40B4-BE49-F238E27FC236}">
                <a16:creationId xmlns:a16="http://schemas.microsoft.com/office/drawing/2014/main" id="{C655392B-5EFF-4B6E-8F29-FB6FE0E07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9835" y="540458"/>
            <a:ext cx="6754238" cy="63175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98744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5098024"/>
          </a:xfrm>
        </p:spPr>
        <p:txBody>
          <a:bodyPr>
            <a:normAutofit/>
          </a:bodyPr>
          <a:lstStyle/>
          <a:p>
            <a:r>
              <a:rPr lang="es-ES" sz="3200" b="1" i="0" dirty="0">
                <a:solidFill>
                  <a:srgbClr val="FF0000"/>
                </a:solidFill>
                <a:effectLst/>
                <a:latin typeface="Open Sans" panose="020B0604020202020204" pitchFamily="34" charset="0"/>
              </a:rPr>
              <a:t>Definición</a:t>
            </a:r>
          </a:p>
          <a:p>
            <a:endParaRPr lang="es-ES" sz="3200" b="1" dirty="0">
              <a:solidFill>
                <a:srgbClr val="FF0000"/>
              </a:solidFill>
              <a:latin typeface="Open Sans" panose="020B0604020202020204" pitchFamily="34" charset="0"/>
            </a:endParaRPr>
          </a:p>
          <a:p>
            <a:pPr marL="457200" lvl="1" indent="0">
              <a:buNone/>
            </a:pPr>
            <a:r>
              <a:rPr lang="es-ES" sz="3600" b="1" i="0" dirty="0">
                <a:solidFill>
                  <a:srgbClr val="FF0000"/>
                </a:solidFill>
                <a:effectLst/>
                <a:latin typeface="Open Sans" panose="020B0604020202020204" pitchFamily="34" charset="0"/>
              </a:rPr>
              <a:t> </a:t>
            </a:r>
            <a:r>
              <a:rPr lang="es-ES" b="0" i="0" dirty="0">
                <a:solidFill>
                  <a:srgbClr val="444340"/>
                </a:solidFill>
                <a:effectLst/>
                <a:latin typeface="Ubuntu"/>
              </a:rPr>
              <a:t>El propósito de la práctica de diseño de servicios es diseñar productos y servicios que sean adecuados para el propósito, adecuados para su uso y que la organización y su ecosistema puedan ofrecer. Esto incluye la planificación y organización de personas, socios y proveedores, información, comunicación, tecnología y prácticas para productos y servicios nuevos o modificados, y la interacción entre la organización y sus clientes.</a:t>
            </a:r>
          </a:p>
          <a:p>
            <a:pPr marL="457200" lvl="1" indent="0">
              <a:buNone/>
            </a:pPr>
            <a:endParaRPr lang="es-ES" b="0" i="0" dirty="0">
              <a:solidFill>
                <a:srgbClr val="444340"/>
              </a:solidFill>
              <a:effectLst/>
              <a:latin typeface="Ubuntu"/>
            </a:endParaRPr>
          </a:p>
          <a:p>
            <a:pPr marL="457200" lvl="1" indent="0">
              <a:buNone/>
            </a:pPr>
            <a:r>
              <a:rPr lang="es-ES" dirty="0">
                <a:solidFill>
                  <a:srgbClr val="444340"/>
                </a:solidFill>
                <a:latin typeface="Ubuntu"/>
              </a:rPr>
              <a:t>Se deberá incluir un enfoque holístico de la planeación y organización de productos y servicios nuevos o modificados.</a:t>
            </a:r>
            <a:endParaRPr lang="es-ES" sz="24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4051781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55000" lnSpcReduction="20000"/>
          </a:bodyPr>
          <a:lstStyle/>
          <a:p>
            <a:pPr marL="0" indent="0">
              <a:buNone/>
            </a:pPr>
            <a:r>
              <a:rPr lang="es-ES" sz="6500" b="1" i="0" dirty="0">
                <a:solidFill>
                  <a:srgbClr val="FF0000"/>
                </a:solidFill>
                <a:effectLst/>
              </a:rPr>
              <a:t>Consecuencias de un mal diseño</a:t>
            </a:r>
          </a:p>
          <a:p>
            <a:pPr marL="0" indent="0">
              <a:buNone/>
            </a:pPr>
            <a:endParaRPr lang="es-ES" sz="3600" b="1" i="0" dirty="0">
              <a:solidFill>
                <a:srgbClr val="FF0000"/>
              </a:solidFill>
              <a:effectLst/>
            </a:endParaRPr>
          </a:p>
          <a:p>
            <a:r>
              <a:rPr lang="es-ES" sz="4000" b="0" i="0" dirty="0">
                <a:solidFill>
                  <a:srgbClr val="444340"/>
                </a:solidFill>
                <a:effectLst/>
              </a:rPr>
              <a:t>Si los productos, servicios o prácticas no se diseñan correctamente, no necesariamente satisfarán las necesidades del cliente ni facilitarán la creación de valor. Si evolucionan sin una arquitectura, interfaces o controles adecuados, serán menos capaces de ofrecer la visión y las necesidades generales de la organización y sus clientes internos y externo</a:t>
            </a:r>
          </a:p>
          <a:p>
            <a:r>
              <a:rPr lang="es-ES" sz="4000" b="0" i="0" dirty="0">
                <a:solidFill>
                  <a:srgbClr val="444340"/>
                </a:solidFill>
                <a:effectLst/>
              </a:rPr>
              <a:t>Es importante considerar enfoques iterativos e incrementales para el diseño de servicios, que pueden garantizar que los productos y servicios introducidos en la operación en vivo puedan adaptarse continuamente en alineación con las necesidades cambiantes de la organización y sus clientes.</a:t>
            </a:r>
          </a:p>
          <a:p>
            <a:r>
              <a:rPr lang="es-ES" sz="4000" b="0" i="0" dirty="0">
                <a:solidFill>
                  <a:srgbClr val="444340"/>
                </a:solidFill>
                <a:effectLst/>
              </a:rPr>
              <a:t>En ausencia de un diseño de servicio formalizado, los productos y servicios pueden ser excesivamente costosos de ejecutar y propensos a fallar, lo que da como resultado que se desperdicien recursos y que el producto o servicio no se centre en el cliente ni se diseñe de manera integral. Es poco probable que algún programa de mejora sea capaz de lograr lo que el diseño adecuado podría haber logrado en primer lugar. Sin un diseño de servicio, los productos y servicios rentables que brindan lo que los clientes necesitan y esperan son extremadamente difíciles de lograr.</a:t>
            </a:r>
            <a:endParaRPr lang="es-ES" sz="4000" dirty="0">
              <a:solidFill>
                <a:srgbClr val="FF0000"/>
              </a:solidFill>
            </a:endParaRPr>
          </a:p>
          <a:p>
            <a:pPr marL="457200" lvl="1" indent="0">
              <a:buNone/>
            </a:pPr>
            <a:r>
              <a:rPr lang="es-ES" sz="4000" b="1" i="0" dirty="0">
                <a:solidFill>
                  <a:srgbClr val="FF0000"/>
                </a:solidFill>
                <a:effectLst/>
                <a:latin typeface="Open Sans" panose="020B0604020202020204" pitchFamily="34" charset="0"/>
              </a:rPr>
              <a:t> </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12246628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5"/>
            <a:ext cx="10515600" cy="1289961"/>
          </a:xfrm>
        </p:spPr>
        <p:txBody>
          <a:bodyPr>
            <a:normAutofit fontScale="62500" lnSpcReduction="20000"/>
          </a:bodyPr>
          <a:lstStyle/>
          <a:p>
            <a:pPr marL="0" indent="0">
              <a:buNone/>
            </a:pPr>
            <a:r>
              <a:rPr lang="es-ES" sz="6500" b="1" i="0" dirty="0">
                <a:solidFill>
                  <a:srgbClr val="FF0000"/>
                </a:solidFill>
                <a:effectLst/>
              </a:rPr>
              <a:t>Satisfacción del usuario</a:t>
            </a:r>
          </a:p>
          <a:p>
            <a:pPr marL="0" indent="0">
              <a:buNone/>
            </a:pPr>
            <a:endParaRPr lang="es-ES" sz="3600" b="1" i="0" dirty="0">
              <a:solidFill>
                <a:srgbClr val="FF0000"/>
              </a:solidFill>
              <a:effectLst/>
            </a:endParaRPr>
          </a:p>
          <a:p>
            <a:pPr marL="457200" lvl="1" indent="0">
              <a:buNone/>
            </a:pPr>
            <a:r>
              <a:rPr lang="es-ES" sz="4000" b="1" i="0" dirty="0">
                <a:solidFill>
                  <a:srgbClr val="FF0000"/>
                </a:solidFill>
                <a:effectLst/>
                <a:latin typeface="Open Sans" panose="020B0604020202020204" pitchFamily="34" charset="0"/>
              </a:rPr>
              <a:t> </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1A113FA6-D9D8-4BDC-8F76-507847134AE7}"/>
              </a:ext>
            </a:extLst>
          </p:cNvPr>
          <p:cNvPicPr>
            <a:picLocks noChangeAspect="1"/>
          </p:cNvPicPr>
          <p:nvPr/>
        </p:nvPicPr>
        <p:blipFill>
          <a:blip r:embed="rId2"/>
          <a:stretch>
            <a:fillRect/>
          </a:stretch>
        </p:blipFill>
        <p:spPr>
          <a:xfrm>
            <a:off x="1483207" y="2329013"/>
            <a:ext cx="6494601" cy="3977314"/>
          </a:xfrm>
          <a:prstGeom prst="rect">
            <a:avLst/>
          </a:prstGeom>
        </p:spPr>
      </p:pic>
    </p:spTree>
    <p:extLst>
      <p:ext uri="{BB962C8B-B14F-4D97-AF65-F5344CB8AC3E}">
        <p14:creationId xmlns:p14="http://schemas.microsoft.com/office/powerpoint/2010/main" val="40356972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550504"/>
            <a:ext cx="10515600" cy="5307495"/>
          </a:xfrm>
        </p:spPr>
        <p:txBody>
          <a:bodyPr>
            <a:normAutofit fontScale="25000" lnSpcReduction="20000"/>
          </a:bodyPr>
          <a:lstStyle/>
          <a:p>
            <a:pPr marL="0" indent="0">
              <a:buNone/>
            </a:pPr>
            <a:r>
              <a:rPr lang="es-ES" sz="14400" b="1" i="0" dirty="0">
                <a:solidFill>
                  <a:srgbClr val="FF0000"/>
                </a:solidFill>
                <a:effectLst/>
              </a:rPr>
              <a:t>Satisfacción del usuario</a:t>
            </a:r>
          </a:p>
          <a:p>
            <a:pPr marL="0" indent="0">
              <a:buNone/>
            </a:pPr>
            <a:endParaRPr lang="es-ES" sz="3600" b="1" i="0" dirty="0">
              <a:solidFill>
                <a:srgbClr val="FF0000"/>
              </a:solidFill>
              <a:effectLst/>
            </a:endParaRPr>
          </a:p>
          <a:p>
            <a:pPr marL="0" indent="0" algn="l" fontAlgn="base">
              <a:buNone/>
            </a:pPr>
            <a:r>
              <a:rPr lang="es-ES" sz="8600" b="0" i="0" dirty="0">
                <a:solidFill>
                  <a:srgbClr val="444340"/>
                </a:solidFill>
                <a:effectLst/>
              </a:rPr>
              <a:t>La adopción e implementación de una práctica de diseño de servicios centrada en CX y </a:t>
            </a:r>
            <a:r>
              <a:rPr lang="es-ES" sz="8600" b="0" i="0" dirty="0" err="1">
                <a:solidFill>
                  <a:srgbClr val="444340"/>
                </a:solidFill>
                <a:effectLst/>
              </a:rPr>
              <a:t>UX</a:t>
            </a:r>
            <a:r>
              <a:rPr lang="es-ES" sz="8600" b="0" i="0" dirty="0">
                <a:solidFill>
                  <a:srgbClr val="444340"/>
                </a:solidFill>
                <a:effectLst/>
              </a:rPr>
              <a:t> permitirá:</a:t>
            </a:r>
          </a:p>
          <a:p>
            <a:pPr lvl="1" fontAlgn="base"/>
            <a:r>
              <a:rPr lang="es-ES" sz="8600" b="0" i="0" dirty="0">
                <a:solidFill>
                  <a:srgbClr val="444340"/>
                </a:solidFill>
                <a:effectLst/>
              </a:rPr>
              <a:t>dar como resultado productos y servicios centrados en el cliente que incluyen a las partes interesadas en las actividades de diseño</a:t>
            </a:r>
          </a:p>
          <a:p>
            <a:pPr lvl="1" fontAlgn="base"/>
            <a:r>
              <a:rPr lang="es-ES" sz="8600" b="0" i="0" dirty="0">
                <a:solidFill>
                  <a:srgbClr val="444340"/>
                </a:solidFill>
                <a:effectLst/>
              </a:rPr>
              <a:t>considerar todo el entorno de un producto o servicio</a:t>
            </a:r>
          </a:p>
          <a:p>
            <a:pPr lvl="1" fontAlgn="base"/>
            <a:r>
              <a:rPr lang="es-ES" sz="8600" b="0" i="0" dirty="0">
                <a:solidFill>
                  <a:srgbClr val="444340"/>
                </a:solidFill>
                <a:effectLst/>
              </a:rPr>
              <a:t>Permitir que los proyectos estimen el costo, el tiempo, los requisitos de recursos y los riesgos asociados con el diseño del servicio con mayor precisión.</a:t>
            </a:r>
          </a:p>
          <a:p>
            <a:pPr lvl="1" fontAlgn="base"/>
            <a:r>
              <a:rPr lang="es-ES" sz="8600" b="0" i="0" dirty="0">
                <a:solidFill>
                  <a:srgbClr val="444340"/>
                </a:solidFill>
                <a:effectLst/>
              </a:rPr>
              <a:t>resultar en mayores volúmenes de cambio exitoso</a:t>
            </a:r>
          </a:p>
          <a:p>
            <a:pPr lvl="1" fontAlgn="base"/>
            <a:r>
              <a:rPr lang="es-ES" sz="8600" b="0" i="0" dirty="0">
                <a:solidFill>
                  <a:srgbClr val="444340"/>
                </a:solidFill>
                <a:effectLst/>
              </a:rPr>
              <a:t>hacer que los métodos de diseño sean más fáciles de adoptar y seguir para las personas</a:t>
            </a:r>
          </a:p>
          <a:p>
            <a:pPr lvl="1" fontAlgn="base"/>
            <a:r>
              <a:rPr lang="es-ES" sz="8600" b="0" i="0" dirty="0">
                <a:solidFill>
                  <a:srgbClr val="444340"/>
                </a:solidFill>
                <a:effectLst/>
              </a:rPr>
              <a:t>Permitir que los activos de diseño de servicios se compartan y reutilicen entre proyectos y servicios.</a:t>
            </a:r>
          </a:p>
          <a:p>
            <a:pPr lvl="1" fontAlgn="base"/>
            <a:r>
              <a:rPr lang="es-ES" sz="8600" b="0" i="0" dirty="0">
                <a:solidFill>
                  <a:srgbClr val="444340"/>
                </a:solidFill>
                <a:effectLst/>
              </a:rPr>
              <a:t>Aumentar la confianza de que el producto o servicio nuevo o modificado puede entregarse según las especificaciones sin afectar inesperadamente a otros productos, servicios o partes interesadas.</a:t>
            </a:r>
          </a:p>
          <a:p>
            <a:pPr lvl="1" fontAlgn="base"/>
            <a:r>
              <a:rPr lang="es-ES" sz="8600" b="0" i="0" dirty="0">
                <a:solidFill>
                  <a:srgbClr val="444340"/>
                </a:solidFill>
                <a:effectLst/>
              </a:rPr>
              <a:t>garantizar que los productos y servicios nuevos o modificados sean fáciles de mantener y rentables.</a:t>
            </a:r>
          </a:p>
          <a:p>
            <a:pPr lvl="1"/>
            <a:endParaRPr lang="es-ES" sz="8600" dirty="0">
              <a:solidFill>
                <a:srgbClr val="FF0000"/>
              </a:solidFill>
            </a:endParaRPr>
          </a:p>
          <a:p>
            <a:pPr marL="457200" lvl="1" indent="0">
              <a:buNone/>
            </a:pPr>
            <a:r>
              <a:rPr lang="es-ES" sz="8600" b="1" i="0" dirty="0">
                <a:solidFill>
                  <a:srgbClr val="FF0000"/>
                </a:solidFill>
                <a:effectLst/>
              </a:rPr>
              <a:t> </a:t>
            </a:r>
            <a:endParaRPr lang="es-ES" sz="8600" dirty="0">
              <a:solidFill>
                <a:srgbClr val="44434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7617670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550504"/>
            <a:ext cx="10515600" cy="5307495"/>
          </a:xfrm>
        </p:spPr>
        <p:txBody>
          <a:bodyPr>
            <a:normAutofit fontScale="25000" lnSpcReduction="20000"/>
          </a:bodyPr>
          <a:lstStyle/>
          <a:p>
            <a:pPr marL="0" indent="0">
              <a:buNone/>
            </a:pPr>
            <a:r>
              <a:rPr lang="es-ES" sz="14400" b="1" i="0" dirty="0">
                <a:solidFill>
                  <a:srgbClr val="FF0000"/>
                </a:solidFill>
                <a:effectLst/>
              </a:rPr>
              <a:t>Satisfacción del usuario</a:t>
            </a:r>
          </a:p>
          <a:p>
            <a:pPr marL="0" indent="0">
              <a:buNone/>
            </a:pPr>
            <a:endParaRPr lang="es-ES" sz="9600" b="1" i="0" dirty="0">
              <a:solidFill>
                <a:srgbClr val="FF0000"/>
              </a:solidFill>
              <a:effectLst/>
            </a:endParaRPr>
          </a:p>
          <a:p>
            <a:pPr algn="l" fontAlgn="base"/>
            <a:r>
              <a:rPr lang="es-ES" sz="9600" b="0" i="0" dirty="0">
                <a:solidFill>
                  <a:srgbClr val="444340"/>
                </a:solidFill>
                <a:effectLst/>
              </a:rPr>
              <a:t>El diseño de la experiencia de usuario ajustada (Lean </a:t>
            </a:r>
            <a:r>
              <a:rPr lang="es-ES" sz="9600" b="0" i="0" dirty="0" err="1">
                <a:solidFill>
                  <a:srgbClr val="444340"/>
                </a:solidFill>
                <a:effectLst/>
              </a:rPr>
              <a:t>UX</a:t>
            </a:r>
            <a:r>
              <a:rPr lang="es-ES" sz="9600" b="0" i="0" dirty="0">
                <a:solidFill>
                  <a:srgbClr val="444340"/>
                </a:solidFill>
                <a:effectLst/>
              </a:rPr>
              <a:t>) es una mentalidad, una cultura y un proceso que abarca los métodos Lean-Agile. Implementa la funcionalidad en incrementos mínimos viables y determina el éxito midiendo los resultados frente a una hipótesis de resultado. Lean </a:t>
            </a:r>
            <a:r>
              <a:rPr lang="es-ES" sz="9600" b="0" i="0" dirty="0" err="1">
                <a:solidFill>
                  <a:srgbClr val="444340"/>
                </a:solidFill>
                <a:effectLst/>
              </a:rPr>
              <a:t>UX</a:t>
            </a:r>
            <a:r>
              <a:rPr lang="es-ES" sz="9600" b="0" i="0" dirty="0">
                <a:solidFill>
                  <a:srgbClr val="444340"/>
                </a:solidFill>
                <a:effectLst/>
              </a:rPr>
              <a:t> es increíblemente útil cuando se trabaja en proyectos donde se utilizan métodos de desarrollo ágiles. El objetivo principal es concentrarse en obtener comentarios lo antes posible para que puedan utilizarse para tomar decisiones rápidas.</a:t>
            </a:r>
          </a:p>
          <a:p>
            <a:pPr algn="l" fontAlgn="base"/>
            <a:r>
              <a:rPr lang="es-ES" sz="9600" b="0" i="0" dirty="0">
                <a:solidFill>
                  <a:srgbClr val="444340"/>
                </a:solidFill>
                <a:effectLst/>
              </a:rPr>
              <a:t>Las preguntas típicas para Lean </a:t>
            </a:r>
            <a:r>
              <a:rPr lang="es-ES" sz="9600" b="0" i="0" dirty="0" err="1">
                <a:solidFill>
                  <a:srgbClr val="444340"/>
                </a:solidFill>
                <a:effectLst/>
              </a:rPr>
              <a:t>UX</a:t>
            </a:r>
            <a:r>
              <a:rPr lang="es-ES" sz="9600" b="0" i="0" dirty="0">
                <a:solidFill>
                  <a:srgbClr val="444340"/>
                </a:solidFill>
                <a:effectLst/>
              </a:rPr>
              <a:t> pueden incluir: ¿Quiénes son los clientes de este producto / servicio y para qué se utilizará? ¿Cuándo se usa y bajo qué circunstancias? ¿Cuál será la funcionalidad más importante? ¿Cuáles son los mayores riesgos?</a:t>
            </a:r>
          </a:p>
          <a:p>
            <a:pPr algn="l" fontAlgn="base"/>
            <a:r>
              <a:rPr lang="es-ES" sz="9600" b="0" i="0" dirty="0">
                <a:solidFill>
                  <a:srgbClr val="444340"/>
                </a:solidFill>
                <a:effectLst/>
              </a:rPr>
              <a:t>Puede haber más de una respuesta a cada pregunta, lo que crea una mayor cantidad de suposiciones de las que sería práctico manejar. Luego, el equipo priorizará estos supuestos por los riesgos que representan para la organización y sus clientes</a:t>
            </a:r>
            <a:r>
              <a:rPr lang="es-ES" sz="6600" b="0" i="0" dirty="0">
                <a:solidFill>
                  <a:srgbClr val="444340"/>
                </a:solidFill>
                <a:effectLst/>
                <a:latin typeface="Ubuntu"/>
              </a:rPr>
              <a:t>.</a:t>
            </a:r>
          </a:p>
          <a:p>
            <a:pPr lvl="1"/>
            <a:endParaRPr lang="es-ES" sz="8600" dirty="0">
              <a:solidFill>
                <a:srgbClr val="FF0000"/>
              </a:solidFill>
            </a:endParaRPr>
          </a:p>
          <a:p>
            <a:pPr marL="457200" lvl="1" indent="0">
              <a:buNone/>
            </a:pPr>
            <a:r>
              <a:rPr lang="es-ES" sz="8600" b="1" i="0" dirty="0">
                <a:solidFill>
                  <a:srgbClr val="FF0000"/>
                </a:solidFill>
                <a:effectLst/>
              </a:rPr>
              <a:t> </a:t>
            </a:r>
            <a:endParaRPr lang="es-ES" sz="8600" dirty="0">
              <a:solidFill>
                <a:srgbClr val="44434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4855981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550504"/>
            <a:ext cx="10515600" cy="5307495"/>
          </a:xfrm>
        </p:spPr>
        <p:txBody>
          <a:bodyPr>
            <a:normAutofit fontScale="32500" lnSpcReduction="20000"/>
          </a:bodyPr>
          <a:lstStyle/>
          <a:p>
            <a:pPr marL="0" indent="0">
              <a:buNone/>
            </a:pPr>
            <a:r>
              <a:rPr lang="es-ES" sz="14400" b="1" i="0" dirty="0">
                <a:solidFill>
                  <a:srgbClr val="FF0000"/>
                </a:solidFill>
                <a:effectLst/>
              </a:rPr>
              <a:t>Consideraciones al realizar el diseño</a:t>
            </a:r>
          </a:p>
          <a:p>
            <a:pPr marL="0" indent="0">
              <a:buNone/>
            </a:pPr>
            <a:endParaRPr lang="es-ES" sz="3600" b="1" i="0" dirty="0">
              <a:solidFill>
                <a:srgbClr val="FF0000"/>
              </a:solidFill>
              <a:effectLst/>
            </a:endParaRPr>
          </a:p>
          <a:p>
            <a:pPr marL="0" indent="0" algn="l" fontAlgn="base">
              <a:buNone/>
            </a:pPr>
            <a:r>
              <a:rPr lang="es-ES" sz="7400" b="0" i="0" dirty="0">
                <a:solidFill>
                  <a:srgbClr val="444340"/>
                </a:solidFill>
                <a:effectLst/>
                <a:latin typeface="Ubuntu"/>
              </a:rPr>
              <a:t>El diseño y desarrollo de un producto o servicio nuevo o modificado no debe realizarse de forma aislada, sino que debe considerar el impacto que tendrá en:</a:t>
            </a:r>
          </a:p>
          <a:p>
            <a:pPr lvl="1" fontAlgn="base"/>
            <a:r>
              <a:rPr lang="es-ES" sz="7400" b="0" i="0" dirty="0">
                <a:solidFill>
                  <a:srgbClr val="444340"/>
                </a:solidFill>
                <a:effectLst/>
                <a:latin typeface="inherit"/>
              </a:rPr>
              <a:t>otros productos y servicios</a:t>
            </a:r>
          </a:p>
          <a:p>
            <a:pPr lvl="1" fontAlgn="base"/>
            <a:r>
              <a:rPr lang="es-ES" sz="7400" b="0" i="0" dirty="0">
                <a:solidFill>
                  <a:srgbClr val="444340"/>
                </a:solidFill>
                <a:effectLst/>
                <a:latin typeface="inherit"/>
              </a:rPr>
              <a:t>todas las partes relevantes, incluidos clientes y proveedores</a:t>
            </a:r>
          </a:p>
          <a:p>
            <a:pPr lvl="1" fontAlgn="base"/>
            <a:r>
              <a:rPr lang="es-ES" sz="7400" b="0" i="0" dirty="0">
                <a:solidFill>
                  <a:srgbClr val="444340"/>
                </a:solidFill>
                <a:effectLst/>
                <a:latin typeface="inherit"/>
              </a:rPr>
              <a:t>las arquitecturas existentes</a:t>
            </a:r>
          </a:p>
          <a:p>
            <a:pPr lvl="1" fontAlgn="base"/>
            <a:r>
              <a:rPr lang="es-ES" sz="7400" b="0" i="0" dirty="0">
                <a:solidFill>
                  <a:srgbClr val="444340"/>
                </a:solidFill>
                <a:effectLst/>
                <a:latin typeface="inherit"/>
              </a:rPr>
              <a:t>la tecnología requerida</a:t>
            </a:r>
          </a:p>
          <a:p>
            <a:pPr lvl="1" fontAlgn="base"/>
            <a:r>
              <a:rPr lang="es-ES" sz="7400" b="0" i="0" dirty="0">
                <a:solidFill>
                  <a:srgbClr val="444340"/>
                </a:solidFill>
                <a:effectLst/>
                <a:latin typeface="inherit"/>
              </a:rPr>
              <a:t>las prácticas de gestión del servicio</a:t>
            </a:r>
          </a:p>
          <a:p>
            <a:pPr lvl="1" fontAlgn="base"/>
            <a:r>
              <a:rPr lang="es-ES" sz="7400" b="0" i="0" dirty="0">
                <a:solidFill>
                  <a:srgbClr val="444340"/>
                </a:solidFill>
                <a:effectLst/>
                <a:latin typeface="inherit"/>
              </a:rPr>
              <a:t>las medidas y métricas necesarias</a:t>
            </a:r>
          </a:p>
          <a:p>
            <a:pPr marL="0" indent="0" algn="l" fontAlgn="base">
              <a:buNone/>
            </a:pPr>
            <a:r>
              <a:rPr lang="es-ES" sz="7400" b="0" i="0" dirty="0">
                <a:solidFill>
                  <a:srgbClr val="444340"/>
                </a:solidFill>
                <a:effectLst/>
                <a:latin typeface="Ubuntu"/>
              </a:rPr>
              <a:t>La consideración de estos factores no solo garantizará que el diseño aborde los elementos funcionales del servicio, sino también que los requisitos operativos y de gestión se consideren una parte fundamental del diseño y no se agreguen como una ocurrencia tardía.</a:t>
            </a:r>
          </a:p>
          <a:p>
            <a:pPr lvl="1"/>
            <a:endParaRPr lang="es-ES" sz="8600" dirty="0">
              <a:solidFill>
                <a:srgbClr val="FF0000"/>
              </a:solidFill>
            </a:endParaRPr>
          </a:p>
          <a:p>
            <a:pPr marL="457200" lvl="1" indent="0">
              <a:buNone/>
            </a:pPr>
            <a:r>
              <a:rPr lang="es-ES" sz="8600" b="1" i="0" dirty="0">
                <a:solidFill>
                  <a:srgbClr val="FF0000"/>
                </a:solidFill>
                <a:effectLst/>
              </a:rPr>
              <a:t> </a:t>
            </a:r>
            <a:endParaRPr lang="es-ES" sz="8600" dirty="0">
              <a:solidFill>
                <a:srgbClr val="44434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11425906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550504"/>
            <a:ext cx="10515600" cy="5307495"/>
          </a:xfrm>
        </p:spPr>
        <p:txBody>
          <a:bodyPr>
            <a:normAutofit fontScale="32500" lnSpcReduction="20000"/>
          </a:bodyPr>
          <a:lstStyle/>
          <a:p>
            <a:pPr marL="0" indent="0">
              <a:buNone/>
            </a:pPr>
            <a:r>
              <a:rPr lang="es-ES" sz="14400" b="1" i="0" dirty="0">
                <a:solidFill>
                  <a:srgbClr val="FF0000"/>
                </a:solidFill>
                <a:effectLst/>
              </a:rPr>
              <a:t>Consideraciones al realizar el diseño</a:t>
            </a:r>
          </a:p>
          <a:p>
            <a:pPr marL="0" indent="0">
              <a:buNone/>
            </a:pPr>
            <a:endParaRPr lang="es-ES" sz="3600" b="1" i="0" dirty="0">
              <a:solidFill>
                <a:srgbClr val="FF0000"/>
              </a:solidFill>
              <a:effectLst/>
            </a:endParaRPr>
          </a:p>
          <a:p>
            <a:pPr algn="l" fontAlgn="base"/>
            <a:r>
              <a:rPr lang="es-ES" sz="7400" b="0" i="0" dirty="0">
                <a:solidFill>
                  <a:srgbClr val="444340"/>
                </a:solidFill>
                <a:effectLst/>
                <a:latin typeface="Ubuntu"/>
              </a:rPr>
              <a:t>El diseño del servicio también debe usarse cuando el cambio que se realiza en el producto o servicio es su retiro. A menos que el retiro de un producto / servicio se planifique cuidadosamente, podría causar efectos negativos inesperados en los clientes o en la organización que de otro modo podrían haberse evitado.</a:t>
            </a:r>
          </a:p>
          <a:p>
            <a:pPr algn="l" fontAlgn="base"/>
            <a:r>
              <a:rPr lang="es-ES" sz="7400" b="0" i="0" dirty="0">
                <a:solidFill>
                  <a:srgbClr val="444340"/>
                </a:solidFill>
                <a:effectLst/>
                <a:latin typeface="Ubuntu"/>
              </a:rPr>
              <a:t>No todos los cambios en un producto o servicio requerirán el mismo nivel de actividad de diseño de servicios. Cada cambio, por pequeño que sea, necesitará cierto grado de trabajo de diseño, pero la escala de la actividad necesaria para asegurar el éxito variará mucho de un tipo de cambio a otro. Las organizaciones deben definir qué nivel de actividad de diseño se requiere para cada categoría de cambio y asegurarse de que todos dentro de la organización tengan claros estos criterios.</a:t>
            </a:r>
            <a:endParaRPr lang="es-ES" sz="8600" b="0" i="0" dirty="0">
              <a:solidFill>
                <a:srgbClr val="444340"/>
              </a:solidFill>
              <a:effectLst/>
              <a:latin typeface="Ubuntu"/>
            </a:endParaRPr>
          </a:p>
          <a:p>
            <a:pPr lvl="1"/>
            <a:endParaRPr lang="es-ES" sz="8600" dirty="0">
              <a:solidFill>
                <a:srgbClr val="FF0000"/>
              </a:solidFill>
            </a:endParaRPr>
          </a:p>
          <a:p>
            <a:pPr marL="457200" lvl="1" indent="0">
              <a:buNone/>
            </a:pPr>
            <a:r>
              <a:rPr lang="es-ES" sz="8600" b="1" i="0" dirty="0">
                <a:solidFill>
                  <a:srgbClr val="FF0000"/>
                </a:solidFill>
                <a:effectLst/>
              </a:rPr>
              <a:t> </a:t>
            </a:r>
            <a:endParaRPr lang="es-ES" sz="8600" dirty="0">
              <a:solidFill>
                <a:srgbClr val="44434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4969704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550504"/>
            <a:ext cx="10515600" cy="1722783"/>
          </a:xfrm>
        </p:spPr>
        <p:txBody>
          <a:bodyPr>
            <a:normAutofit fontScale="32500" lnSpcReduction="20000"/>
          </a:bodyPr>
          <a:lstStyle/>
          <a:p>
            <a:pPr marL="0" indent="0">
              <a:buNone/>
            </a:pPr>
            <a:r>
              <a:rPr lang="es-ES" sz="13500" b="1" i="0" dirty="0">
                <a:solidFill>
                  <a:srgbClr val="FF0000"/>
                </a:solidFill>
                <a:effectLst/>
              </a:rPr>
              <a:t>El pensamiento de diseño(</a:t>
            </a:r>
            <a:r>
              <a:rPr lang="es-ES" sz="13500" b="1" i="0" dirty="0" err="1">
                <a:solidFill>
                  <a:srgbClr val="FF0000"/>
                </a:solidFill>
                <a:effectLst/>
              </a:rPr>
              <a:t>Design</a:t>
            </a:r>
            <a:r>
              <a:rPr lang="es-ES" sz="13500" b="1" i="0" dirty="0">
                <a:solidFill>
                  <a:srgbClr val="FF0000"/>
                </a:solidFill>
                <a:effectLst/>
              </a:rPr>
              <a:t> </a:t>
            </a:r>
            <a:r>
              <a:rPr lang="es-ES" sz="13500" b="1" i="0" dirty="0" err="1">
                <a:solidFill>
                  <a:srgbClr val="FF0000"/>
                </a:solidFill>
                <a:effectLst/>
              </a:rPr>
              <a:t>Thinking</a:t>
            </a:r>
            <a:r>
              <a:rPr lang="es-ES" sz="13500" b="1" i="0" dirty="0">
                <a:solidFill>
                  <a:srgbClr val="FF0000"/>
                </a:solidFill>
                <a:effectLst/>
              </a:rPr>
              <a:t>)</a:t>
            </a:r>
            <a:endParaRPr lang="es-ES" sz="14400" b="1" i="0" dirty="0">
              <a:solidFill>
                <a:srgbClr val="FF0000"/>
              </a:solidFill>
              <a:effectLst/>
            </a:endParaRPr>
          </a:p>
          <a:p>
            <a:pPr marL="0" indent="0">
              <a:buNone/>
            </a:pPr>
            <a:endParaRPr lang="es-ES" sz="3600" b="1" i="0" dirty="0">
              <a:solidFill>
                <a:srgbClr val="FF0000"/>
              </a:solidFill>
              <a:effectLst/>
            </a:endParaRPr>
          </a:p>
          <a:p>
            <a:pPr lvl="1"/>
            <a:endParaRPr lang="es-ES" sz="8600" dirty="0">
              <a:solidFill>
                <a:srgbClr val="FF0000"/>
              </a:solidFill>
            </a:endParaRPr>
          </a:p>
          <a:p>
            <a:pPr marL="457200" lvl="1" indent="0">
              <a:buNone/>
            </a:pPr>
            <a:r>
              <a:rPr lang="es-ES" sz="8600" b="1" i="0" dirty="0">
                <a:solidFill>
                  <a:srgbClr val="FF0000"/>
                </a:solidFill>
                <a:effectLst/>
              </a:rPr>
              <a:t> </a:t>
            </a:r>
            <a:endParaRPr lang="es-ES" sz="8600" dirty="0">
              <a:solidFill>
                <a:srgbClr val="44434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B84635A2-61E0-46FB-AF6E-DFA6D7B785C4}"/>
              </a:ext>
            </a:extLst>
          </p:cNvPr>
          <p:cNvPicPr>
            <a:picLocks noChangeAspect="1"/>
          </p:cNvPicPr>
          <p:nvPr/>
        </p:nvPicPr>
        <p:blipFill>
          <a:blip r:embed="rId2"/>
          <a:stretch>
            <a:fillRect/>
          </a:stretch>
        </p:blipFill>
        <p:spPr>
          <a:xfrm>
            <a:off x="1196216" y="2308238"/>
            <a:ext cx="8981454" cy="3628749"/>
          </a:xfrm>
          <a:prstGeom prst="rect">
            <a:avLst/>
          </a:prstGeom>
        </p:spPr>
      </p:pic>
    </p:spTree>
    <p:extLst>
      <p:ext uri="{BB962C8B-B14F-4D97-AF65-F5344CB8AC3E}">
        <p14:creationId xmlns:p14="http://schemas.microsoft.com/office/powerpoint/2010/main" val="1735709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Diseño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D7477A07-C9FC-41F5-BA35-0EE35D8B98DF}"/>
              </a:ext>
            </a:extLst>
          </p:cNvPr>
          <p:cNvPicPr>
            <a:picLocks noChangeAspect="1"/>
          </p:cNvPicPr>
          <p:nvPr/>
        </p:nvPicPr>
        <p:blipFill>
          <a:blip r:embed="rId2"/>
          <a:stretch>
            <a:fillRect/>
          </a:stretch>
        </p:blipFill>
        <p:spPr>
          <a:xfrm>
            <a:off x="841303" y="1082040"/>
            <a:ext cx="10351481" cy="5720253"/>
          </a:xfrm>
          <a:prstGeom prst="rect">
            <a:avLst/>
          </a:prstGeom>
        </p:spPr>
      </p:pic>
    </p:spTree>
    <p:extLst>
      <p:ext uri="{BB962C8B-B14F-4D97-AF65-F5344CB8AC3E}">
        <p14:creationId xmlns:p14="http://schemas.microsoft.com/office/powerpoint/2010/main" val="216872780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11. Gestión del Catálogo del Servicio</a:t>
            </a:r>
          </a:p>
          <a:p>
            <a:endParaRPr lang="es-EC" sz="2200" dirty="0"/>
          </a:p>
          <a:p>
            <a:endParaRPr lang="es-EC" sz="2200" b="1" dirty="0"/>
          </a:p>
        </p:txBody>
      </p:sp>
      <p:pic>
        <p:nvPicPr>
          <p:cNvPr id="10242" name="Picture 2" descr="Cómo crear un catálogo de servicios TI? | ManageEngine ServiceDesk Plus">
            <a:extLst>
              <a:ext uri="{FF2B5EF4-FFF2-40B4-BE49-F238E27FC236}">
                <a16:creationId xmlns:a16="http://schemas.microsoft.com/office/drawing/2014/main" id="{1BFA86CA-2F64-49CC-B420-CFEFC65AA5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4191" y="1473321"/>
            <a:ext cx="6355955" cy="3911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1882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92500" lnSpcReduction="20000"/>
          </a:bodyPr>
          <a:lstStyle/>
          <a:p>
            <a:pPr marL="0" indent="0">
              <a:buNone/>
            </a:pPr>
            <a:r>
              <a:rPr lang="es-ES" sz="4800" b="1" i="0" dirty="0">
                <a:solidFill>
                  <a:srgbClr val="FF0000"/>
                </a:solidFill>
                <a:effectLst/>
              </a:rPr>
              <a:t>Definición</a:t>
            </a:r>
          </a:p>
          <a:p>
            <a:pPr marL="0" indent="0">
              <a:buNone/>
            </a:pPr>
            <a:endParaRPr lang="es-ES" sz="3600" b="1" i="0" dirty="0">
              <a:solidFill>
                <a:srgbClr val="FF0000"/>
              </a:solidFill>
              <a:effectLst/>
            </a:endParaRPr>
          </a:p>
          <a:p>
            <a:pPr fontAlgn="base"/>
            <a:r>
              <a:rPr lang="es-ES" sz="4000" dirty="0">
                <a:solidFill>
                  <a:srgbClr val="444340"/>
                </a:solidFill>
              </a:rPr>
              <a:t> </a:t>
            </a:r>
            <a:r>
              <a:rPr lang="es-ES" sz="2800" b="0" i="0" dirty="0">
                <a:solidFill>
                  <a:srgbClr val="444340"/>
                </a:solidFill>
                <a:effectLst/>
              </a:rPr>
              <a:t>El propósito de la práctica de gestión del catálogo de servicios es proporcionar una fuente única de información coherente sobre todos los servicios y ofertas de servicios, y garantizar que esté disponible para la audiencia pertinente.</a:t>
            </a:r>
          </a:p>
          <a:p>
            <a:pPr fontAlgn="base"/>
            <a:r>
              <a:rPr lang="es-ES" sz="2800" b="0" i="0" dirty="0">
                <a:solidFill>
                  <a:srgbClr val="444340"/>
                </a:solidFill>
                <a:effectLst/>
              </a:rPr>
              <a:t>La lista de servicios dentro del catálogo de servicios representa aquellos que están disponibles actualmente y es un subconjunto de la lista total de servicios rastreados en la cartera de servicios del proveedor de servicios. La gestión del catálogo de servicios garantiza que las descripciones de productos y servicios se expresen claramente para el público objetivo para respaldar la participación de las partes interesadas y la prestación de servicios. El catálogo de servicios puede adoptar muchas formas, como un documento, un portal en línea o una herramienta que permite comunicar a la audiencia la lista actual de servicios.</a:t>
            </a: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7462499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1082041"/>
          </a:xfrm>
        </p:spPr>
        <p:txBody>
          <a:bodyPr>
            <a:normAutofit/>
          </a:bodyPr>
          <a:lstStyle/>
          <a:p>
            <a:pPr marL="0" indent="0">
              <a:buNone/>
            </a:pPr>
            <a:r>
              <a:rPr lang="es-ES" sz="4800" b="1" i="0" dirty="0">
                <a:solidFill>
                  <a:srgbClr val="FF0000"/>
                </a:solidFill>
                <a:effectLst/>
              </a:rPr>
              <a:t>Definición</a:t>
            </a:r>
          </a:p>
          <a:p>
            <a:pPr marL="0" indent="0">
              <a:buNone/>
            </a:pPr>
            <a:endParaRPr lang="es-ES" sz="3600" b="1" i="0" dirty="0">
              <a:solidFill>
                <a:srgbClr val="FF000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8D73543-CA18-4B95-B2B5-13248A0B3256}"/>
              </a:ext>
            </a:extLst>
          </p:cNvPr>
          <p:cNvPicPr>
            <a:picLocks noChangeAspect="1"/>
          </p:cNvPicPr>
          <p:nvPr/>
        </p:nvPicPr>
        <p:blipFill>
          <a:blip r:embed="rId2"/>
          <a:stretch>
            <a:fillRect/>
          </a:stretch>
        </p:blipFill>
        <p:spPr>
          <a:xfrm>
            <a:off x="838199" y="2402784"/>
            <a:ext cx="10758573" cy="3719719"/>
          </a:xfrm>
          <a:prstGeom prst="rect">
            <a:avLst/>
          </a:prstGeom>
        </p:spPr>
      </p:pic>
    </p:spTree>
    <p:extLst>
      <p:ext uri="{BB962C8B-B14F-4D97-AF65-F5344CB8AC3E}">
        <p14:creationId xmlns:p14="http://schemas.microsoft.com/office/powerpoint/2010/main" val="10559963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lnSpcReduction="10000"/>
          </a:bodyPr>
          <a:lstStyle/>
          <a:p>
            <a:pPr marL="0" indent="0">
              <a:buNone/>
            </a:pPr>
            <a:r>
              <a:rPr lang="es-ES" sz="4000" b="1" i="0" dirty="0">
                <a:solidFill>
                  <a:srgbClr val="FF0000"/>
                </a:solidFill>
                <a:effectLst/>
              </a:rPr>
              <a:t>Actividades de la Gestión del Catálogo del Servicio</a:t>
            </a:r>
          </a:p>
          <a:p>
            <a:pPr marL="0" indent="0">
              <a:buNone/>
            </a:pPr>
            <a:endParaRPr lang="es-ES" sz="1600" b="1" i="0" dirty="0">
              <a:solidFill>
                <a:srgbClr val="FF0000"/>
              </a:solidFill>
              <a:effectLst/>
            </a:endParaRPr>
          </a:p>
          <a:p>
            <a:pPr fontAlgn="base"/>
            <a:r>
              <a:rPr lang="es-ES" sz="4000" dirty="0">
                <a:solidFill>
                  <a:srgbClr val="444340"/>
                </a:solidFill>
              </a:rPr>
              <a:t> </a:t>
            </a:r>
            <a:r>
              <a:rPr lang="es-ES" sz="2800" b="0" i="0" dirty="0">
                <a:solidFill>
                  <a:srgbClr val="444340"/>
                </a:solidFill>
                <a:effectLst/>
                <a:latin typeface="Ubuntu"/>
              </a:rPr>
              <a:t>La práctica de gestión de catálogos de servicios incluye un conjunto continuo de actividades relacionadas con la publicación, edición y mantenimiento de descripciones de productos y servicios y sus ofertas relacionadas. Proporciona una vista sobre el alcance de los servicios disponibles y en qué condiciones. La práctica de gestión del catálogo de servicios está respaldada por roles como el propietario del servicio y otros responsables de administrar, editar y mantener actualizada la lista de servicios disponibles a medida que se introducen, cambian o retiran.</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35714573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lnSpcReduction="10000"/>
          </a:bodyPr>
          <a:lstStyle/>
          <a:p>
            <a:pPr marL="0" indent="0">
              <a:buNone/>
            </a:pPr>
            <a:r>
              <a:rPr lang="es-ES" sz="4000" b="1" i="0" dirty="0">
                <a:solidFill>
                  <a:srgbClr val="FF0000"/>
                </a:solidFill>
                <a:effectLst/>
              </a:rPr>
              <a:t>Vistas personalizadas</a:t>
            </a:r>
          </a:p>
          <a:p>
            <a:pPr marL="0" indent="0">
              <a:buNone/>
            </a:pPr>
            <a:endParaRPr lang="es-ES" sz="1800" b="1" i="0" dirty="0">
              <a:solidFill>
                <a:srgbClr val="FF0000"/>
              </a:solidFill>
              <a:effectLst/>
            </a:endParaRPr>
          </a:p>
          <a:p>
            <a:pPr fontAlgn="base"/>
            <a:r>
              <a:rPr lang="es-ES" b="0" i="0" dirty="0">
                <a:solidFill>
                  <a:srgbClr val="444340"/>
                </a:solidFill>
                <a:effectLst/>
                <a:latin typeface="Ubuntu"/>
              </a:rPr>
              <a:t>El catálogo de servicios permite la creación de valor y es utilizado por muchas prácticas diferentes dentro de la cadena de valor del servicio. Debido a esto, debe ser flexible con respecto a los detalles y atributos del servicio que presenta, en función de su propósito previsto. Como tal, las organizaciones pueden considerar la posibilidad de ofrecer diferentes vistas del catálogo para diferentes audiencias.</a:t>
            </a:r>
            <a:endParaRPr lang="es-ES" dirty="0">
              <a:solidFill>
                <a:srgbClr val="444340"/>
              </a:solidFill>
              <a:latin typeface="Ubuntu"/>
            </a:endParaRPr>
          </a:p>
          <a:p>
            <a:pPr fontAlgn="base"/>
            <a:r>
              <a:rPr lang="es-ES" sz="2800" b="0" i="0" dirty="0">
                <a:solidFill>
                  <a:srgbClr val="444340"/>
                </a:solidFill>
                <a:effectLst/>
                <a:latin typeface="Ubuntu"/>
              </a:rPr>
              <a:t>Es posible que la lista completa de servicios dentro de un catálogo de servicios no sea aplicable a todos los clientes y / o usuarios. Asimismo, los diversos atributos de los servicios como especificaciones técnicas, ofertas, acuerdos y costos no son aplicables a todos los tipos de consumidores de servicios</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6768347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AAB491F0-3E31-4358-8771-1553C0DA58FD}"/>
              </a:ext>
            </a:extLst>
          </p:cNvPr>
          <p:cNvPicPr>
            <a:picLocks noChangeAspect="1"/>
          </p:cNvPicPr>
          <p:nvPr/>
        </p:nvPicPr>
        <p:blipFill>
          <a:blip r:embed="rId2"/>
          <a:stretch>
            <a:fillRect/>
          </a:stretch>
        </p:blipFill>
        <p:spPr>
          <a:xfrm>
            <a:off x="265041" y="2022126"/>
            <a:ext cx="11290063" cy="4285909"/>
          </a:xfrm>
          <a:prstGeom prst="rect">
            <a:avLst/>
          </a:prstGeom>
        </p:spPr>
      </p:pic>
    </p:spTree>
    <p:extLst>
      <p:ext uri="{BB962C8B-B14F-4D97-AF65-F5344CB8AC3E}">
        <p14:creationId xmlns:p14="http://schemas.microsoft.com/office/powerpoint/2010/main" val="113618203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85000" lnSpcReduction="20000"/>
          </a:bodyPr>
          <a:lstStyle/>
          <a:p>
            <a:pPr marL="0" indent="0">
              <a:buNone/>
            </a:pPr>
            <a:r>
              <a:rPr lang="es-ES" sz="4000" b="1" i="0" dirty="0">
                <a:solidFill>
                  <a:srgbClr val="FF0000"/>
                </a:solidFill>
                <a:effectLst/>
              </a:rPr>
              <a:t>Catálogo de Solicitudes</a:t>
            </a:r>
          </a:p>
          <a:p>
            <a:pPr marL="0" indent="0">
              <a:buNone/>
            </a:pPr>
            <a:endParaRPr lang="es-ES" sz="1800" b="1" i="0" dirty="0">
              <a:solidFill>
                <a:srgbClr val="FF0000"/>
              </a:solidFill>
              <a:effectLst/>
            </a:endParaRPr>
          </a:p>
          <a:p>
            <a:pPr algn="l" fontAlgn="base"/>
            <a:r>
              <a:rPr lang="es-ES" b="0" i="0" dirty="0">
                <a:solidFill>
                  <a:srgbClr val="444340"/>
                </a:solidFill>
                <a:effectLst/>
                <a:latin typeface="Ubuntu"/>
              </a:rPr>
              <a:t>Para que el catálogo de servicios sea percibido como útil por la organización del cliente, debe hacer más que proporcionar una plataforma estática para publicar información sobre los servicios de TI. A menos que el catálogo de servicios permita la participación del cliente al respaldar discusiones relacionadas con ofertas de servicios estándar y no estándar y / o automatice los procesos de cumplimiento de pedidos y solicitudes, las posibilidades de su adopción continua como un recurso útil y significativo son mínimas. Por esta razón, las opiniones de muchas organizaciones sobre el catálogo de servicios se centran en los elementos consumibles o </a:t>
            </a:r>
            <a:r>
              <a:rPr lang="es-ES" b="0" i="0" dirty="0" err="1">
                <a:solidFill>
                  <a:srgbClr val="444340"/>
                </a:solidFill>
                <a:effectLst/>
                <a:latin typeface="Ubuntu"/>
              </a:rPr>
              <a:t>pedibles</a:t>
            </a:r>
            <a:r>
              <a:rPr lang="es-ES" b="0" i="0" dirty="0">
                <a:solidFill>
                  <a:srgbClr val="444340"/>
                </a:solidFill>
                <a:effectLst/>
                <a:latin typeface="Ubuntu"/>
              </a:rPr>
              <a:t> de las ofertas de servicios. Suelen denominarse catálogos de solicitudes.</a:t>
            </a:r>
          </a:p>
          <a:p>
            <a:pPr algn="l" fontAlgn="base"/>
            <a:r>
              <a:rPr lang="es-ES" b="0" i="0" dirty="0">
                <a:solidFill>
                  <a:srgbClr val="444340"/>
                </a:solidFill>
                <a:effectLst/>
                <a:latin typeface="Ubuntu"/>
              </a:rPr>
              <a:t>Definición:</a:t>
            </a:r>
          </a:p>
          <a:p>
            <a:pPr algn="l" fontAlgn="base"/>
            <a:r>
              <a:rPr lang="es-ES" b="1" i="0" dirty="0">
                <a:solidFill>
                  <a:srgbClr val="444340"/>
                </a:solidFill>
                <a:effectLst/>
                <a:latin typeface="inherit"/>
              </a:rPr>
              <a:t>Catálogo de Solicitudes</a:t>
            </a:r>
            <a:r>
              <a:rPr lang="es-ES" b="0" i="0" dirty="0">
                <a:solidFill>
                  <a:srgbClr val="444340"/>
                </a:solidFill>
                <a:effectLst/>
                <a:latin typeface="Ubuntu"/>
              </a:rPr>
              <a:t>. Una vista del catálogo de servicios, que proporciona detalles sobre las solicitudes de servicio para servicios nuevos y existentes, que se pone a disposición del usuario.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81099402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del Catálogo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3E6CEBF2-183C-495A-A7D7-93BFE5F83F9A}"/>
              </a:ext>
            </a:extLst>
          </p:cNvPr>
          <p:cNvPicPr>
            <a:picLocks noChangeAspect="1"/>
          </p:cNvPicPr>
          <p:nvPr/>
        </p:nvPicPr>
        <p:blipFill>
          <a:blip r:embed="rId2"/>
          <a:stretch>
            <a:fillRect/>
          </a:stretch>
        </p:blipFill>
        <p:spPr>
          <a:xfrm>
            <a:off x="835921" y="1082040"/>
            <a:ext cx="10255276" cy="5775960"/>
          </a:xfrm>
          <a:prstGeom prst="rect">
            <a:avLst/>
          </a:prstGeom>
        </p:spPr>
      </p:pic>
    </p:spTree>
    <p:extLst>
      <p:ext uri="{BB962C8B-B14F-4D97-AF65-F5344CB8AC3E}">
        <p14:creationId xmlns:p14="http://schemas.microsoft.com/office/powerpoint/2010/main" val="30742435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12. Gestión de Activos de TI</a:t>
            </a:r>
          </a:p>
          <a:p>
            <a:endParaRPr lang="es-EC" sz="2200" dirty="0"/>
          </a:p>
          <a:p>
            <a:endParaRPr lang="es-EC" sz="2200" b="1" dirty="0"/>
          </a:p>
        </p:txBody>
      </p:sp>
      <p:pic>
        <p:nvPicPr>
          <p:cNvPr id="11266" name="Picture 2" descr="I-LOGISTICS">
            <a:extLst>
              <a:ext uri="{FF2B5EF4-FFF2-40B4-BE49-F238E27FC236}">
                <a16:creationId xmlns:a16="http://schemas.microsoft.com/office/drawing/2014/main" id="{134BC496-75F4-4DD7-A3DD-8F2DF3105C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65632"/>
            <a:ext cx="4953323" cy="4953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416569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800" b="1" i="0" dirty="0">
                <a:solidFill>
                  <a:srgbClr val="FF0000"/>
                </a:solidFill>
                <a:effectLst/>
              </a:rPr>
              <a:t>Definición- Objetivo</a:t>
            </a:r>
          </a:p>
          <a:p>
            <a:pPr marL="0" indent="0">
              <a:buNone/>
            </a:pPr>
            <a:endParaRPr lang="es-ES" sz="1700" b="1" i="0" dirty="0">
              <a:solidFill>
                <a:srgbClr val="FF0000"/>
              </a:solidFill>
              <a:effectLst/>
            </a:endParaRPr>
          </a:p>
          <a:p>
            <a:pPr marL="0" indent="0" algn="l" fontAlgn="base">
              <a:buNone/>
            </a:pPr>
            <a:r>
              <a:rPr lang="es-ES" b="0" i="0" dirty="0">
                <a:solidFill>
                  <a:srgbClr val="444340"/>
                </a:solidFill>
                <a:effectLst/>
                <a:latin typeface="Ubuntu"/>
              </a:rPr>
              <a:t>El propósito de la práctica de gestión de activos de TI es planificar y gestionar el ciclo de vida completo de todos los activos de TI, para ayudar a la organización a:</a:t>
            </a:r>
          </a:p>
          <a:p>
            <a:pPr lvl="1" fontAlgn="base"/>
            <a:r>
              <a:rPr lang="es-ES" sz="2800" b="0" i="0" dirty="0">
                <a:solidFill>
                  <a:srgbClr val="444340"/>
                </a:solidFill>
                <a:effectLst/>
                <a:latin typeface="inherit"/>
              </a:rPr>
              <a:t>maximizar el valor</a:t>
            </a:r>
          </a:p>
          <a:p>
            <a:pPr lvl="1" fontAlgn="base"/>
            <a:r>
              <a:rPr lang="es-ES" sz="2800" b="0" i="0" dirty="0">
                <a:solidFill>
                  <a:srgbClr val="444340"/>
                </a:solidFill>
                <a:effectLst/>
                <a:latin typeface="inherit"/>
              </a:rPr>
              <a:t>controlar los costos</a:t>
            </a:r>
          </a:p>
          <a:p>
            <a:pPr lvl="1" fontAlgn="base"/>
            <a:r>
              <a:rPr lang="es-ES" sz="2800" b="0" i="0" dirty="0">
                <a:solidFill>
                  <a:srgbClr val="444340"/>
                </a:solidFill>
                <a:effectLst/>
                <a:latin typeface="inherit"/>
              </a:rPr>
              <a:t>gestionar riesgos</a:t>
            </a:r>
          </a:p>
          <a:p>
            <a:pPr lvl="1" fontAlgn="base"/>
            <a:r>
              <a:rPr lang="es-ES" sz="2800" b="0" i="0" dirty="0">
                <a:solidFill>
                  <a:srgbClr val="444340"/>
                </a:solidFill>
                <a:effectLst/>
                <a:latin typeface="inherit"/>
              </a:rPr>
              <a:t>Apoyar la toma de decisiones sobre compra, reutilización, retiro y disposición de activos.</a:t>
            </a:r>
          </a:p>
          <a:p>
            <a:pPr lvl="1" fontAlgn="base"/>
            <a:r>
              <a:rPr lang="es-ES" sz="2800" b="0" i="0" dirty="0">
                <a:solidFill>
                  <a:srgbClr val="444340"/>
                </a:solidFill>
                <a:effectLst/>
                <a:latin typeface="inherit"/>
              </a:rPr>
              <a:t>cumplir con los requisitos reglamentarios y contractuales.</a:t>
            </a:r>
          </a:p>
          <a:p>
            <a:pPr fontAlgn="base"/>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502277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800" b="1" i="0" dirty="0">
                <a:solidFill>
                  <a:srgbClr val="FF0000"/>
                </a:solidFill>
                <a:effectLst/>
              </a:rPr>
              <a:t>Definición</a:t>
            </a:r>
          </a:p>
          <a:p>
            <a:pPr marL="0" indent="0">
              <a:buNone/>
            </a:pPr>
            <a:endParaRPr lang="es-ES" sz="1700" b="1" i="0" dirty="0">
              <a:solidFill>
                <a:srgbClr val="FF0000"/>
              </a:solidFill>
              <a:effectLst/>
            </a:endParaRPr>
          </a:p>
          <a:p>
            <a:pPr marL="0" indent="0" algn="l" fontAlgn="base">
              <a:buNone/>
            </a:pPr>
            <a:r>
              <a:rPr lang="es-ES" b="1" i="0" dirty="0">
                <a:solidFill>
                  <a:srgbClr val="444340"/>
                </a:solidFill>
                <a:effectLst/>
                <a:latin typeface="Ubuntu"/>
              </a:rPr>
              <a:t>Activo de TI.</a:t>
            </a:r>
            <a:r>
              <a:rPr lang="es-ES" b="0" i="0" dirty="0">
                <a:solidFill>
                  <a:srgbClr val="444340"/>
                </a:solidFill>
                <a:effectLst/>
                <a:latin typeface="Ubuntu"/>
              </a:rPr>
              <a:t> Cualquier componente de valor financiero que pueda contribuir a la entrega de un producto o servicio de TI</a:t>
            </a:r>
            <a:r>
              <a:rPr lang="es-ES" sz="2800" b="0" i="0" dirty="0">
                <a:solidFill>
                  <a:srgbClr val="444340"/>
                </a:solidFill>
                <a:effectLst/>
                <a:latin typeface="inherit"/>
              </a:rPr>
              <a:t>.</a:t>
            </a:r>
          </a:p>
          <a:p>
            <a:pPr fontAlgn="base"/>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95349432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800" b="1" i="0" dirty="0">
                <a:solidFill>
                  <a:srgbClr val="FF0000"/>
                </a:solidFill>
                <a:effectLst/>
              </a:rPr>
              <a:t>Definición</a:t>
            </a:r>
          </a:p>
          <a:p>
            <a:pPr marL="0" indent="0">
              <a:buNone/>
            </a:pPr>
            <a:endParaRPr lang="es-ES" sz="1700" b="1" i="0" dirty="0">
              <a:solidFill>
                <a:srgbClr val="FF0000"/>
              </a:solidFill>
              <a:effectLst/>
            </a:endParaRPr>
          </a:p>
          <a:p>
            <a:pPr marL="0" indent="0" algn="l" fontAlgn="base">
              <a:buNone/>
            </a:pPr>
            <a:r>
              <a:rPr lang="es-ES" b="1" i="0" dirty="0">
                <a:solidFill>
                  <a:srgbClr val="444340"/>
                </a:solidFill>
                <a:effectLst/>
                <a:latin typeface="Ubuntu"/>
              </a:rPr>
              <a:t>Activo de TI.</a:t>
            </a:r>
            <a:r>
              <a:rPr lang="es-ES" b="0" i="0" dirty="0">
                <a:solidFill>
                  <a:srgbClr val="444340"/>
                </a:solidFill>
                <a:effectLst/>
                <a:latin typeface="Ubuntu"/>
              </a:rPr>
              <a:t> Cualquier componente de valor financiero que pueda contribuir a la entrega de un producto o servicio de TI</a:t>
            </a:r>
            <a:r>
              <a:rPr lang="es-ES" sz="2800" b="0" i="0" dirty="0">
                <a:solidFill>
                  <a:srgbClr val="444340"/>
                </a:solidFill>
                <a:effectLst/>
                <a:latin typeface="inherit"/>
              </a:rPr>
              <a:t>.</a:t>
            </a:r>
          </a:p>
          <a:p>
            <a:pPr marL="0" indent="0" algn="l" fontAlgn="base">
              <a:buNone/>
            </a:pPr>
            <a:r>
              <a:rPr lang="es-ES" dirty="0">
                <a:solidFill>
                  <a:srgbClr val="444340"/>
                </a:solidFill>
                <a:latin typeface="inherit"/>
              </a:rPr>
              <a:t>Incluye hardware, software, redes, instalaciones físicas, información, servicios en la nube y dispositivos del cliente.</a:t>
            </a:r>
          </a:p>
          <a:p>
            <a:pPr marL="0" indent="0" algn="l" fontAlgn="base">
              <a:buNone/>
            </a:pPr>
            <a:r>
              <a:rPr lang="es-ES" sz="2800" b="0" i="0" dirty="0">
                <a:solidFill>
                  <a:srgbClr val="444340"/>
                </a:solidFill>
                <a:effectLst/>
                <a:latin typeface="inherit"/>
              </a:rPr>
              <a:t>Tener claro todos los activos que conforman un servicio de TI, da visibilidad de su costo y valor.</a:t>
            </a:r>
          </a:p>
          <a:p>
            <a:pPr fontAlgn="base"/>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93171163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800" b="1" i="0" dirty="0">
                <a:solidFill>
                  <a:srgbClr val="FF0000"/>
                </a:solidFill>
                <a:effectLst/>
              </a:rPr>
              <a:t>Definición</a:t>
            </a:r>
          </a:p>
          <a:p>
            <a:pPr marL="0" indent="0">
              <a:buNone/>
            </a:pPr>
            <a:endParaRPr lang="es-ES" sz="1700" b="1" i="0" dirty="0">
              <a:solidFill>
                <a:srgbClr val="FF0000"/>
              </a:solidFill>
              <a:effectLst/>
            </a:endParaRPr>
          </a:p>
          <a:p>
            <a:pPr marL="0" indent="0" algn="l" fontAlgn="base">
              <a:buNone/>
            </a:pPr>
            <a:r>
              <a:rPr lang="es-ES" b="0" i="0" dirty="0">
                <a:solidFill>
                  <a:srgbClr val="444340"/>
                </a:solidFill>
                <a:effectLst/>
                <a:latin typeface="Ubuntu"/>
              </a:rPr>
              <a:t>En algunos casos, también puede incluir activos que no son de TI, como edificios o información, donde estos tienen un valor financiero y son necesarios para brindar un servicio de TI. </a:t>
            </a:r>
          </a:p>
          <a:p>
            <a:pPr marL="0" indent="0" algn="l" fontAlgn="base">
              <a:buNone/>
            </a:pPr>
            <a:r>
              <a:rPr lang="es-ES" b="0" i="0" dirty="0">
                <a:solidFill>
                  <a:srgbClr val="444340"/>
                </a:solidFill>
                <a:effectLst/>
                <a:latin typeface="Ubuntu"/>
              </a:rPr>
              <a:t>La gestión de activos de TI puede incluir tecnología operativa (OT), incluidos los dispositivos que forman parte del Internet de las cosas. Por lo general, estos son dispositivos que tradicionalmente no se consideraban activos de TI, pero que ahora incluyen capacidad informática integrada y conectividad de red.</a:t>
            </a:r>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08192264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92500" lnSpcReduction="10000"/>
          </a:bodyPr>
          <a:lstStyle/>
          <a:p>
            <a:pPr marL="0" indent="0">
              <a:buNone/>
            </a:pPr>
            <a:r>
              <a:rPr lang="es-ES" sz="4400" b="1" i="0" dirty="0">
                <a:solidFill>
                  <a:srgbClr val="FF0000"/>
                </a:solidFill>
                <a:effectLst/>
              </a:rPr>
              <a:t>Tipos de gestión de activos</a:t>
            </a:r>
            <a:endParaRPr lang="es-ES" sz="4800" b="1" i="0" dirty="0">
              <a:solidFill>
                <a:srgbClr val="FF0000"/>
              </a:solidFill>
              <a:effectLst/>
            </a:endParaRPr>
          </a:p>
          <a:p>
            <a:pPr marL="0" indent="0">
              <a:buNone/>
            </a:pPr>
            <a:endParaRPr lang="es-ES" sz="1700" b="1" i="0" dirty="0">
              <a:solidFill>
                <a:srgbClr val="FF0000"/>
              </a:solidFill>
              <a:effectLst/>
            </a:endParaRPr>
          </a:p>
          <a:p>
            <a:pPr marL="0" indent="0" algn="l" fontAlgn="base">
              <a:buNone/>
            </a:pPr>
            <a:r>
              <a:rPr lang="es-ES" b="0" i="0" dirty="0">
                <a:solidFill>
                  <a:srgbClr val="444340"/>
                </a:solidFill>
                <a:effectLst/>
                <a:latin typeface="Ubuntu"/>
              </a:rPr>
              <a:t>La gestión de activos es una práctica bien establecida que incluye la adquisición, operación, cuidado y disposición de activos organizacionales, particularmente los que conforman la infraestructura crítica.</a:t>
            </a:r>
            <a:endParaRPr lang="es-ES" sz="2800" b="0" i="0" dirty="0">
              <a:solidFill>
                <a:srgbClr val="444340"/>
              </a:solidFill>
              <a:effectLst/>
              <a:latin typeface="inherit"/>
            </a:endParaRPr>
          </a:p>
          <a:p>
            <a:pPr algn="l" fontAlgn="base"/>
            <a:r>
              <a:rPr lang="es-ES" b="1" i="0" dirty="0">
                <a:solidFill>
                  <a:srgbClr val="FF0000"/>
                </a:solidFill>
                <a:effectLst/>
                <a:latin typeface="Ubuntu"/>
              </a:rPr>
              <a:t>La gestión de activos de TI (</a:t>
            </a:r>
            <a:r>
              <a:rPr lang="es-ES" b="1" i="0" dirty="0" err="1">
                <a:solidFill>
                  <a:srgbClr val="FF0000"/>
                </a:solidFill>
                <a:effectLst/>
                <a:latin typeface="Ubuntu"/>
              </a:rPr>
              <a:t>ITAM</a:t>
            </a:r>
            <a:r>
              <a:rPr lang="es-ES" b="1" i="0" dirty="0">
                <a:solidFill>
                  <a:srgbClr val="FF0000"/>
                </a:solidFill>
                <a:effectLst/>
                <a:latin typeface="Ubuntu"/>
              </a:rPr>
              <a:t>) </a:t>
            </a:r>
            <a:r>
              <a:rPr lang="es-ES" b="0" i="0" dirty="0">
                <a:solidFill>
                  <a:srgbClr val="444340"/>
                </a:solidFill>
                <a:effectLst/>
                <a:latin typeface="Ubuntu"/>
              </a:rPr>
              <a:t>es una </a:t>
            </a:r>
            <a:r>
              <a:rPr lang="es-ES" b="0" i="0" dirty="0" err="1">
                <a:solidFill>
                  <a:srgbClr val="444340"/>
                </a:solidFill>
                <a:effectLst/>
                <a:latin typeface="Ubuntu"/>
              </a:rPr>
              <a:t>subpráctica</a:t>
            </a:r>
            <a:r>
              <a:rPr lang="es-ES" b="0" i="0" dirty="0">
                <a:solidFill>
                  <a:srgbClr val="444340"/>
                </a:solidFill>
                <a:effectLst/>
                <a:latin typeface="Ubuntu"/>
              </a:rPr>
              <a:t> de la gestión de activos que tiene como objetivo específico gestionar los ciclos de vida y los costes totales de los equipos y la infraestructura de TI.</a:t>
            </a:r>
          </a:p>
          <a:p>
            <a:pPr algn="l" fontAlgn="base"/>
            <a:r>
              <a:rPr lang="es-ES" b="1" i="0" dirty="0">
                <a:solidFill>
                  <a:srgbClr val="FF0000"/>
                </a:solidFill>
                <a:effectLst/>
                <a:latin typeface="Ubuntu"/>
              </a:rPr>
              <a:t>La gestión de activos de software (SAM) </a:t>
            </a:r>
            <a:r>
              <a:rPr lang="es-ES" b="0" i="0" dirty="0">
                <a:solidFill>
                  <a:srgbClr val="444340"/>
                </a:solidFill>
                <a:effectLst/>
                <a:latin typeface="Ubuntu"/>
              </a:rPr>
              <a:t>es un aspecto de la gestión de activos de TI que tiene como objetivo específico gestionar la adquisición, desarrollo, lanzamiento, implementación, mantenimiento y eventual retiro de activos de software. Los procedimientos SAM proporcionan una gestión, control y protección eficaces de los activos de software</a:t>
            </a:r>
          </a:p>
          <a:p>
            <a:pPr fontAlgn="base"/>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28228816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400" b="1" i="0" dirty="0">
                <a:solidFill>
                  <a:srgbClr val="FF0000"/>
                </a:solidFill>
                <a:effectLst/>
              </a:rPr>
              <a:t>Tipos de gestión de activos</a:t>
            </a:r>
            <a:endParaRPr lang="es-ES" sz="4800" b="1" i="0" dirty="0">
              <a:solidFill>
                <a:srgbClr val="FF0000"/>
              </a:solidFill>
              <a:effectLst/>
            </a:endParaRPr>
          </a:p>
          <a:p>
            <a:pPr marL="0" indent="0">
              <a:buNone/>
            </a:pPr>
            <a:endParaRPr lang="es-ES" sz="1700" b="1" i="0" dirty="0">
              <a:solidFill>
                <a:srgbClr val="FF0000"/>
              </a:solidFill>
              <a:effectLst/>
            </a:endParaRPr>
          </a:p>
          <a:p>
            <a:pPr marL="0" indent="0" algn="l" fontAlgn="base">
              <a:buNone/>
            </a:pPr>
            <a:r>
              <a:rPr lang="es-ES" b="0" i="0" dirty="0">
                <a:solidFill>
                  <a:srgbClr val="444340"/>
                </a:solidFill>
                <a:effectLst/>
                <a:latin typeface="Ubuntu"/>
              </a:rPr>
              <a:t>Comprender el costo y el valor de los activos es esencial para comprender también el costo y el valor de los productos y servicios y, por lo tanto, es un factor de apoyo importante en todo lo que hace el proveedor de servicios. La gestión de activos de TI contribuye a la visibilidad de los activos y su valor, que es un elemento clave para una gestión de servicios exitosa, además de ser útil para otras prácticas.</a:t>
            </a:r>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72243374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92500" lnSpcReduction="10000"/>
          </a:bodyPr>
          <a:lstStyle/>
          <a:p>
            <a:pPr marL="0" indent="0">
              <a:buNone/>
            </a:pPr>
            <a:r>
              <a:rPr lang="es-ES" sz="4400" b="1" i="0" dirty="0">
                <a:solidFill>
                  <a:srgbClr val="FF0000"/>
                </a:solidFill>
                <a:effectLst/>
              </a:rPr>
              <a:t>Consideraciones</a:t>
            </a:r>
            <a:endParaRPr lang="es-ES" sz="4800" b="1" i="0" dirty="0">
              <a:solidFill>
                <a:srgbClr val="FF0000"/>
              </a:solidFill>
              <a:effectLst/>
            </a:endParaRPr>
          </a:p>
          <a:p>
            <a:pPr marL="0" indent="0">
              <a:buNone/>
            </a:pPr>
            <a:endParaRPr lang="es-ES" sz="1700" b="1" i="0" dirty="0">
              <a:solidFill>
                <a:srgbClr val="FF0000"/>
              </a:solidFill>
              <a:effectLst/>
            </a:endParaRPr>
          </a:p>
          <a:p>
            <a:pPr marL="0" indent="0" algn="l" fontAlgn="base">
              <a:buNone/>
            </a:pPr>
            <a:r>
              <a:rPr lang="es-ES" b="0" i="0" dirty="0">
                <a:solidFill>
                  <a:srgbClr val="444340"/>
                </a:solidFill>
                <a:effectLst/>
                <a:latin typeface="Ubuntu"/>
              </a:rPr>
              <a:t>La gestión de activos de TI requiere información de inventario precisa, que se mantiene en un registro de activos. Esta información se puede recopilar en una auditoría, pero es mucho mejor capturarla como parte de los procesos que cambian el estado de los activos, por ejemplo, cuando se entrega nuevo hardware o cuando se solicita una nueva instancia de un servicio en la nube. Si la gestión de activos de TI tiene buenas interfaces con otras prácticas, incluida la gestión de la configuración del servicio, la gestión de incidentes, el control de cambios y la gestión de la implementación, entonces la información del estado de los activos se puede mantener con menos esfuerzo. Las auditorías siguen siendo necesarias, pero pueden ser menos frecuentes y más fáciles de realizar cuando ya existe un registro de activos preciso.</a:t>
            </a:r>
            <a:endParaRPr lang="es-ES" b="0" i="0" dirty="0">
              <a:solidFill>
                <a:srgbClr val="444340"/>
              </a:solidFill>
              <a:effectLst/>
            </a:endParaRPr>
          </a:p>
          <a:p>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40221836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92500" lnSpcReduction="10000"/>
          </a:bodyPr>
          <a:lstStyle/>
          <a:p>
            <a:pPr marL="0" indent="0">
              <a:buNone/>
            </a:pPr>
            <a:r>
              <a:rPr lang="es-ES" sz="4400" b="1" i="0" dirty="0">
                <a:solidFill>
                  <a:srgbClr val="FF0000"/>
                </a:solidFill>
                <a:effectLst/>
              </a:rPr>
              <a:t>Consideraciones – caso </a:t>
            </a:r>
            <a:r>
              <a:rPr lang="es-ES" sz="4400" b="1" i="0" dirty="0" err="1">
                <a:solidFill>
                  <a:srgbClr val="FF0000"/>
                </a:solidFill>
                <a:effectLst/>
              </a:rPr>
              <a:t>pr</a:t>
            </a:r>
            <a:r>
              <a:rPr lang="es-EC" sz="4400" b="1" dirty="0">
                <a:solidFill>
                  <a:srgbClr val="FF0000"/>
                </a:solidFill>
              </a:rPr>
              <a:t>a</a:t>
            </a:r>
            <a:r>
              <a:rPr lang="es-EC" sz="4400" b="1" i="0" dirty="0">
                <a:solidFill>
                  <a:srgbClr val="FF0000"/>
                </a:solidFill>
                <a:effectLst/>
              </a:rPr>
              <a:t>ctico</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Algunas organizaciones descubren la necesidad de una gestión de activos de TI después de que un proveedor de software solicita una auditoría del uso de la licencia. Esto puede ser muy estresante si no se ha mantenido la información requerida y puede generar costos significativos, tanto en la realización de la auditoría como en el pago de los costos de licencia adicionales que se identifiquen. Es mucho más barato y más fácil simplemente mantener información sobre el uso de licencias de software como parte de la actividad normal de administración de activos de TI, y proporcionarla en respuesta a las solicitudes de los proveedores. El software se ejecuta en hardware, por lo que la gestión de los activos de software y hardware debe combinarse para garantizar que todas las licencias se gestionen correctamente. Por la misma razón, también debe incluirse la gestión de activos basados en la nube.</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20521706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92500" lnSpcReduction="10000"/>
          </a:bodyPr>
          <a:lstStyle/>
          <a:p>
            <a:pPr marL="0" indent="0">
              <a:buNone/>
            </a:pPr>
            <a:r>
              <a:rPr lang="es-ES" sz="4400" b="1" i="0" dirty="0">
                <a:solidFill>
                  <a:srgbClr val="FF0000"/>
                </a:solidFill>
                <a:effectLst/>
              </a:rPr>
              <a:t>Consideraciones – caso </a:t>
            </a:r>
            <a:r>
              <a:rPr lang="es-ES" sz="4400" b="1" i="0" dirty="0" err="1">
                <a:solidFill>
                  <a:srgbClr val="FF0000"/>
                </a:solidFill>
                <a:effectLst/>
              </a:rPr>
              <a:t>pr</a:t>
            </a:r>
            <a:r>
              <a:rPr lang="es-EC" sz="4400" b="1" dirty="0">
                <a:solidFill>
                  <a:srgbClr val="FF0000"/>
                </a:solidFill>
              </a:rPr>
              <a:t>a</a:t>
            </a:r>
            <a:r>
              <a:rPr lang="es-EC" sz="4400" b="1" i="0" dirty="0">
                <a:solidFill>
                  <a:srgbClr val="FF0000"/>
                </a:solidFill>
                <a:effectLst/>
              </a:rPr>
              <a:t>ctico</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Algunas organizaciones descubren la necesidad de una gestión de activos de TI después de que un proveedor de software solicita una auditoría del uso de la licencia. Esto puede ser muy estresante si no se ha mantenido la información requerida y puede generar costos significativos, tanto en la realización de la auditoría como en el pago de los costos de licencia adicionales que se identifiquen. Es mucho más barato y más fácil simplemente mantener información sobre el uso de licencias de software como parte de la actividad normal de administración de activos de TI, y proporcionarla en respuesta a las solicitudes de los proveedores. El software se ejecuta en hardware, por lo que la gestión de los activos de software y hardware debe combinarse para garantizar que todas las licencias se gestionen correctamente. Por la misma razón, también debe incluirse la gestión de activos basados en la nube.</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5332094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S" sz="4400" b="1" i="0" dirty="0">
                <a:solidFill>
                  <a:srgbClr val="FF0000"/>
                </a:solidFill>
                <a:effectLst/>
              </a:rPr>
              <a:t>Consideraciones – caso </a:t>
            </a:r>
            <a:r>
              <a:rPr lang="es-ES" sz="4400" b="1" i="0" dirty="0" err="1">
                <a:solidFill>
                  <a:srgbClr val="FF0000"/>
                </a:solidFill>
                <a:effectLst/>
              </a:rPr>
              <a:t>pr</a:t>
            </a:r>
            <a:r>
              <a:rPr lang="es-EC" sz="4400" b="1" dirty="0">
                <a:solidFill>
                  <a:srgbClr val="FF0000"/>
                </a:solidFill>
              </a:rPr>
              <a:t>a</a:t>
            </a:r>
            <a:r>
              <a:rPr lang="es-EC" sz="4400" b="1" i="0" dirty="0">
                <a:solidFill>
                  <a:srgbClr val="FF0000"/>
                </a:solidFill>
                <a:effectLst/>
              </a:rPr>
              <a:t>ctico</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El costo de los servicios en la nube puede salirse fácilmente de control si la organización no los administra de la misma manera que otros activos de TI. Cada uso individual de un servicio en la nube puede ser relativamente barato, pero al gastar en pequeñas cantidades es fácil consumir muchos más recursos de lo planeado, dejando a la organización con una factura correspondientemente grande. Una vez más, una buena gestión de activos de TI puede ayudar a controlar esto</a:t>
            </a:r>
            <a:endParaRPr lang="es-ES" sz="4000" dirty="0">
              <a:solidFill>
                <a:srgbClr val="44434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66354129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Tipos de activos</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sz="3200" b="0" i="0" dirty="0">
                <a:solidFill>
                  <a:srgbClr val="444340"/>
                </a:solidFill>
                <a:effectLst/>
                <a:latin typeface="Ubuntu"/>
              </a:rPr>
              <a:t>Las actividades y requisitos de la gestión de activos de TI variarán para diferentes tipos de activos: </a:t>
            </a:r>
          </a:p>
          <a:p>
            <a:pPr marL="0" indent="0" algn="l" fontAlgn="base">
              <a:buNone/>
            </a:pPr>
            <a:endParaRPr lang="es-ES" sz="4000" dirty="0">
              <a:solidFill>
                <a:srgbClr val="444340"/>
              </a:solidFill>
              <a:latin typeface="Ubuntu"/>
            </a:endParaRPr>
          </a:p>
          <a:p>
            <a:pPr lvl="1" fontAlgn="base"/>
            <a:r>
              <a:rPr lang="es-ES" sz="2800" dirty="0">
                <a:solidFill>
                  <a:srgbClr val="444340"/>
                </a:solidFill>
                <a:latin typeface="Ubuntu"/>
              </a:rPr>
              <a:t>Los activos de </a:t>
            </a:r>
            <a:r>
              <a:rPr lang="es-ES" sz="2800" b="1" dirty="0">
                <a:solidFill>
                  <a:srgbClr val="FF0000"/>
                </a:solidFill>
                <a:latin typeface="Ubuntu"/>
              </a:rPr>
              <a:t>Hardware</a:t>
            </a:r>
          </a:p>
          <a:p>
            <a:pPr lvl="1" fontAlgn="base"/>
            <a:r>
              <a:rPr lang="es-ES" sz="2800" dirty="0">
                <a:solidFill>
                  <a:srgbClr val="444340"/>
                </a:solidFill>
                <a:latin typeface="Ubuntu"/>
              </a:rPr>
              <a:t>Los activos de </a:t>
            </a:r>
            <a:r>
              <a:rPr lang="es-ES" sz="2800" b="1" dirty="0">
                <a:solidFill>
                  <a:srgbClr val="FF0000"/>
                </a:solidFill>
                <a:latin typeface="Ubuntu"/>
              </a:rPr>
              <a:t>Software</a:t>
            </a:r>
          </a:p>
          <a:p>
            <a:pPr lvl="1" fontAlgn="base"/>
            <a:r>
              <a:rPr lang="es-ES" sz="2800" dirty="0">
                <a:solidFill>
                  <a:srgbClr val="444340"/>
                </a:solidFill>
                <a:latin typeface="Ubuntu"/>
              </a:rPr>
              <a:t>Los activos </a:t>
            </a:r>
            <a:r>
              <a:rPr lang="es-ES" sz="2800" b="1" dirty="0">
                <a:solidFill>
                  <a:srgbClr val="FF0000"/>
                </a:solidFill>
                <a:latin typeface="Ubuntu"/>
              </a:rPr>
              <a:t>basados en la nube</a:t>
            </a:r>
          </a:p>
          <a:p>
            <a:pPr lvl="1" fontAlgn="base"/>
            <a:r>
              <a:rPr lang="es-ES" sz="2800" dirty="0">
                <a:solidFill>
                  <a:srgbClr val="444340"/>
                </a:solidFill>
                <a:latin typeface="Ubuntu"/>
              </a:rPr>
              <a:t>Los activos del </a:t>
            </a:r>
            <a:r>
              <a:rPr lang="es-ES" sz="2800" b="1" dirty="0">
                <a:solidFill>
                  <a:srgbClr val="FF0000"/>
                </a:solidFill>
                <a:latin typeface="Ubuntu"/>
              </a:rPr>
              <a:t>cliente</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29271820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Tipos de activos</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1" i="0" dirty="0">
                <a:solidFill>
                  <a:srgbClr val="FF0000"/>
                </a:solidFill>
                <a:effectLst/>
                <a:latin typeface="Ubuntu"/>
              </a:rPr>
              <a:t>Los activos de hardware</a:t>
            </a:r>
            <a:r>
              <a:rPr lang="es-ES" b="0" i="0" dirty="0">
                <a:solidFill>
                  <a:srgbClr val="FF0000"/>
                </a:solidFill>
                <a:effectLst/>
                <a:latin typeface="Ubuntu"/>
              </a:rPr>
              <a:t> </a:t>
            </a:r>
            <a:r>
              <a:rPr lang="es-ES" b="0" i="0" dirty="0">
                <a:solidFill>
                  <a:srgbClr val="444340"/>
                </a:solidFill>
                <a:effectLst/>
                <a:latin typeface="Ubuntu"/>
              </a:rPr>
              <a:t>deben estar etiquetados para una identificación clara. Es importante saber dónde están y ayudar a protegerlos contra robos, daños y filtración de datos. Es posible que necesiten un manejo especial cuando se reutilicen o se desmantelen; por ejemplo, la eliminación o destrucción de unidades de disco depende de los requisitos de seguridad de la información. Los activos de hardware también pueden estar sujetos a requisitos reglamentarios, como la Directiva de equipos electrónicos y eléctricos de desecho de la UE.</a:t>
            </a:r>
            <a:endParaRPr lang="es-ES" sz="3600" b="1" dirty="0">
              <a:solidFill>
                <a:srgbClr val="FF000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49424117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Tipos de activos</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1" i="0" dirty="0">
                <a:solidFill>
                  <a:srgbClr val="FF0000"/>
                </a:solidFill>
                <a:effectLst/>
                <a:latin typeface="Ubuntu"/>
              </a:rPr>
              <a:t>Los activos de software</a:t>
            </a:r>
            <a:r>
              <a:rPr lang="es-ES" b="0" i="0" dirty="0">
                <a:solidFill>
                  <a:srgbClr val="FF0000"/>
                </a:solidFill>
                <a:effectLst/>
                <a:latin typeface="Ubuntu"/>
              </a:rPr>
              <a:t> </a:t>
            </a:r>
            <a:r>
              <a:rPr lang="es-ES" b="0" i="0" dirty="0">
                <a:solidFill>
                  <a:srgbClr val="444340"/>
                </a:solidFill>
                <a:effectLst/>
                <a:latin typeface="Ubuntu"/>
              </a:rPr>
              <a:t>deben protegerse contra copias ilegales, lo que podría resultar en un uso sin licencia. La organización debe asegurarse de que se cumplan los términos de la licencia y de que las licencias solo se reutilicen en las formas permitidas en el contrato. Es importante conservar el comprobante de compra verificado y el derecho a ejecutar el software. Es muy fácil perder licencias de software cuando se da de baja el equipo, por lo que es importante que el proceso de gestión de activos de TI recupere estas licencias y las ponga a disposición para su reutilización cuando sea apropiado.</a:t>
            </a:r>
            <a:endParaRPr lang="es-ES" sz="3600" b="1" dirty="0">
              <a:solidFill>
                <a:srgbClr val="FF000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7529994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Tipos de activos</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1" i="0" dirty="0">
                <a:solidFill>
                  <a:srgbClr val="FF0000"/>
                </a:solidFill>
                <a:effectLst/>
                <a:latin typeface="Ubuntu"/>
              </a:rPr>
              <a:t>Los activos basados en la nube</a:t>
            </a:r>
            <a:r>
              <a:rPr lang="es-ES" b="0" i="0" dirty="0">
                <a:solidFill>
                  <a:srgbClr val="FF0000"/>
                </a:solidFill>
                <a:effectLst/>
                <a:latin typeface="Ubuntu"/>
              </a:rPr>
              <a:t> </a:t>
            </a:r>
            <a:r>
              <a:rPr lang="es-ES" b="0" i="0" dirty="0">
                <a:solidFill>
                  <a:srgbClr val="444340"/>
                </a:solidFill>
                <a:effectLst/>
                <a:latin typeface="Ubuntu"/>
              </a:rPr>
              <a:t>deben asignarse a productos o grupos específicos para que los costos se puedan administrar. La financiación debe administrarse de modo que la organización tenga la flexibilidad de invocar nuevas instancias de uso de la nube cuando sea necesario y eliminar las instancias que no se necesitan, sin el riesgo de costos incontrolados. Los acuerdos contractuales deben entenderse y cumplirse, de la misma manera que para las licencias de software.</a:t>
            </a:r>
            <a:endParaRPr lang="es-ES" sz="3600" b="1" dirty="0">
              <a:solidFill>
                <a:srgbClr val="FF000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69016829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Tipos de activos</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1" i="0" dirty="0">
                <a:solidFill>
                  <a:srgbClr val="FF0000"/>
                </a:solidFill>
                <a:effectLst/>
                <a:latin typeface="Ubuntu"/>
              </a:rPr>
              <a:t>Los activos del cliente</a:t>
            </a:r>
            <a:r>
              <a:rPr lang="es-ES" b="0" i="0" dirty="0">
                <a:solidFill>
                  <a:srgbClr val="FF0000"/>
                </a:solidFill>
                <a:effectLst/>
                <a:latin typeface="Ubuntu"/>
              </a:rPr>
              <a:t> </a:t>
            </a:r>
            <a:r>
              <a:rPr lang="es-ES" b="0" i="0" dirty="0">
                <a:solidFill>
                  <a:srgbClr val="444340"/>
                </a:solidFill>
                <a:effectLst/>
                <a:latin typeface="Ubuntu"/>
              </a:rPr>
              <a:t>deben asignarse a personas que asuman la responsabilidad de su cuidado. Se necesitan procesos para administrar dispositivos perdidos o robados, y es posible que se necesiten herramientas para borrar datos confidenciales de ellos o garantizar que estos datos no se pierdan o roben con el dispositivo.</a:t>
            </a:r>
            <a:endParaRPr lang="es-ES" sz="3600" b="1" dirty="0">
              <a:solidFill>
                <a:srgbClr val="FF000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68419771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lnSpcReduction="10000"/>
          </a:bodyPr>
          <a:lstStyle/>
          <a:p>
            <a:pPr marL="0" indent="0">
              <a:buNone/>
            </a:pPr>
            <a:r>
              <a:rPr lang="es-EC" sz="4400" b="1" i="0" dirty="0">
                <a:solidFill>
                  <a:srgbClr val="FF0000"/>
                </a:solidFill>
                <a:effectLst/>
              </a:rPr>
              <a:t>Manejos de activos – aplicación real </a:t>
            </a:r>
            <a:endParaRPr lang="es-ES" sz="4800" b="1" i="0" dirty="0">
              <a:solidFill>
                <a:srgbClr val="FF0000"/>
              </a:solidFill>
              <a:effectLst/>
            </a:endParaRP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En algunas organizaciones hay un equipo centralizado responsable de la gestión de activos de TI. Este equipo también puede ser responsable de la gestión de la configuración. En otras organizaciones, cada equipo técnico puede ser responsable de la gestión de los activos de TI que respaldan; por ejemplo, el equipo de almacenamiento podría administrar los activos de almacenamiento mientras que el equipo de redes administra los activos de la red. Cada organización debe considerar su propio contexto y cultura para elegir el nivel apropiado de centralización. Sin embargo, tener algunos roles centrales ayuda a garantizar la calidad de los datos de los activos y el desarrollo de experiencia en aspectos específicos como las licencias de software y los sistemas de inventario.</a:t>
            </a:r>
            <a:endParaRPr lang="es-ES" sz="3600" b="1" dirty="0">
              <a:solidFill>
                <a:srgbClr val="FF0000"/>
              </a:solidFill>
              <a:latin typeface="Ubuntu"/>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1705274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fontScale="85000" lnSpcReduction="20000"/>
          </a:bodyPr>
          <a:lstStyle/>
          <a:p>
            <a:pPr marL="0" indent="0">
              <a:buNone/>
            </a:pPr>
            <a:r>
              <a:rPr lang="es-EC" sz="4400" b="1" i="0" dirty="0">
                <a:solidFill>
                  <a:srgbClr val="FF0000"/>
                </a:solidFill>
                <a:effectLst/>
              </a:rPr>
              <a:t>Actividades en la gestión de activos de TI</a:t>
            </a:r>
            <a:endParaRPr lang="es-ES" sz="1100" b="1" i="0" dirty="0">
              <a:solidFill>
                <a:srgbClr val="FF0000"/>
              </a:solidFill>
              <a:effectLst/>
            </a:endParaRPr>
          </a:p>
          <a:p>
            <a:pPr marL="0" indent="0" algn="l" fontAlgn="base">
              <a:buNone/>
            </a:pPr>
            <a:r>
              <a:rPr lang="es-ES" b="0" i="0" dirty="0">
                <a:solidFill>
                  <a:srgbClr val="444340"/>
                </a:solidFill>
                <a:effectLst/>
              </a:rPr>
              <a:t>La gestión de activos de TI generalmente incluye las siguientes actividades:</a:t>
            </a:r>
          </a:p>
          <a:p>
            <a:pPr algn="l" fontAlgn="base">
              <a:buFont typeface="Arial" panose="020B0604020202020204" pitchFamily="34" charset="0"/>
              <a:buChar char="•"/>
            </a:pPr>
            <a:r>
              <a:rPr lang="es-ES" b="1" i="0" dirty="0">
                <a:solidFill>
                  <a:srgbClr val="FF0000"/>
                </a:solidFill>
                <a:effectLst/>
              </a:rPr>
              <a:t>Definir, completar y mantener</a:t>
            </a:r>
            <a:r>
              <a:rPr lang="es-ES" b="1" i="0" dirty="0">
                <a:solidFill>
                  <a:srgbClr val="444340"/>
                </a:solidFill>
                <a:effectLst/>
              </a:rPr>
              <a:t> </a:t>
            </a:r>
            <a:r>
              <a:rPr lang="es-ES" b="0" i="0" dirty="0">
                <a:solidFill>
                  <a:srgbClr val="444340"/>
                </a:solidFill>
                <a:effectLst/>
              </a:rPr>
              <a:t>el registro de activos en términos de estructura y contenido, y las instalaciones de almacenamiento de activos y medios relacionados.</a:t>
            </a:r>
          </a:p>
          <a:p>
            <a:pPr algn="l" fontAlgn="base">
              <a:buFont typeface="Arial" panose="020B0604020202020204" pitchFamily="34" charset="0"/>
              <a:buChar char="•"/>
            </a:pPr>
            <a:r>
              <a:rPr lang="es-ES" b="1" i="0" dirty="0">
                <a:solidFill>
                  <a:srgbClr val="FF0000"/>
                </a:solidFill>
                <a:effectLst/>
              </a:rPr>
              <a:t>Controle el ciclo de vida </a:t>
            </a:r>
            <a:r>
              <a:rPr lang="es-ES" b="0" i="0" dirty="0">
                <a:solidFill>
                  <a:srgbClr val="444340"/>
                </a:solidFill>
                <a:effectLst/>
              </a:rPr>
              <a:t>de los activos en colaboración con otras prácticas (por ejemplo, la actualización de software obsoleto o la incorporación de nuevos miembros del personal con una computadora portátil y un teléfono móvil) y registre todos los cambios en los activos (estado, ubicación, características, asignación, etc.)</a:t>
            </a:r>
          </a:p>
          <a:p>
            <a:pPr algn="l" fontAlgn="base">
              <a:buFont typeface="Arial" panose="020B0604020202020204" pitchFamily="34" charset="0"/>
              <a:buChar char="•"/>
            </a:pPr>
            <a:r>
              <a:rPr lang="es-ES" b="1" i="0" dirty="0">
                <a:solidFill>
                  <a:srgbClr val="FF0000"/>
                </a:solidFill>
                <a:effectLst/>
              </a:rPr>
              <a:t>Proporcione datos, informes y soporte</a:t>
            </a:r>
            <a:r>
              <a:rPr lang="es-ES" b="0" i="0" dirty="0">
                <a:solidFill>
                  <a:srgbClr val="FF0000"/>
                </a:solidFill>
                <a:effectLst/>
              </a:rPr>
              <a:t> </a:t>
            </a:r>
            <a:r>
              <a:rPr lang="es-ES" b="0" i="0" dirty="0">
                <a:solidFill>
                  <a:srgbClr val="444340"/>
                </a:solidFill>
                <a:effectLst/>
              </a:rPr>
              <a:t>actuales e históricos a otras prácticas sobre activos de TI.</a:t>
            </a:r>
          </a:p>
          <a:p>
            <a:pPr algn="l" fontAlgn="base">
              <a:buFont typeface="Arial" panose="020B0604020202020204" pitchFamily="34" charset="0"/>
              <a:buChar char="•"/>
            </a:pPr>
            <a:r>
              <a:rPr lang="es-ES" b="1" i="0" dirty="0">
                <a:solidFill>
                  <a:srgbClr val="FF0000"/>
                </a:solidFill>
                <a:effectLst/>
              </a:rPr>
              <a:t>Audite los activos</a:t>
            </a:r>
            <a:r>
              <a:rPr lang="es-ES" b="0" i="0" dirty="0">
                <a:solidFill>
                  <a:srgbClr val="444340"/>
                </a:solidFill>
                <a:effectLst/>
              </a:rPr>
              <a:t>, los medios relacionados y la conformidad (particularmente con las regulaciones y los términos y condiciones de la licencia) e impulse mejoras correctivas y preventivas para hacer frente a los problemas detectados.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55023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Activos de TI</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82A1082E-495E-40A2-B28F-9DFF301919A5}"/>
              </a:ext>
            </a:extLst>
          </p:cNvPr>
          <p:cNvPicPr>
            <a:picLocks noChangeAspect="1"/>
          </p:cNvPicPr>
          <p:nvPr/>
        </p:nvPicPr>
        <p:blipFill>
          <a:blip r:embed="rId2"/>
          <a:stretch>
            <a:fillRect/>
          </a:stretch>
        </p:blipFill>
        <p:spPr>
          <a:xfrm>
            <a:off x="870912" y="1082040"/>
            <a:ext cx="10220491" cy="5729023"/>
          </a:xfrm>
          <a:prstGeom prst="rect">
            <a:avLst/>
          </a:prstGeom>
        </p:spPr>
      </p:pic>
    </p:spTree>
    <p:extLst>
      <p:ext uri="{BB962C8B-B14F-4D97-AF65-F5344CB8AC3E}">
        <p14:creationId xmlns:p14="http://schemas.microsoft.com/office/powerpoint/2010/main" val="60214133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13. Monitoreo y Gestión de Eventos</a:t>
            </a:r>
          </a:p>
          <a:p>
            <a:endParaRPr lang="es-EC" sz="2200" dirty="0"/>
          </a:p>
          <a:p>
            <a:endParaRPr lang="es-EC" sz="2200" b="1" dirty="0"/>
          </a:p>
        </p:txBody>
      </p:sp>
      <p:pic>
        <p:nvPicPr>
          <p:cNvPr id="12290" name="Picture 2" descr="BLOG | PERÚ | TECNOLOGÍA | PROYECTOS | PROCESOS - INNOVAXIONES | Tecnología  para el trabajo">
            <a:extLst>
              <a:ext uri="{FF2B5EF4-FFF2-40B4-BE49-F238E27FC236}">
                <a16:creationId xmlns:a16="http://schemas.microsoft.com/office/drawing/2014/main" id="{8359BE89-6E82-4E38-B597-9D7638465D8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39" r="15918"/>
          <a:stretch/>
        </p:blipFill>
        <p:spPr bwMode="auto">
          <a:xfrm>
            <a:off x="5008682" y="865632"/>
            <a:ext cx="6587746" cy="53124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068164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5070717" cy="5245735"/>
          </a:xfrm>
        </p:spPr>
        <p:txBody>
          <a:bodyPr>
            <a:normAutofit/>
          </a:bodyPr>
          <a:lstStyle/>
          <a:p>
            <a:pPr marL="0" indent="0">
              <a:buNone/>
            </a:pPr>
            <a:r>
              <a:rPr lang="es-EC" sz="4400" b="1" i="0" dirty="0">
                <a:solidFill>
                  <a:srgbClr val="FF0000"/>
                </a:solidFill>
                <a:effectLst/>
              </a:rPr>
              <a:t>Definición</a:t>
            </a:r>
            <a:endParaRPr lang="es-ES" sz="1100" b="1" i="0" dirty="0">
              <a:solidFill>
                <a:srgbClr val="FF0000"/>
              </a:solidFill>
              <a:effectLst/>
            </a:endParaRPr>
          </a:p>
          <a:p>
            <a:pPr algn="l" fontAlgn="base"/>
            <a:r>
              <a:rPr lang="es-ES" b="1" i="0" dirty="0">
                <a:solidFill>
                  <a:srgbClr val="444340"/>
                </a:solidFill>
                <a:effectLst/>
                <a:latin typeface="inherit"/>
              </a:rPr>
              <a:t>Evento.</a:t>
            </a:r>
            <a:r>
              <a:rPr lang="es-ES" b="0" i="0" dirty="0">
                <a:solidFill>
                  <a:srgbClr val="444340"/>
                </a:solidFill>
                <a:effectLst/>
                <a:latin typeface="Ubuntu"/>
              </a:rPr>
              <a:t> Cualquier cambio de estado que tenga importancia para la gestión de un servicio u otro elemento de configuración (CI). Los eventos generalmente se reconocen a través de notificaciones creadas por un servicio de TI, CI o herramienta de monitoreo.</a:t>
            </a:r>
          </a:p>
          <a:p>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FE6A393-ABD6-4204-9DDC-D6BD124CF844}"/>
              </a:ext>
            </a:extLst>
          </p:cNvPr>
          <p:cNvPicPr>
            <a:picLocks noChangeAspect="1"/>
          </p:cNvPicPr>
          <p:nvPr/>
        </p:nvPicPr>
        <p:blipFill>
          <a:blip r:embed="rId2"/>
          <a:stretch>
            <a:fillRect/>
          </a:stretch>
        </p:blipFill>
        <p:spPr>
          <a:xfrm>
            <a:off x="6429995" y="2617124"/>
            <a:ext cx="5070717" cy="2776511"/>
          </a:xfrm>
          <a:prstGeom prst="rect">
            <a:avLst/>
          </a:prstGeom>
        </p:spPr>
      </p:pic>
    </p:spTree>
    <p:extLst>
      <p:ext uri="{BB962C8B-B14F-4D97-AF65-F5344CB8AC3E}">
        <p14:creationId xmlns:p14="http://schemas.microsoft.com/office/powerpoint/2010/main" val="380592919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Objetivo</a:t>
            </a:r>
            <a:endParaRPr lang="es-ES" sz="1100" b="1" i="0" dirty="0">
              <a:solidFill>
                <a:srgbClr val="FF0000"/>
              </a:solidFill>
              <a:effectLst/>
            </a:endParaRPr>
          </a:p>
          <a:p>
            <a:pPr marL="0" indent="0" algn="l" fontAlgn="base">
              <a:buNone/>
            </a:pPr>
            <a:r>
              <a:rPr lang="es-ES" b="0" i="0" dirty="0">
                <a:solidFill>
                  <a:srgbClr val="444340"/>
                </a:solidFill>
                <a:effectLst/>
                <a:latin typeface="Ubuntu"/>
              </a:rPr>
              <a:t>El propósito de la práctica de monitoreo y gestión de eventos es observar sistemáticamente los servicios y componentes del servicio, y registrar e informar cambios de estado seleccionados identificados como eventos. Esta práctica identifica y prioriza la infraestructura, los servicios, los procesos comerciales y los eventos de seguridad de la información, y establece la respuesta adecuada a esos eventos, incluida la respuesta a las condiciones que podrían conducir a posibles fallas o incidentes.</a:t>
            </a: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5172070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Objetivo</a:t>
            </a:r>
            <a:endParaRPr lang="es-ES" sz="1100" b="1" i="0" dirty="0">
              <a:solidFill>
                <a:srgbClr val="FF0000"/>
              </a:solidFill>
              <a:effectLst/>
            </a:endParaRPr>
          </a:p>
          <a:p>
            <a:pPr marL="0" indent="0" algn="l" fontAlgn="base">
              <a:buNone/>
            </a:pPr>
            <a:r>
              <a:rPr lang="es-ES" b="0" i="0" dirty="0">
                <a:solidFill>
                  <a:srgbClr val="444340"/>
                </a:solidFill>
                <a:effectLst/>
                <a:latin typeface="Ubuntu"/>
              </a:rPr>
              <a:t>El seguimiento debe realizarse de forma altamente automatizada y puede realizarse de forma activa o pasiva. La parte de gestión de eventos se centra en registrar y gestionar los cambios de estado monitorizados que la organización </a:t>
            </a:r>
            <a:r>
              <a:rPr lang="es-ES" b="0" i="0" dirty="0">
                <a:solidFill>
                  <a:srgbClr val="FF0000"/>
                </a:solidFill>
                <a:effectLst/>
                <a:latin typeface="Ubuntu"/>
              </a:rPr>
              <a:t>define</a:t>
            </a:r>
            <a:r>
              <a:rPr lang="es-ES" b="0" i="0" dirty="0">
                <a:solidFill>
                  <a:srgbClr val="444340"/>
                </a:solidFill>
                <a:effectLst/>
                <a:latin typeface="Ubuntu"/>
              </a:rPr>
              <a:t> como un evento, determinar su importancia e identificar e iniciar la acción de control correcta para gestionarlos. Con frecuencia, la acción de control correcta será iniciar otra práctica, pero a veces será no tomar ninguna otra acción más que continuar monitoreando la situación. El monitoreo es necesario para que se lleve a cabo la gestión de eventos, pero no todos los monitoreos dan como resultado la detección de un evento.</a:t>
            </a: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751862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280374" cy="5000571"/>
          </a:xfrm>
        </p:spPr>
        <p:txBody>
          <a:bodyPr>
            <a:normAutofit fontScale="92500" lnSpcReduction="20000"/>
          </a:bodyPr>
          <a:lstStyle/>
          <a:p>
            <a:pPr marL="0" indent="0">
              <a:buNone/>
            </a:pPr>
            <a:r>
              <a:rPr lang="es-EC" sz="4400" b="1" i="0" dirty="0">
                <a:solidFill>
                  <a:srgbClr val="FF0000"/>
                </a:solidFill>
                <a:effectLst/>
              </a:rPr>
              <a:t>Clasificación de Eventos</a:t>
            </a:r>
            <a:endParaRPr lang="es-ES" sz="1100" b="1" i="0" dirty="0">
              <a:solidFill>
                <a:srgbClr val="FF0000"/>
              </a:solidFill>
              <a:effectLst/>
            </a:endParaRPr>
          </a:p>
          <a:p>
            <a:pPr marL="0" indent="0" algn="l" fontAlgn="base">
              <a:buNone/>
            </a:pPr>
            <a:r>
              <a:rPr lang="es-ES" b="0" i="0" dirty="0">
                <a:solidFill>
                  <a:srgbClr val="444340"/>
                </a:solidFill>
                <a:effectLst/>
                <a:latin typeface="Ubuntu"/>
              </a:rPr>
              <a:t>No todos los eventos tienen el mismo significado ni requieren la misma respuesta. Los eventos a menudo se clasifican como informativos, de advertencia y excepciones:</a:t>
            </a:r>
          </a:p>
          <a:p>
            <a:pPr fontAlgn="base"/>
            <a:r>
              <a:rPr lang="es-ES" i="0" dirty="0">
                <a:solidFill>
                  <a:srgbClr val="444340"/>
                </a:solidFill>
                <a:effectLst/>
                <a:latin typeface="Ubuntu"/>
              </a:rPr>
              <a:t>Los </a:t>
            </a:r>
            <a:r>
              <a:rPr lang="es-ES" b="1" i="0" dirty="0">
                <a:solidFill>
                  <a:srgbClr val="FF0000"/>
                </a:solidFill>
                <a:effectLst/>
                <a:latin typeface="Ubuntu"/>
              </a:rPr>
              <a:t>eventos informativos </a:t>
            </a:r>
            <a:r>
              <a:rPr lang="es-ES" i="0" dirty="0">
                <a:solidFill>
                  <a:srgbClr val="444340"/>
                </a:solidFill>
                <a:effectLst/>
                <a:latin typeface="Ubuntu"/>
              </a:rPr>
              <a:t>no requieren acción en el momento en que se identifican, pero el análisis de los datos recopilados de ellos en una fecha posterior puede revelar pasos proactivos y deseables que pueden ser beneficiosos para el servicio.</a:t>
            </a:r>
          </a:p>
          <a:p>
            <a:pPr fontAlgn="base"/>
            <a:r>
              <a:rPr lang="es-ES" i="0" dirty="0">
                <a:solidFill>
                  <a:srgbClr val="444340"/>
                </a:solidFill>
                <a:effectLst/>
                <a:latin typeface="Ubuntu"/>
              </a:rPr>
              <a:t>Los </a:t>
            </a:r>
            <a:r>
              <a:rPr lang="es-ES" b="1" i="0" dirty="0">
                <a:solidFill>
                  <a:srgbClr val="FF0000"/>
                </a:solidFill>
                <a:effectLst/>
                <a:latin typeface="Ubuntu"/>
              </a:rPr>
              <a:t>eventos de advertencia </a:t>
            </a:r>
            <a:r>
              <a:rPr lang="es-ES" i="0" dirty="0">
                <a:solidFill>
                  <a:srgbClr val="444340"/>
                </a:solidFill>
                <a:effectLst/>
                <a:latin typeface="Ubuntu"/>
              </a:rPr>
              <a:t>permiten que se tomen medidas antes de que la empresa experimente un impacto negativo, mientras que los eventos de excepción indican que se ha identificado una infracción a una norma establecida (por ejemplo, a un acuerdo de nivel de servicio).</a:t>
            </a:r>
          </a:p>
          <a:p>
            <a:pPr fontAlgn="base"/>
            <a:r>
              <a:rPr lang="es-ES" i="0" dirty="0">
                <a:solidFill>
                  <a:srgbClr val="444340"/>
                </a:solidFill>
                <a:effectLst/>
                <a:latin typeface="Ubuntu"/>
              </a:rPr>
              <a:t>Los </a:t>
            </a:r>
            <a:r>
              <a:rPr lang="es-ES" b="1" i="0" dirty="0">
                <a:solidFill>
                  <a:srgbClr val="FF0000"/>
                </a:solidFill>
                <a:effectLst/>
                <a:latin typeface="Ubuntu"/>
              </a:rPr>
              <a:t>eventos de excepción</a:t>
            </a:r>
            <a:r>
              <a:rPr lang="es-ES" i="0" dirty="0">
                <a:solidFill>
                  <a:srgbClr val="FF0000"/>
                </a:solidFill>
                <a:effectLst/>
                <a:latin typeface="Ubuntu"/>
              </a:rPr>
              <a:t> </a:t>
            </a:r>
            <a:r>
              <a:rPr lang="es-ES" i="0" dirty="0">
                <a:solidFill>
                  <a:srgbClr val="444340"/>
                </a:solidFill>
                <a:effectLst/>
                <a:latin typeface="Ubuntu"/>
              </a:rPr>
              <a:t>requieren acción, aunque es posible que aún no se haya experimentado un impacto comercial.</a:t>
            </a:r>
            <a:endParaRPr lang="es-ES"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0401069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280374" cy="5000571"/>
          </a:xfrm>
        </p:spPr>
        <p:txBody>
          <a:bodyPr>
            <a:normAutofit fontScale="85000" lnSpcReduction="20000"/>
          </a:bodyPr>
          <a:lstStyle/>
          <a:p>
            <a:pPr marL="0" indent="0">
              <a:buNone/>
            </a:pPr>
            <a:r>
              <a:rPr lang="es-EC" sz="4400" b="1" i="0" dirty="0">
                <a:solidFill>
                  <a:srgbClr val="FF0000"/>
                </a:solidFill>
                <a:effectLst/>
              </a:rPr>
              <a:t>Actividades del Monitoreo y Gestión de eventos</a:t>
            </a:r>
            <a:endParaRPr lang="es-ES" sz="1100" b="1" i="0" dirty="0">
              <a:solidFill>
                <a:srgbClr val="FF0000"/>
              </a:solidFill>
              <a:effectLst/>
            </a:endParaRPr>
          </a:p>
          <a:p>
            <a:pPr marL="0" indent="0" algn="l" fontAlgn="base">
              <a:buNone/>
            </a:pPr>
            <a:r>
              <a:rPr lang="es-ES" b="0" i="0" dirty="0">
                <a:solidFill>
                  <a:srgbClr val="444340"/>
                </a:solidFill>
                <a:effectLst/>
                <a:latin typeface="Ubuntu"/>
              </a:rPr>
              <a:t>Los procesos y procedimientos necesarios en la práctica de monitoreo y gestión de eventos deben abordar estas actividades clave y más:</a:t>
            </a:r>
          </a:p>
          <a:p>
            <a:pPr algn="l" fontAlgn="base">
              <a:buFont typeface="Arial" panose="020B0604020202020204" pitchFamily="34" charset="0"/>
              <a:buChar char="•"/>
            </a:pPr>
            <a:r>
              <a:rPr lang="es-ES" b="0" i="0" dirty="0">
                <a:solidFill>
                  <a:srgbClr val="FF0000"/>
                </a:solidFill>
                <a:effectLst/>
                <a:latin typeface="inherit"/>
              </a:rPr>
              <a:t>identificar</a:t>
            </a:r>
            <a:r>
              <a:rPr lang="es-ES" b="0" i="0" dirty="0">
                <a:solidFill>
                  <a:srgbClr val="444340"/>
                </a:solidFill>
                <a:effectLst/>
                <a:latin typeface="inherit"/>
              </a:rPr>
              <a:t> qué servicios, sistemas, CI u otros componentes del servicio deben monitorearse, y establecer la estrategia de monitoreo</a:t>
            </a:r>
          </a:p>
          <a:p>
            <a:pPr algn="l" fontAlgn="base">
              <a:buFont typeface="Arial" panose="020B0604020202020204" pitchFamily="34" charset="0"/>
              <a:buChar char="•"/>
            </a:pPr>
            <a:r>
              <a:rPr lang="es-ES" b="0" i="0" dirty="0">
                <a:solidFill>
                  <a:srgbClr val="FF0000"/>
                </a:solidFill>
                <a:effectLst/>
                <a:latin typeface="inherit"/>
              </a:rPr>
              <a:t>Implementar y mantener </a:t>
            </a:r>
            <a:r>
              <a:rPr lang="es-ES" b="0" i="0" dirty="0">
                <a:solidFill>
                  <a:srgbClr val="444340"/>
                </a:solidFill>
                <a:effectLst/>
                <a:latin typeface="inherit"/>
              </a:rPr>
              <a:t>el monitoreo, aprovechando tanto las características de monitoreo nativas de los elementos que se observan como el uso de herramientas de monitoreo diseñadas para un propósito.</a:t>
            </a:r>
          </a:p>
          <a:p>
            <a:pPr algn="l" fontAlgn="base">
              <a:buFont typeface="Arial" panose="020B0604020202020204" pitchFamily="34" charset="0"/>
              <a:buChar char="•"/>
            </a:pPr>
            <a:r>
              <a:rPr lang="es-ES" b="0" i="0" dirty="0">
                <a:solidFill>
                  <a:srgbClr val="FF0000"/>
                </a:solidFill>
                <a:effectLst/>
                <a:latin typeface="inherit"/>
              </a:rPr>
              <a:t>establecer y mantener umbrales </a:t>
            </a:r>
            <a:r>
              <a:rPr lang="es-ES" b="0" i="0" dirty="0">
                <a:solidFill>
                  <a:srgbClr val="444340"/>
                </a:solidFill>
                <a:effectLst/>
                <a:latin typeface="inherit"/>
              </a:rPr>
              <a:t>y otros criterios para determinar qué cambios de estado se tratarán como eventos y elegir criterios para definir cada tipo de evento (informativo, de advertencia o de excepción)</a:t>
            </a:r>
          </a:p>
          <a:p>
            <a:pPr algn="l" fontAlgn="base">
              <a:buFont typeface="Arial" panose="020B0604020202020204" pitchFamily="34" charset="0"/>
              <a:buChar char="•"/>
            </a:pPr>
            <a:r>
              <a:rPr lang="es-ES" b="0" i="0" dirty="0">
                <a:solidFill>
                  <a:srgbClr val="FF0000"/>
                </a:solidFill>
                <a:effectLst/>
                <a:latin typeface="inherit"/>
              </a:rPr>
              <a:t>Establecer y mantener políticas </a:t>
            </a:r>
            <a:r>
              <a:rPr lang="es-ES" b="0" i="0" dirty="0">
                <a:solidFill>
                  <a:srgbClr val="444340"/>
                </a:solidFill>
                <a:effectLst/>
                <a:latin typeface="inherit"/>
              </a:rPr>
              <a:t>sobre cómo se debe manejar cada tipo de evento detectado para garantizar una gestión adecuada.</a:t>
            </a:r>
          </a:p>
          <a:p>
            <a:pPr algn="l" fontAlgn="base">
              <a:buFont typeface="Arial" panose="020B0604020202020204" pitchFamily="34" charset="0"/>
              <a:buChar char="•"/>
            </a:pPr>
            <a:r>
              <a:rPr lang="es-ES" b="0" i="0" dirty="0">
                <a:solidFill>
                  <a:srgbClr val="FF0000"/>
                </a:solidFill>
                <a:effectLst/>
                <a:latin typeface="inherit"/>
              </a:rPr>
              <a:t>Implementar procesos y automatizaciones </a:t>
            </a:r>
            <a:r>
              <a:rPr lang="es-ES" b="0" i="0" dirty="0">
                <a:solidFill>
                  <a:srgbClr val="444340"/>
                </a:solidFill>
                <a:effectLst/>
                <a:latin typeface="inherit"/>
              </a:rPr>
              <a:t>necesarios para poner en práctica los umbrales, criterios y políticas definidos.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0799385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280374" cy="5000571"/>
          </a:xfrm>
        </p:spPr>
        <p:txBody>
          <a:bodyPr>
            <a:normAutofit lnSpcReduction="10000"/>
          </a:bodyPr>
          <a:lstStyle/>
          <a:p>
            <a:pPr marL="0" indent="0">
              <a:buNone/>
            </a:pPr>
            <a:r>
              <a:rPr lang="es-EC" sz="4400" b="1" i="0" dirty="0">
                <a:solidFill>
                  <a:srgbClr val="FF0000"/>
                </a:solidFill>
                <a:effectLst/>
              </a:rPr>
              <a:t>Interconexión con otras practicas de gestión</a:t>
            </a: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Esta práctica es altamente interactiva con otras prácticas que participan en la cadena de valor del servicio. Por ejemplo, algunos eventos indicarán un problema actual que califica como incidente. En este caso, la acción de control correcta será iniciar actividad en la práctica de gestión de incidentes. Los eventos repetidos que muestran un desempeño fuera de los niveles deseados pueden ser evidencia de un problema potencial, que iniciaría la actividad en la práctica de gestión de problemas. Para algunos eventos, la respuesta correcta es iniciar un cambio, involucrando la práctica de control de cambios.</a:t>
            </a:r>
            <a:endParaRPr lang="es-ES" b="0" i="0" dirty="0">
              <a:solidFill>
                <a:srgbClr val="444340"/>
              </a:solidFill>
              <a:effectLst/>
              <a:latin typeface="inheri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16284511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280374" cy="5000571"/>
          </a:xfrm>
        </p:spPr>
        <p:txBody>
          <a:bodyPr>
            <a:normAutofit lnSpcReduction="10000"/>
          </a:bodyPr>
          <a:lstStyle/>
          <a:p>
            <a:pPr marL="0" indent="0">
              <a:buNone/>
            </a:pPr>
            <a:r>
              <a:rPr lang="es-EC" sz="4400" b="1" i="0" dirty="0">
                <a:solidFill>
                  <a:srgbClr val="FF0000"/>
                </a:solidFill>
                <a:effectLst/>
              </a:rPr>
              <a:t>Gestión humana en la practica de Monitoreo</a:t>
            </a: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Aunque el trabajo de esta práctica, una vez implementado, está altamente automatizado, la intervención humana aún es necesaria y, de hecho, es esencial, por lo que las personas son fundamentales para brindar una respuesta adecuada a los datos y eventos monitoreados, en consonancia con las políticas y las prioridades de la organización.</a:t>
            </a:r>
          </a:p>
          <a:p>
            <a:pPr marL="0" indent="0" algn="l" fontAlgn="base">
              <a:buNone/>
            </a:pPr>
            <a:r>
              <a:rPr lang="es-ES" b="0" i="0" dirty="0">
                <a:solidFill>
                  <a:srgbClr val="444340"/>
                </a:solidFill>
                <a:effectLst/>
                <a:latin typeface="Ubuntu"/>
              </a:rPr>
              <a:t>Los roles y responsabilidades deben estar claramente definidos, y cada persona o grupo debe tener un acceso fácil y oportuno a la información necesaria para desempeñar su rol. </a:t>
            </a:r>
            <a:endParaRPr lang="es-ES" b="0" i="0" dirty="0">
              <a:solidFill>
                <a:srgbClr val="444340"/>
              </a:solidFill>
              <a:effectLst/>
              <a:latin typeface="inheri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6537651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280374" cy="5000571"/>
          </a:xfrm>
        </p:spPr>
        <p:txBody>
          <a:bodyPr>
            <a:normAutofit fontScale="92500"/>
          </a:bodyPr>
          <a:lstStyle/>
          <a:p>
            <a:pPr marL="0" indent="0">
              <a:buNone/>
            </a:pPr>
            <a:r>
              <a:rPr lang="es-EC" sz="4400" b="1" i="0" dirty="0">
                <a:solidFill>
                  <a:srgbClr val="FF0000"/>
                </a:solidFill>
                <a:effectLst/>
              </a:rPr>
              <a:t>Tipos de Monitoreo</a:t>
            </a:r>
          </a:p>
          <a:p>
            <a:pPr marL="0" indent="0">
              <a:buNone/>
            </a:pPr>
            <a:endParaRPr lang="es-ES" sz="1100" b="1" i="0" dirty="0">
              <a:solidFill>
                <a:srgbClr val="FF0000"/>
              </a:solidFill>
              <a:effectLst/>
            </a:endParaRPr>
          </a:p>
          <a:p>
            <a:pPr marL="0" indent="0" algn="l" fontAlgn="base">
              <a:buNone/>
            </a:pPr>
            <a:r>
              <a:rPr lang="es-ES" b="0" i="0" dirty="0">
                <a:solidFill>
                  <a:srgbClr val="444340"/>
                </a:solidFill>
                <a:effectLst/>
                <a:latin typeface="Ubuntu"/>
              </a:rPr>
              <a:t>La automatización es clave para el éxito de la supervisión y la gestión de eventos. Algunos componentes de servicio vienen equipados con capacidades integradas de monitoreo y generación de informes que se pueden configurar para satisfacer las necesidades de la práctica, pero a veces es necesario implementar y configurar herramientas de monitoreo especialmente diseñadas. El propio seguimiento puede ser activo o pasivo. </a:t>
            </a:r>
          </a:p>
          <a:p>
            <a:pPr marL="0" indent="0" algn="l" fontAlgn="base">
              <a:buNone/>
            </a:pPr>
            <a:r>
              <a:rPr lang="es-ES" b="0" i="0" dirty="0">
                <a:solidFill>
                  <a:srgbClr val="444340"/>
                </a:solidFill>
                <a:effectLst/>
                <a:latin typeface="Ubuntu"/>
              </a:rPr>
              <a:t>En el </a:t>
            </a:r>
            <a:r>
              <a:rPr lang="es-ES" b="1" i="0" dirty="0">
                <a:solidFill>
                  <a:srgbClr val="FF0000"/>
                </a:solidFill>
                <a:effectLst/>
                <a:latin typeface="Ubuntu"/>
              </a:rPr>
              <a:t>monitoreo activo</a:t>
            </a:r>
            <a:r>
              <a:rPr lang="es-ES" b="0" i="0" dirty="0">
                <a:solidFill>
                  <a:srgbClr val="444340"/>
                </a:solidFill>
                <a:effectLst/>
                <a:latin typeface="Ubuntu"/>
              </a:rPr>
              <a:t>, las herramientas sondearán los CI clave y observarán su estado para generar alertas cuando se identifique una condición de excepción. </a:t>
            </a:r>
          </a:p>
          <a:p>
            <a:pPr marL="0" indent="0" algn="l" fontAlgn="base">
              <a:buNone/>
            </a:pPr>
            <a:r>
              <a:rPr lang="es-ES" b="0" i="0" dirty="0">
                <a:solidFill>
                  <a:srgbClr val="444340"/>
                </a:solidFill>
                <a:effectLst/>
                <a:latin typeface="Ubuntu"/>
              </a:rPr>
              <a:t>En la </a:t>
            </a:r>
            <a:r>
              <a:rPr lang="es-ES" b="1" i="0" dirty="0">
                <a:solidFill>
                  <a:srgbClr val="FF0000"/>
                </a:solidFill>
                <a:effectLst/>
                <a:latin typeface="Ubuntu"/>
              </a:rPr>
              <a:t>monitorización pasiva</a:t>
            </a:r>
            <a:r>
              <a:rPr lang="es-ES" b="0" i="0" dirty="0">
                <a:solidFill>
                  <a:srgbClr val="444340"/>
                </a:solidFill>
                <a:effectLst/>
                <a:latin typeface="Ubuntu"/>
              </a:rPr>
              <a:t>, el propio CI genera las alertas operativas.</a:t>
            </a:r>
            <a:endParaRPr lang="es-ES" b="0" i="0" dirty="0">
              <a:solidFill>
                <a:srgbClr val="444340"/>
              </a:solidFill>
              <a:effectLst/>
              <a:latin typeface="inheri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25148769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Monitoreo y Gestión de Eventos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4AD3B01E-9DA4-4BA0-8FC1-5172035FDAA5}"/>
              </a:ext>
            </a:extLst>
          </p:cNvPr>
          <p:cNvPicPr>
            <a:picLocks noChangeAspect="1"/>
          </p:cNvPicPr>
          <p:nvPr/>
        </p:nvPicPr>
        <p:blipFill>
          <a:blip r:embed="rId2"/>
          <a:stretch>
            <a:fillRect/>
          </a:stretch>
        </p:blipFill>
        <p:spPr>
          <a:xfrm>
            <a:off x="869881" y="1082040"/>
            <a:ext cx="10414067" cy="5775960"/>
          </a:xfrm>
          <a:prstGeom prst="rect">
            <a:avLst/>
          </a:prstGeom>
        </p:spPr>
      </p:pic>
    </p:spTree>
    <p:extLst>
      <p:ext uri="{BB962C8B-B14F-4D97-AF65-F5344CB8AC3E}">
        <p14:creationId xmlns:p14="http://schemas.microsoft.com/office/powerpoint/2010/main" val="185876322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14. Gestión de Incidentes</a:t>
            </a:r>
          </a:p>
        </p:txBody>
      </p:sp>
      <p:pic>
        <p:nvPicPr>
          <p:cNvPr id="13314" name="Picture 2" descr="Group Technicians Stock Illustrations – 82 Group Technicians Stock  Illustrations, Vectors &amp;amp; Clipart - Dreamstime">
            <a:extLst>
              <a:ext uri="{FF2B5EF4-FFF2-40B4-BE49-F238E27FC236}">
                <a16:creationId xmlns:a16="http://schemas.microsoft.com/office/drawing/2014/main" id="{6432209C-5D4B-4F11-B1AD-A111B24D5E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739" t="7537" r="9753" b="12623"/>
          <a:stretch/>
        </p:blipFill>
        <p:spPr bwMode="auto">
          <a:xfrm>
            <a:off x="5008682" y="1274594"/>
            <a:ext cx="6428451" cy="47177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47418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199" y="1612264"/>
            <a:ext cx="9617765" cy="2694693"/>
          </a:xfrm>
        </p:spPr>
        <p:txBody>
          <a:bodyPr>
            <a:normAutofit/>
          </a:bodyPr>
          <a:lstStyle/>
          <a:p>
            <a:pPr marL="0" indent="0">
              <a:buNone/>
            </a:pPr>
            <a:r>
              <a:rPr lang="es-EC" sz="4400" b="1" i="0" dirty="0">
                <a:solidFill>
                  <a:srgbClr val="FF0000"/>
                </a:solidFill>
                <a:effectLst/>
              </a:rPr>
              <a:t>Objetivo</a:t>
            </a:r>
            <a:endParaRPr lang="es-ES" sz="1100" b="1" i="0" dirty="0">
              <a:solidFill>
                <a:srgbClr val="FF0000"/>
              </a:solidFill>
              <a:effectLst/>
            </a:endParaRPr>
          </a:p>
          <a:p>
            <a:pPr marL="0" indent="0" algn="l" fontAlgn="base">
              <a:buNone/>
            </a:pPr>
            <a:r>
              <a:rPr lang="es-ES" b="0" i="0" dirty="0">
                <a:solidFill>
                  <a:srgbClr val="444340"/>
                </a:solidFill>
                <a:effectLst/>
                <a:latin typeface="Ubuntu"/>
              </a:rPr>
              <a:t>El propósito de la práctica de gestión de incidentes es minimizar el impacto negativo de los incidentes restaurando el funcionamiento normal del servicio lo más rápido posible.</a:t>
            </a:r>
          </a:p>
          <a:p>
            <a:pPr marL="0" indent="0" algn="l" fontAlgn="base">
              <a:buNone/>
            </a:pPr>
            <a:endParaRPr lang="es-ES" dirty="0">
              <a:solidFill>
                <a:srgbClr val="444340"/>
              </a:solidFill>
              <a:latin typeface="Ubuntu"/>
            </a:endParaRPr>
          </a:p>
          <a:p>
            <a:pPr marL="0" indent="0" algn="l" fontAlgn="base">
              <a:buNone/>
            </a:pP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DD70DFC4-4A8B-4E08-B9EB-2E49055B7D06}"/>
              </a:ext>
            </a:extLst>
          </p:cNvPr>
          <p:cNvPicPr>
            <a:picLocks noChangeAspect="1"/>
          </p:cNvPicPr>
          <p:nvPr/>
        </p:nvPicPr>
        <p:blipFill>
          <a:blip r:embed="rId2"/>
          <a:stretch>
            <a:fillRect/>
          </a:stretch>
        </p:blipFill>
        <p:spPr>
          <a:xfrm>
            <a:off x="1136580" y="3789431"/>
            <a:ext cx="9902481" cy="3055464"/>
          </a:xfrm>
          <a:prstGeom prst="rect">
            <a:avLst/>
          </a:prstGeom>
        </p:spPr>
      </p:pic>
    </p:spTree>
    <p:extLst>
      <p:ext uri="{BB962C8B-B14F-4D97-AF65-F5344CB8AC3E}">
        <p14:creationId xmlns:p14="http://schemas.microsoft.com/office/powerpoint/2010/main" val="37648982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069126E3-7302-428D-82B6-2E695B523DC8}"/>
              </a:ext>
            </a:extLst>
          </p:cNvPr>
          <p:cNvPicPr>
            <a:picLocks noChangeAspect="1"/>
          </p:cNvPicPr>
          <p:nvPr/>
        </p:nvPicPr>
        <p:blipFill>
          <a:blip r:embed="rId2"/>
          <a:stretch>
            <a:fillRect/>
          </a:stretch>
        </p:blipFill>
        <p:spPr>
          <a:xfrm>
            <a:off x="530087" y="1520467"/>
            <a:ext cx="10696503" cy="4482767"/>
          </a:xfrm>
          <a:prstGeom prst="rect">
            <a:avLst/>
          </a:prstGeom>
        </p:spPr>
      </p:pic>
    </p:spTree>
    <p:extLst>
      <p:ext uri="{BB962C8B-B14F-4D97-AF65-F5344CB8AC3E}">
        <p14:creationId xmlns:p14="http://schemas.microsoft.com/office/powerpoint/2010/main" val="35988156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B534799-F7C9-47BE-BF67-FBB4D2E48023}"/>
              </a:ext>
            </a:extLst>
          </p:cNvPr>
          <p:cNvPicPr>
            <a:picLocks noChangeAspect="1"/>
          </p:cNvPicPr>
          <p:nvPr/>
        </p:nvPicPr>
        <p:blipFill>
          <a:blip r:embed="rId2"/>
          <a:stretch>
            <a:fillRect/>
          </a:stretch>
        </p:blipFill>
        <p:spPr>
          <a:xfrm>
            <a:off x="426358" y="1696278"/>
            <a:ext cx="11339284" cy="4174435"/>
          </a:xfrm>
          <a:prstGeom prst="rect">
            <a:avLst/>
          </a:prstGeom>
        </p:spPr>
      </p:pic>
    </p:spTree>
    <p:extLst>
      <p:ext uri="{BB962C8B-B14F-4D97-AF65-F5344CB8AC3E}">
        <p14:creationId xmlns:p14="http://schemas.microsoft.com/office/powerpoint/2010/main" val="87618377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Consideraciones</a:t>
            </a:r>
            <a:endParaRPr lang="es-ES" sz="1100" b="1" i="0" dirty="0">
              <a:solidFill>
                <a:srgbClr val="FF0000"/>
              </a:solidFill>
              <a:effectLst/>
            </a:endParaRPr>
          </a:p>
          <a:p>
            <a:pPr marL="0" indent="0" algn="l" fontAlgn="base">
              <a:buNone/>
            </a:pPr>
            <a:r>
              <a:rPr lang="es-ES" b="0" i="0" dirty="0">
                <a:solidFill>
                  <a:srgbClr val="444340"/>
                </a:solidFill>
                <a:effectLst/>
                <a:latin typeface="Ubuntu"/>
              </a:rPr>
              <a:t>La gestión de incidentes puede tener un impacto enorme en la satisfacción del cliente y del usuario, y en cómo los clientes y usuarios perciben al proveedor de servicios. Cada incidente debe registrarse y gestionarse para garantizar que se resuelva en un tiempo que cumpla con las expectativas del cliente y del usuario. Los tiempos de resolución objetivo se acuerdan, documentan y comunican para garantizar que las expectativas sean realistas.</a:t>
            </a:r>
          </a:p>
          <a:p>
            <a:pPr marL="0" indent="0" algn="l" fontAlgn="base">
              <a:buNone/>
            </a:pPr>
            <a:r>
              <a:rPr lang="es-ES" b="0" i="0" dirty="0">
                <a:solidFill>
                  <a:srgbClr val="444340"/>
                </a:solidFill>
                <a:effectLst/>
                <a:latin typeface="Ubuntu"/>
              </a:rPr>
              <a:t>Los incidentes se priorizan según una clasificación acordada para garantizar que los incidentes con el mayor impacto comercial se resuelvan primero.</a:t>
            </a: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00443290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515600" cy="5245735"/>
          </a:xfrm>
        </p:spPr>
        <p:txBody>
          <a:bodyPr>
            <a:normAutofit/>
          </a:bodyPr>
          <a:lstStyle/>
          <a:p>
            <a:pPr marL="0" indent="0">
              <a:buNone/>
            </a:pPr>
            <a:r>
              <a:rPr lang="es-EC" sz="4400" b="1" i="0" dirty="0">
                <a:solidFill>
                  <a:srgbClr val="FF0000"/>
                </a:solidFill>
                <a:effectLst/>
              </a:rPr>
              <a:t>Consideraciones</a:t>
            </a:r>
            <a:endParaRPr lang="es-ES" sz="1100" b="1" i="0" dirty="0">
              <a:solidFill>
                <a:srgbClr val="FF0000"/>
              </a:solidFill>
              <a:effectLst/>
            </a:endParaRPr>
          </a:p>
          <a:p>
            <a:pPr marL="0" indent="0" algn="l" fontAlgn="base">
              <a:buNone/>
            </a:pPr>
            <a:r>
              <a:rPr lang="es-ES" b="0" i="0" dirty="0">
                <a:solidFill>
                  <a:srgbClr val="444340"/>
                </a:solidFill>
                <a:effectLst/>
                <a:latin typeface="Ubuntu"/>
              </a:rPr>
              <a:t>Las organizaciones deben diseñar su práctica de gestión de incidentes para proporcionar una gestión adecuada y la asignación de recursos a los diferentes tipos de incidentes. Los incidentes de bajo impacto deben gestionarse de manera eficiente para garantizar que no consuman demasiados recursos. Los incidentes con un impacto mayor pueden requerir más recursos y una gestión más compleja. Por lo general, existen procesos separados para administrar los incidentes importantes y para administrar los incidentes de seguridad de la información.</a:t>
            </a: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00765567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360473"/>
            <a:ext cx="10515600" cy="5245735"/>
          </a:xfrm>
        </p:spPr>
        <p:txBody>
          <a:bodyPr>
            <a:normAutofit fontScale="92500"/>
          </a:bodyPr>
          <a:lstStyle/>
          <a:p>
            <a:pPr marL="0" indent="0">
              <a:buNone/>
            </a:pPr>
            <a:r>
              <a:rPr lang="es-EC" sz="4400" b="1" i="0" dirty="0">
                <a:solidFill>
                  <a:srgbClr val="FF0000"/>
                </a:solidFill>
                <a:effectLst/>
              </a:rPr>
              <a:t>Uso de herramientas</a:t>
            </a:r>
          </a:p>
          <a:p>
            <a:pPr marL="0" indent="0" algn="l" fontAlgn="base">
              <a:buNone/>
            </a:pPr>
            <a:r>
              <a:rPr lang="es-ES" b="0" i="0" dirty="0">
                <a:solidFill>
                  <a:srgbClr val="444340"/>
                </a:solidFill>
                <a:effectLst/>
                <a:latin typeface="Ubuntu"/>
              </a:rPr>
              <a:t>La información sobre incidentes debe almacenarse en registros de incidentes en una herramienta adecuada. Idealmente, esta herramienta también debería proporcionar enlaces a componentes relacionados, cambios, problemas, errores conocidos y otros conocimientos para permitir un diagnóstico y una recuperación rápidos y eficientes.</a:t>
            </a:r>
          </a:p>
          <a:p>
            <a:pPr marL="0" indent="0" algn="l" fontAlgn="base">
              <a:buNone/>
            </a:pPr>
            <a:r>
              <a:rPr lang="es-ES" b="0" i="0" dirty="0">
                <a:solidFill>
                  <a:srgbClr val="444340"/>
                </a:solidFill>
                <a:effectLst/>
                <a:latin typeface="Ubuntu"/>
              </a:rPr>
              <a:t>Es importante que las personas que trabajan en un incidente proporcionen actualizaciones de buena calidad de manera oportuna. Estas actualizaciones deben incluir información sobre síntomas, impacto comercial, CI afectados, acciones completadas y acciones planificadas. Cada uno de estos debe tener una marca de tiempo e información sobre las personas involucradas, para que las personas involucradas o interesadas puedan mantenerse informadas. </a:t>
            </a:r>
            <a:endParaRPr lang="es-ES"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6115094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199" y="1241203"/>
            <a:ext cx="10982739" cy="5517406"/>
          </a:xfrm>
        </p:spPr>
        <p:txBody>
          <a:bodyPr>
            <a:normAutofit fontScale="25000" lnSpcReduction="20000"/>
          </a:bodyPr>
          <a:lstStyle/>
          <a:p>
            <a:pPr marL="0" indent="0">
              <a:buNone/>
            </a:pPr>
            <a:r>
              <a:rPr lang="es-EC" sz="12800" b="1" i="0" dirty="0">
                <a:solidFill>
                  <a:srgbClr val="FF0000"/>
                </a:solidFill>
                <a:effectLst/>
              </a:rPr>
              <a:t>Quienes Resuelven los incidentes</a:t>
            </a:r>
          </a:p>
          <a:p>
            <a:pPr marL="0" indent="0" algn="l" fontAlgn="base">
              <a:buNone/>
            </a:pPr>
            <a:r>
              <a:rPr lang="es-ES" sz="8000" b="0" i="0" dirty="0">
                <a:solidFill>
                  <a:srgbClr val="444340"/>
                </a:solidFill>
                <a:effectLst/>
              </a:rPr>
              <a:t>Los incidentes pueden ser diagnosticados y resueltos por personas de muchos grupos diferentes, según la complejidad del problema o el tipo de incidente. Todos estos grupos deben comprender el proceso de gestión de incidentes y cómo su contribución a esto ayuda a gestionar el valor, los resultados, los costos y los riesgos de los servicios prestados:</a:t>
            </a:r>
          </a:p>
          <a:p>
            <a:pPr algn="l" fontAlgn="base">
              <a:buFont typeface="Arial" panose="020B0604020202020204" pitchFamily="34" charset="0"/>
              <a:buChar char="•"/>
            </a:pPr>
            <a:r>
              <a:rPr lang="es-ES" sz="8000" b="0" i="0" dirty="0">
                <a:solidFill>
                  <a:srgbClr val="444340"/>
                </a:solidFill>
                <a:effectLst/>
              </a:rPr>
              <a:t>Algunas incidencias serán resueltas por los </a:t>
            </a:r>
            <a:r>
              <a:rPr lang="es-ES" sz="8000" b="1" i="0" dirty="0">
                <a:solidFill>
                  <a:srgbClr val="FF0000"/>
                </a:solidFill>
                <a:effectLst/>
              </a:rPr>
              <a:t>propios usuarios </a:t>
            </a:r>
            <a:r>
              <a:rPr lang="es-ES" sz="8000" b="0" i="0" dirty="0">
                <a:solidFill>
                  <a:srgbClr val="444340"/>
                </a:solidFill>
                <a:effectLst/>
              </a:rPr>
              <a:t>mediante la autoayuda. Se debe capturar el uso de registros de autoayuda específicos para su uso en actividades de medición y mejora.</a:t>
            </a:r>
          </a:p>
          <a:p>
            <a:pPr algn="l" fontAlgn="base">
              <a:buFont typeface="Arial" panose="020B0604020202020204" pitchFamily="34" charset="0"/>
              <a:buChar char="•"/>
            </a:pPr>
            <a:r>
              <a:rPr lang="es-ES" sz="8000" b="0" i="0" dirty="0">
                <a:solidFill>
                  <a:srgbClr val="444340"/>
                </a:solidFill>
                <a:effectLst/>
              </a:rPr>
              <a:t>Algunas incidencias serán resueltas por la </a:t>
            </a:r>
            <a:r>
              <a:rPr lang="es-ES" sz="8000" b="1" i="0" dirty="0">
                <a:solidFill>
                  <a:srgbClr val="FF0000"/>
                </a:solidFill>
                <a:effectLst/>
              </a:rPr>
              <a:t>mesa de servicio </a:t>
            </a:r>
            <a:r>
              <a:rPr lang="es-ES" sz="8000" b="0" i="0" dirty="0">
                <a:solidFill>
                  <a:srgbClr val="444340"/>
                </a:solidFill>
                <a:effectLst/>
              </a:rPr>
              <a:t>con el apoyo de scripts(plantillas)</a:t>
            </a:r>
          </a:p>
          <a:p>
            <a:pPr algn="l" fontAlgn="base">
              <a:buFont typeface="Arial" panose="020B0604020202020204" pitchFamily="34" charset="0"/>
              <a:buChar char="•"/>
            </a:pPr>
            <a:r>
              <a:rPr lang="es-ES" sz="8000" b="0" i="0" dirty="0">
                <a:solidFill>
                  <a:srgbClr val="444340"/>
                </a:solidFill>
                <a:effectLst/>
              </a:rPr>
              <a:t>Los incidentes más complejos generalmente se derivarán (escalamiento) a un </a:t>
            </a:r>
            <a:r>
              <a:rPr lang="es-ES" sz="8000" b="1" i="0" dirty="0">
                <a:solidFill>
                  <a:srgbClr val="FF0000"/>
                </a:solidFill>
                <a:effectLst/>
              </a:rPr>
              <a:t>equipo de soporte </a:t>
            </a:r>
            <a:r>
              <a:rPr lang="es-ES" sz="8000" b="0" i="0" dirty="0">
                <a:solidFill>
                  <a:srgbClr val="444340"/>
                </a:solidFill>
                <a:effectLst/>
              </a:rPr>
              <a:t>para su resolución. Normalmente, el enrutamiento se basa en la categoría del incidente, lo que debería ayudar a identificar al equipo correcto.</a:t>
            </a:r>
          </a:p>
          <a:p>
            <a:pPr algn="l" fontAlgn="base">
              <a:buFont typeface="Arial" panose="020B0604020202020204" pitchFamily="34" charset="0"/>
              <a:buChar char="•"/>
            </a:pPr>
            <a:r>
              <a:rPr lang="es-ES" sz="8000" b="0" i="0" dirty="0">
                <a:solidFill>
                  <a:srgbClr val="444340"/>
                </a:solidFill>
                <a:effectLst/>
              </a:rPr>
              <a:t>Los incidentes se pueden escalar a </a:t>
            </a:r>
            <a:r>
              <a:rPr lang="es-ES" sz="8000" b="1" i="0" dirty="0">
                <a:solidFill>
                  <a:srgbClr val="FF0000"/>
                </a:solidFill>
                <a:effectLst/>
              </a:rPr>
              <a:t>proveedores o socios</a:t>
            </a:r>
            <a:r>
              <a:rPr lang="es-ES" sz="8000" b="0" i="0" dirty="0">
                <a:solidFill>
                  <a:srgbClr val="444340"/>
                </a:solidFill>
                <a:effectLst/>
              </a:rPr>
              <a:t>, que ofrecen soporte para sus productos y servicios.</a:t>
            </a:r>
          </a:p>
          <a:p>
            <a:pPr algn="l" fontAlgn="base">
              <a:buFont typeface="Arial" panose="020B0604020202020204" pitchFamily="34" charset="0"/>
              <a:buChar char="•"/>
            </a:pPr>
            <a:r>
              <a:rPr lang="es-ES" sz="8000" b="0" i="0" dirty="0">
                <a:solidFill>
                  <a:srgbClr val="444340"/>
                </a:solidFill>
                <a:effectLst/>
              </a:rPr>
              <a:t>Los incidentes más complejos y todos los incidentes importantes a menudo requieren un </a:t>
            </a:r>
            <a:r>
              <a:rPr lang="es-ES" sz="8000" b="1" i="0" dirty="0">
                <a:solidFill>
                  <a:srgbClr val="FF0000"/>
                </a:solidFill>
                <a:effectLst/>
              </a:rPr>
              <a:t>equipo</a:t>
            </a:r>
            <a:r>
              <a:rPr lang="es-ES" sz="8000" b="0" i="0" dirty="0">
                <a:solidFill>
                  <a:srgbClr val="444340"/>
                </a:solidFill>
                <a:effectLst/>
              </a:rPr>
              <a:t> </a:t>
            </a:r>
            <a:r>
              <a:rPr lang="es-ES" sz="8000" b="1" i="0" dirty="0">
                <a:solidFill>
                  <a:srgbClr val="FF0000"/>
                </a:solidFill>
                <a:effectLst/>
              </a:rPr>
              <a:t>temporal</a:t>
            </a:r>
            <a:r>
              <a:rPr lang="es-ES" sz="8000" b="0" i="0" dirty="0">
                <a:solidFill>
                  <a:srgbClr val="444340"/>
                </a:solidFill>
                <a:effectLst/>
              </a:rPr>
              <a:t> que trabaje en conjunto para identificar la resolución. Este equipo puede incluir representantes de muchas partes interesadas, incluido el proveedor de servicios, proveedores, usuarios, etc.</a:t>
            </a:r>
          </a:p>
          <a:p>
            <a:pPr algn="l" fontAlgn="base">
              <a:buFont typeface="Arial" panose="020B0604020202020204" pitchFamily="34" charset="0"/>
              <a:buChar char="•"/>
            </a:pPr>
            <a:r>
              <a:rPr lang="es-ES" sz="8000" b="0" i="0" dirty="0">
                <a:solidFill>
                  <a:srgbClr val="444340"/>
                </a:solidFill>
                <a:effectLst/>
              </a:rPr>
              <a:t>En algunos casos extremos, se pueden invocar </a:t>
            </a:r>
            <a:r>
              <a:rPr lang="es-ES" sz="8000" b="1" i="0" dirty="0">
                <a:solidFill>
                  <a:srgbClr val="FF0000"/>
                </a:solidFill>
                <a:effectLst/>
              </a:rPr>
              <a:t>planes de recuperación</a:t>
            </a:r>
            <a:r>
              <a:rPr lang="es-ES" sz="8000" b="0" i="0" dirty="0">
                <a:solidFill>
                  <a:srgbClr val="444340"/>
                </a:solidFill>
                <a:effectLst/>
              </a:rPr>
              <a:t> ante </a:t>
            </a:r>
            <a:r>
              <a:rPr lang="es-ES" sz="8000" b="1" i="0" dirty="0">
                <a:solidFill>
                  <a:srgbClr val="FF0000"/>
                </a:solidFill>
                <a:effectLst/>
              </a:rPr>
              <a:t>desastres</a:t>
            </a:r>
            <a:r>
              <a:rPr lang="es-ES" sz="8000" b="0" i="0" dirty="0">
                <a:solidFill>
                  <a:srgbClr val="444340"/>
                </a:solidFill>
                <a:effectLst/>
              </a:rPr>
              <a:t> para resolver un incidente. La recuperación ante desastres se describe en la práctica de gestión de la continuidad del servicio. </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19099487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3"/>
            <a:ext cx="11145077" cy="5517406"/>
          </a:xfrm>
        </p:spPr>
        <p:txBody>
          <a:bodyPr>
            <a:normAutofit fontScale="40000" lnSpcReduction="20000"/>
          </a:bodyPr>
          <a:lstStyle/>
          <a:p>
            <a:pPr marL="0" indent="0">
              <a:buNone/>
            </a:pPr>
            <a:r>
              <a:rPr lang="es-EC" sz="12000" b="1" i="0" dirty="0">
                <a:solidFill>
                  <a:srgbClr val="FF0000"/>
                </a:solidFill>
                <a:effectLst/>
              </a:rPr>
              <a:t>Interacción con Proveedores</a:t>
            </a:r>
          </a:p>
          <a:p>
            <a:pPr marL="0" indent="0" algn="l" fontAlgn="base">
              <a:buNone/>
            </a:pPr>
            <a:r>
              <a:rPr lang="es-ES" sz="6000" b="0" i="0" dirty="0">
                <a:solidFill>
                  <a:srgbClr val="444340"/>
                </a:solidFill>
                <a:effectLst/>
                <a:latin typeface="Ubuntu"/>
              </a:rPr>
              <a:t>Los productos y servicios de terceros que se utilizan como componentes de un servicio requieren acuerdos de soporte que alineen las obligaciones del proveedor con los compromisos asumidos por el proveedor de servicios con los clientes. La gestión de incidentes puede requerir una interacción frecuente con estos proveedores, y la gestión de rutina de este aspecto de los contratos con proveedores suele ser parte de la práctica de gestión de incidentes.</a:t>
            </a:r>
          </a:p>
          <a:p>
            <a:pPr marL="0" indent="0" algn="l" fontAlgn="base">
              <a:buNone/>
            </a:pPr>
            <a:r>
              <a:rPr lang="es-ES" sz="6000" b="0" i="0" dirty="0">
                <a:solidFill>
                  <a:srgbClr val="444340"/>
                </a:solidFill>
                <a:effectLst/>
                <a:latin typeface="Ubuntu"/>
              </a:rPr>
              <a:t>Un proveedor también puede actuar como mesa de servicio, registrando y gestionando todos los incidentes y escalando a expertos en la materia u otras partes según sea necesario. Debe haber un proceso formal para registrar y gestionar incidentes. Este proceso generalmente no incluye procedimientos detallados sobre cómo diagnosticar, investigar y resolver incidentes, pero puede proporcionar técnicas para hacer que la investigación y el diagnóstico sean más eficientes. Puede haber scripts para recopilar información de los usuarios durante el contacto inicial, y esto puede conducir directamente al diagnóstico y la resolución de incidentes simples. La investigación de incidentes más complicados a menudo requiere conocimientos y experiencia, más que pasos de procedimiento. Hacer frente a los incidentes es posible en todas las actividades de la cadena de valor, aunque los más visibles (debido al efecto en los usuarios) son los incidentes en un entorno operativo.</a:t>
            </a:r>
            <a:endParaRPr lang="es-ES" sz="8000"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34489369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3"/>
            <a:ext cx="11145077" cy="5517406"/>
          </a:xfrm>
        </p:spPr>
        <p:txBody>
          <a:bodyPr>
            <a:normAutofit fontScale="40000" lnSpcReduction="20000"/>
          </a:bodyPr>
          <a:lstStyle/>
          <a:p>
            <a:pPr marL="0" indent="0">
              <a:buNone/>
            </a:pPr>
            <a:r>
              <a:rPr lang="es-EC" sz="12000" b="1" i="0" dirty="0">
                <a:solidFill>
                  <a:srgbClr val="FF0000"/>
                </a:solidFill>
                <a:effectLst/>
              </a:rPr>
              <a:t>Interacción con Proveedores</a:t>
            </a:r>
          </a:p>
          <a:p>
            <a:pPr marL="0" indent="0" algn="l" fontAlgn="base">
              <a:buNone/>
            </a:pPr>
            <a:r>
              <a:rPr lang="es-ES" sz="6000" b="0" i="0" dirty="0">
                <a:solidFill>
                  <a:srgbClr val="444340"/>
                </a:solidFill>
                <a:effectLst/>
                <a:latin typeface="Ubuntu"/>
              </a:rPr>
              <a:t>Los productos y servicios de terceros que se utilizan como componentes de un servicio requieren acuerdos de soporte que alineen las obligaciones del proveedor con los compromisos asumidos por el proveedor de servicios con los clientes. La gestión de incidentes puede requerir una interacción frecuente con estos proveedores, y la gestión de rutina de este aspecto de los contratos con proveedores suele ser parte de la práctica de gestión de incidentes.</a:t>
            </a:r>
          </a:p>
          <a:p>
            <a:pPr marL="0" indent="0" algn="l" fontAlgn="base">
              <a:buNone/>
            </a:pPr>
            <a:r>
              <a:rPr lang="es-ES" sz="6000" b="0" i="0" dirty="0">
                <a:solidFill>
                  <a:srgbClr val="444340"/>
                </a:solidFill>
                <a:effectLst/>
                <a:latin typeface="Ubuntu"/>
              </a:rPr>
              <a:t>Un proveedor también puede actuar como mesa de servicio, registrando y gestionando todos los incidentes y escalando a expertos en la materia u otras partes según sea necesario. Debe haber un proceso formal para registrar y gestionar incidentes. Este proceso generalmente no incluye procedimientos detallados sobre cómo diagnosticar, investigar y resolver incidentes, pero puede proporcionar técnicas para hacer que la investigación y el diagnóstico sean más eficientes. Puede haber scripts para recopilar información de los usuarios durante el contacto inicial, y esto puede conducir directamente al diagnóstico y la resolución de incidentes simples. La investigación de incidentes más complicados a menudo requiere conocimientos y experiencia, más que pasos de procedimiento. Hacer frente a los incidentes es posible en todas las actividades de la cadena de valor, aunque los más visibles (debido al efecto en los usuarios) son los incidentes en un entorno operativo.</a:t>
            </a:r>
            <a:endParaRPr lang="es-ES" sz="8000" b="0" i="0" dirty="0">
              <a:solidFill>
                <a:srgbClr val="44434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414232888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Incidentes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FA599763-B80F-40FF-ADB2-17ADE38239B8}"/>
              </a:ext>
            </a:extLst>
          </p:cNvPr>
          <p:cNvPicPr>
            <a:picLocks noChangeAspect="1"/>
          </p:cNvPicPr>
          <p:nvPr/>
        </p:nvPicPr>
        <p:blipFill>
          <a:blip r:embed="rId2"/>
          <a:stretch>
            <a:fillRect/>
          </a:stretch>
        </p:blipFill>
        <p:spPr>
          <a:xfrm>
            <a:off x="901479" y="1082040"/>
            <a:ext cx="10389042" cy="5746439"/>
          </a:xfrm>
          <a:prstGeom prst="rect">
            <a:avLst/>
          </a:prstGeom>
        </p:spPr>
      </p:pic>
    </p:spTree>
    <p:extLst>
      <p:ext uri="{BB962C8B-B14F-4D97-AF65-F5344CB8AC3E}">
        <p14:creationId xmlns:p14="http://schemas.microsoft.com/office/powerpoint/2010/main" val="111821715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15. Gestión de Problemas</a:t>
            </a:r>
          </a:p>
        </p:txBody>
      </p:sp>
      <p:pic>
        <p:nvPicPr>
          <p:cNvPr id="14338" name="Picture 2" descr="El Blog de Proactivanet La Gestión de Problemas y la mejora continua">
            <a:extLst>
              <a:ext uri="{FF2B5EF4-FFF2-40B4-BE49-F238E27FC236}">
                <a16:creationId xmlns:a16="http://schemas.microsoft.com/office/drawing/2014/main" id="{3C280B7B-2D79-45B6-9B3B-AE05A23A1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10177" y="1073426"/>
            <a:ext cx="6427663" cy="47111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240156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10" name="Imagen 9">
            <a:extLst>
              <a:ext uri="{FF2B5EF4-FFF2-40B4-BE49-F238E27FC236}">
                <a16:creationId xmlns:a16="http://schemas.microsoft.com/office/drawing/2014/main" id="{C28712D0-B9BE-4182-9724-3E958261D0CD}"/>
              </a:ext>
            </a:extLst>
          </p:cNvPr>
          <p:cNvPicPr>
            <a:picLocks noChangeAspect="1"/>
          </p:cNvPicPr>
          <p:nvPr/>
        </p:nvPicPr>
        <p:blipFill>
          <a:blip r:embed="rId2"/>
          <a:stretch>
            <a:fillRect/>
          </a:stretch>
        </p:blipFill>
        <p:spPr>
          <a:xfrm>
            <a:off x="741459" y="1541860"/>
            <a:ext cx="10124661" cy="4422265"/>
          </a:xfrm>
          <a:prstGeom prst="rect">
            <a:avLst/>
          </a:prstGeom>
        </p:spPr>
      </p:pic>
    </p:spTree>
    <p:extLst>
      <p:ext uri="{BB962C8B-B14F-4D97-AF65-F5344CB8AC3E}">
        <p14:creationId xmlns:p14="http://schemas.microsoft.com/office/powerpoint/2010/main" val="270962650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CEEEA300-671C-481D-A5D8-2FFA1CF0A5FC}"/>
              </a:ext>
            </a:extLst>
          </p:cNvPr>
          <p:cNvPicPr>
            <a:picLocks noChangeAspect="1"/>
          </p:cNvPicPr>
          <p:nvPr/>
        </p:nvPicPr>
        <p:blipFill rotWithShape="1">
          <a:blip r:embed="rId2"/>
          <a:srcRect b="17610"/>
          <a:stretch/>
        </p:blipFill>
        <p:spPr>
          <a:xfrm>
            <a:off x="350520" y="1232245"/>
            <a:ext cx="11046350" cy="3578294"/>
          </a:xfrm>
          <a:prstGeom prst="rect">
            <a:avLst/>
          </a:prstGeom>
        </p:spPr>
      </p:pic>
      <p:sp>
        <p:nvSpPr>
          <p:cNvPr id="5" name="CuadroTexto 4">
            <a:extLst>
              <a:ext uri="{FF2B5EF4-FFF2-40B4-BE49-F238E27FC236}">
                <a16:creationId xmlns:a16="http://schemas.microsoft.com/office/drawing/2014/main" id="{9CC4DCAD-2B31-4680-8999-72BAD731A785}"/>
              </a:ext>
            </a:extLst>
          </p:cNvPr>
          <p:cNvSpPr txBox="1"/>
          <p:nvPr/>
        </p:nvSpPr>
        <p:spPr>
          <a:xfrm>
            <a:off x="702365" y="5063510"/>
            <a:ext cx="11224987" cy="1323439"/>
          </a:xfrm>
          <a:prstGeom prst="rect">
            <a:avLst/>
          </a:prstGeom>
          <a:noFill/>
        </p:spPr>
        <p:txBody>
          <a:bodyPr wrap="square" rtlCol="0">
            <a:spAutoFit/>
          </a:bodyPr>
          <a:lstStyle/>
          <a:p>
            <a:r>
              <a:rPr lang="es-ES" sz="2000" b="0" i="0" dirty="0">
                <a:solidFill>
                  <a:srgbClr val="444340"/>
                </a:solidFill>
                <a:effectLst/>
              </a:rPr>
              <a:t>Cada servicio tiene errores, fallas o vulnerabilidades que pueden causar incidentes. Muchos errores se identifican y resuelven antes de que un servicio entre en funcionamiento. Sin embargo, algunos permanecen sin identificar o sin resolver y pueden ser un riesgo para los servicios en vivo. En </a:t>
            </a:r>
            <a:r>
              <a:rPr lang="es-ES" sz="2000" b="0" i="0" dirty="0" err="1">
                <a:solidFill>
                  <a:srgbClr val="444340"/>
                </a:solidFill>
                <a:effectLst/>
              </a:rPr>
              <a:t>ITIL</a:t>
            </a:r>
            <a:r>
              <a:rPr lang="es-ES" sz="2000" b="0" i="0" dirty="0">
                <a:solidFill>
                  <a:srgbClr val="444340"/>
                </a:solidFill>
                <a:effectLst/>
              </a:rPr>
              <a:t>, estos errores se denominan problemas y son abordados por la práctica de gestión de problemas</a:t>
            </a:r>
            <a:endParaRPr lang="es-EC" sz="2000" dirty="0"/>
          </a:p>
        </p:txBody>
      </p:sp>
    </p:spTree>
    <p:extLst>
      <p:ext uri="{BB962C8B-B14F-4D97-AF65-F5344CB8AC3E}">
        <p14:creationId xmlns:p14="http://schemas.microsoft.com/office/powerpoint/2010/main" val="352034852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9CC4DCAD-2B31-4680-8999-72BAD731A785}"/>
              </a:ext>
            </a:extLst>
          </p:cNvPr>
          <p:cNvSpPr txBox="1"/>
          <p:nvPr/>
        </p:nvSpPr>
        <p:spPr>
          <a:xfrm>
            <a:off x="483506" y="1909637"/>
            <a:ext cx="11224987" cy="3970318"/>
          </a:xfrm>
          <a:prstGeom prst="rect">
            <a:avLst/>
          </a:prstGeom>
          <a:noFill/>
        </p:spPr>
        <p:txBody>
          <a:bodyPr wrap="square" rtlCol="0">
            <a:spAutoFit/>
          </a:bodyPr>
          <a:lstStyle/>
          <a:p>
            <a:pPr fontAlgn="base"/>
            <a:r>
              <a:rPr lang="es-EC" sz="4000" b="1" i="0" dirty="0">
                <a:solidFill>
                  <a:srgbClr val="FF0000"/>
                </a:solidFill>
                <a:effectLst/>
              </a:rPr>
              <a:t>Problemas vs Incidentes</a:t>
            </a:r>
          </a:p>
          <a:p>
            <a:pPr algn="l" fontAlgn="base"/>
            <a:endParaRPr lang="es-ES" sz="2400" b="0" i="0" dirty="0">
              <a:solidFill>
                <a:srgbClr val="444340"/>
              </a:solidFill>
              <a:effectLst/>
              <a:latin typeface="Ubuntu"/>
            </a:endParaRPr>
          </a:p>
          <a:p>
            <a:pPr algn="l" fontAlgn="base"/>
            <a:r>
              <a:rPr lang="es-ES" sz="2400" b="0" i="0" dirty="0">
                <a:solidFill>
                  <a:srgbClr val="444340"/>
                </a:solidFill>
                <a:effectLst/>
                <a:latin typeface="Ubuntu"/>
              </a:rPr>
              <a:t>Los problemas están relacionados con incidentes, pero deben distinguirse ya que se manejan de diferentes maneras:</a:t>
            </a:r>
          </a:p>
          <a:p>
            <a:pPr lvl="1" fontAlgn="base">
              <a:buFont typeface="Arial" panose="020B0604020202020204" pitchFamily="34" charset="0"/>
              <a:buChar char="•"/>
            </a:pPr>
            <a:r>
              <a:rPr lang="es-ES" sz="2400" b="0" i="0" dirty="0">
                <a:solidFill>
                  <a:srgbClr val="444340"/>
                </a:solidFill>
                <a:effectLst/>
                <a:latin typeface="inherit"/>
              </a:rPr>
              <a:t>Los </a:t>
            </a:r>
            <a:r>
              <a:rPr lang="es-ES" sz="2400" b="1" i="0" dirty="0">
                <a:solidFill>
                  <a:srgbClr val="444340"/>
                </a:solidFill>
                <a:effectLst/>
                <a:latin typeface="inherit"/>
              </a:rPr>
              <a:t>incidentes</a:t>
            </a:r>
            <a:r>
              <a:rPr lang="es-ES" sz="2400" b="0" i="0" dirty="0">
                <a:solidFill>
                  <a:srgbClr val="444340"/>
                </a:solidFill>
                <a:effectLst/>
                <a:latin typeface="inherit"/>
              </a:rPr>
              <a:t> tienen un impacto en los usuarios o en los procesos comerciales y deben resolverse para que pueda llevarse a cabo la actividad comercial normal.</a:t>
            </a:r>
          </a:p>
          <a:p>
            <a:pPr lvl="1" fontAlgn="base">
              <a:buFont typeface="Arial" panose="020B0604020202020204" pitchFamily="34" charset="0"/>
              <a:buChar char="•"/>
            </a:pPr>
            <a:r>
              <a:rPr lang="es-ES" sz="2400" b="0" i="0" dirty="0">
                <a:solidFill>
                  <a:srgbClr val="444340"/>
                </a:solidFill>
                <a:effectLst/>
                <a:latin typeface="inherit"/>
              </a:rPr>
              <a:t>Los </a:t>
            </a:r>
            <a:r>
              <a:rPr lang="es-ES" sz="2400" b="1" i="0" dirty="0">
                <a:solidFill>
                  <a:srgbClr val="444340"/>
                </a:solidFill>
                <a:effectLst/>
                <a:latin typeface="inherit"/>
              </a:rPr>
              <a:t>problemas</a:t>
            </a:r>
            <a:r>
              <a:rPr lang="es-ES" sz="2400" b="0" i="0" dirty="0">
                <a:solidFill>
                  <a:srgbClr val="444340"/>
                </a:solidFill>
                <a:effectLst/>
                <a:latin typeface="inherit"/>
              </a:rPr>
              <a:t> son las causas de los incidentes. Requieren investigación y análisis para identificar las causas, desarrollar soluciones y recomendar una resolución a más largo plazo. Esto reduce el número y el impacto de futuros incidentes.</a:t>
            </a:r>
          </a:p>
          <a:p>
            <a:endParaRPr lang="es-EC" sz="2000" dirty="0"/>
          </a:p>
        </p:txBody>
      </p:sp>
    </p:spTree>
    <p:extLst>
      <p:ext uri="{BB962C8B-B14F-4D97-AF65-F5344CB8AC3E}">
        <p14:creationId xmlns:p14="http://schemas.microsoft.com/office/powerpoint/2010/main" val="347209577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3"/>
            <a:ext cx="11145077" cy="2005580"/>
          </a:xfrm>
        </p:spPr>
        <p:txBody>
          <a:bodyPr>
            <a:normAutofit/>
          </a:bodyPr>
          <a:lstStyle/>
          <a:p>
            <a:pPr marL="0" indent="0">
              <a:buNone/>
            </a:pPr>
            <a:r>
              <a:rPr lang="es-EC" sz="4400" b="1" i="0" dirty="0">
                <a:solidFill>
                  <a:srgbClr val="FF0000"/>
                </a:solidFill>
                <a:effectLst/>
              </a:rPr>
              <a:t>Conceptos básicos </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EA50CBB2-5CE3-4686-A559-04F74C9C29FA}"/>
              </a:ext>
            </a:extLst>
          </p:cNvPr>
          <p:cNvPicPr>
            <a:picLocks noChangeAspect="1"/>
          </p:cNvPicPr>
          <p:nvPr/>
        </p:nvPicPr>
        <p:blipFill>
          <a:blip r:embed="rId2"/>
          <a:stretch>
            <a:fillRect/>
          </a:stretch>
        </p:blipFill>
        <p:spPr>
          <a:xfrm>
            <a:off x="439592" y="2509036"/>
            <a:ext cx="11312815" cy="2805085"/>
          </a:xfrm>
          <a:prstGeom prst="rect">
            <a:avLst/>
          </a:prstGeom>
        </p:spPr>
      </p:pic>
    </p:spTree>
    <p:extLst>
      <p:ext uri="{BB962C8B-B14F-4D97-AF65-F5344CB8AC3E}">
        <p14:creationId xmlns:p14="http://schemas.microsoft.com/office/powerpoint/2010/main" val="327619242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fontScale="70000" lnSpcReduction="20000"/>
          </a:bodyPr>
          <a:lstStyle/>
          <a:p>
            <a:pPr marL="0" indent="0">
              <a:buNone/>
            </a:pPr>
            <a:r>
              <a:rPr lang="es-EC" sz="5700" b="1" i="0" dirty="0">
                <a:solidFill>
                  <a:srgbClr val="FF0000"/>
                </a:solidFill>
                <a:effectLst/>
              </a:rPr>
              <a:t>Consideraciones</a:t>
            </a:r>
          </a:p>
          <a:p>
            <a:pPr marL="0" indent="0">
              <a:buNone/>
            </a:pPr>
            <a:endParaRPr lang="es-EC" sz="2000" b="1" dirty="0">
              <a:solidFill>
                <a:srgbClr val="FF0000"/>
              </a:solidFill>
            </a:endParaRPr>
          </a:p>
          <a:p>
            <a:pPr algn="l" fontAlgn="base"/>
            <a:r>
              <a:rPr lang="es-ES" sz="3400" b="0" i="0" dirty="0">
                <a:solidFill>
                  <a:srgbClr val="444340"/>
                </a:solidFill>
                <a:effectLst/>
                <a:latin typeface="Ubuntu"/>
              </a:rPr>
              <a:t>Los problemas se priorizan para su análisis en función del riesgo que suponen y se gestionan como riesgos en función de su posible impacto y probabilidad. No es imprescindible analizar todos los problemas; Es más valioso lograr un progreso significativo en los problemas de mayor prioridad que investigar todos los problemas menores que la organización conoce.</a:t>
            </a:r>
          </a:p>
          <a:p>
            <a:pPr algn="l" fontAlgn="base"/>
            <a:r>
              <a:rPr lang="es-ES" sz="3400" b="0" i="0" dirty="0">
                <a:solidFill>
                  <a:srgbClr val="444340"/>
                </a:solidFill>
                <a:effectLst/>
                <a:latin typeface="Ubuntu"/>
              </a:rPr>
              <a:t>Los incidentes suelen tener muchas causas interrelacionadas y las relaciones entre ellas pueden ser complejas. El control de problemas debe considerar todas las causas contribuyentes, incluidas las causas que contribuyeron a la duración y el impacto de los incidentes, así como las que llevaron a que ocurrieran. Es importante analizar los problemas desde la perspectiva de las cuatro dimensiones de la gestión de servicios. Por ejemplo, un incidente que fue causado por documentación inexacta puede requerir no solo una corrección de esa documentación, sino también capacitación y concientización para el personal de soporte, proveedores y usuarios.</a:t>
            </a:r>
          </a:p>
          <a:p>
            <a:pPr algn="l" fontAlgn="base"/>
            <a:r>
              <a:rPr lang="es-ES" sz="3400" b="0" i="0" dirty="0">
                <a:solidFill>
                  <a:srgbClr val="444340"/>
                </a:solidFill>
                <a:effectLst/>
                <a:latin typeface="Ubuntu"/>
              </a:rPr>
              <a:t>Cuando un problema no se puede resolver rápidamente, a menudo es útil encontrar y documentar una solución para futuros incidentes, basándose en la comprensión del problema.</a:t>
            </a:r>
          </a:p>
          <a:p>
            <a:pPr marL="0" indent="0">
              <a:buNone/>
            </a:pPr>
            <a:endParaRPr lang="es-EC" sz="4400" b="1" i="0" dirty="0">
              <a:solidFill>
                <a:srgbClr val="FF000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25985243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a:bodyPr>
          <a:lstStyle/>
          <a:p>
            <a:pPr marL="0" indent="0">
              <a:buNone/>
            </a:pPr>
            <a:r>
              <a:rPr lang="es-EC" sz="4600" b="1" i="0" dirty="0">
                <a:solidFill>
                  <a:srgbClr val="FF0000"/>
                </a:solidFill>
                <a:effectLst/>
              </a:rPr>
              <a:t>Consideraciones</a:t>
            </a:r>
          </a:p>
          <a:p>
            <a:pPr marL="0" indent="0">
              <a:buNone/>
            </a:pPr>
            <a:endParaRPr lang="es-EC" sz="1400" b="1" dirty="0">
              <a:solidFill>
                <a:srgbClr val="FF0000"/>
              </a:solidFill>
            </a:endParaRPr>
          </a:p>
          <a:p>
            <a:pPr algn="l" fontAlgn="base"/>
            <a:r>
              <a:rPr lang="es-ES" sz="2400" b="0" i="0" dirty="0">
                <a:solidFill>
                  <a:srgbClr val="444340"/>
                </a:solidFill>
                <a:effectLst/>
                <a:latin typeface="Ubuntu"/>
              </a:rPr>
              <a:t>Una solución alternativa eficaz a los incidentes puede convertirse en una forma permanente de abordar algunos problemas cuando resolver el problema no es viable o rentable. En este caso, el problema permanece en el estado de error conocido y se aplica la solución documentada en caso de que ocurran incidentes relacionados. Cada solución alternativa documentada debe incluir una definición clara de los síntomas a los que se aplica. En algunos casos, la aplicación de solución alternativa puede automatizarse.</a:t>
            </a:r>
            <a:endParaRPr lang="es-EC" sz="4400" b="1" i="0" dirty="0">
              <a:solidFill>
                <a:srgbClr val="FF000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4358045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a:bodyPr>
          <a:lstStyle/>
          <a:p>
            <a:pPr marL="0" indent="0">
              <a:buNone/>
            </a:pPr>
            <a:r>
              <a:rPr lang="es-EC" sz="4600" b="1" i="0" dirty="0">
                <a:solidFill>
                  <a:srgbClr val="FF0000"/>
                </a:solidFill>
                <a:effectLst/>
              </a:rPr>
              <a:t>Integración con otras practicas</a:t>
            </a:r>
          </a:p>
          <a:p>
            <a:pPr marL="0" indent="0">
              <a:buNone/>
            </a:pPr>
            <a:endParaRPr lang="es-EC" sz="1400" b="1" dirty="0">
              <a:solidFill>
                <a:srgbClr val="FF0000"/>
              </a:solidFill>
            </a:endParaRPr>
          </a:p>
          <a:p>
            <a:pPr algn="l" fontAlgn="base"/>
            <a:r>
              <a:rPr lang="es-ES" sz="3200" b="0" i="0" dirty="0">
                <a:solidFill>
                  <a:srgbClr val="444340"/>
                </a:solidFill>
                <a:effectLst/>
                <a:latin typeface="Ubuntu"/>
              </a:rPr>
              <a:t>Las actividades de gestión de problemas están muy relacionadas con la gestión de incidentes. Las prácticas deben diseñarse para trabajar juntas dentro de la cadena de valor. Las actividades de estas dos prácticas pueden complementarse entre sí </a:t>
            </a:r>
            <a:r>
              <a:rPr lang="es-ES" sz="3200" b="1" i="0" dirty="0">
                <a:solidFill>
                  <a:srgbClr val="444340"/>
                </a:solidFill>
                <a:effectLst/>
                <a:latin typeface="Ubuntu"/>
              </a:rPr>
              <a:t>(por ejemplo, identificar las causas de un incidente es una actividad de gestión de problemas que puede llevar a la resolución del incidente).</a:t>
            </a:r>
            <a:endParaRPr lang="es-EC" sz="7200" b="1" i="0" dirty="0">
              <a:solidFill>
                <a:srgbClr val="FF0000"/>
              </a:solidFill>
              <a:effectLs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13835687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a:bodyPr>
          <a:lstStyle/>
          <a:p>
            <a:pPr marL="0" indent="0">
              <a:buNone/>
            </a:pPr>
            <a:r>
              <a:rPr lang="es-EC" sz="4600" b="1" i="0" dirty="0">
                <a:solidFill>
                  <a:srgbClr val="FF0000"/>
                </a:solidFill>
                <a:effectLst/>
              </a:rPr>
              <a:t>Integración con otras practicas</a:t>
            </a:r>
          </a:p>
          <a:p>
            <a:pPr marL="0" indent="0">
              <a:buNone/>
            </a:pPr>
            <a:endParaRPr lang="es-EC" sz="1400" b="1" dirty="0">
              <a:solidFill>
                <a:srgbClr val="FF0000"/>
              </a:solidFill>
            </a:endParaRPr>
          </a:p>
          <a:p>
            <a:pPr marL="0" indent="0" algn="l" fontAlgn="base">
              <a:buNone/>
            </a:pPr>
            <a:r>
              <a:rPr lang="es-ES" sz="2400" b="0" i="0" dirty="0">
                <a:solidFill>
                  <a:srgbClr val="444340"/>
                </a:solidFill>
                <a:effectLst/>
                <a:latin typeface="Ubuntu"/>
              </a:rPr>
              <a:t>Los ejemplos de interfaces entre la gestión de problemas, la gestión de riesgos, el control de cambios, la gestión del conocimiento y la mejora continua son los siguientes:</a:t>
            </a:r>
          </a:p>
          <a:p>
            <a:pPr algn="l" fontAlgn="base">
              <a:buFont typeface="Arial" panose="020B0604020202020204" pitchFamily="34" charset="0"/>
              <a:buChar char="•"/>
            </a:pPr>
            <a:r>
              <a:rPr lang="es-ES" sz="2400" b="0" i="0" dirty="0">
                <a:solidFill>
                  <a:srgbClr val="444340"/>
                </a:solidFill>
                <a:effectLst/>
                <a:latin typeface="inherit"/>
              </a:rPr>
              <a:t>Las actividades de gestión de problemas se pueden organizar como un caso específico de gestión de riesgos: tienen como objetivo identificar, evaluar y controlar los riesgos en cualquiera de las cuatro dimensiones de la gestión de servicios. Es útil adoptar herramientas y técnicas de gestión de riesgos para la gestión de problemas.</a:t>
            </a:r>
          </a:p>
          <a:p>
            <a:pPr algn="l" fontAlgn="base">
              <a:buFont typeface="Arial" panose="020B0604020202020204" pitchFamily="34" charset="0"/>
              <a:buChar char="•"/>
            </a:pPr>
            <a:r>
              <a:rPr lang="es-ES" sz="2400" b="0" i="0" dirty="0">
                <a:solidFill>
                  <a:srgbClr val="444340"/>
                </a:solidFill>
                <a:effectLst/>
                <a:latin typeface="inherit"/>
              </a:rPr>
              <a:t>La implementación de la resolución de problemas a menudo está fuera del alcance de la gestión de problemas. La gestión de problemas normalmente inicia la resolución mediante el control de cambios y participa en la revisión posterior a la implementación; sin embargo, aprobar e implementar cambios está fuera del alcance de la práctica de gestión de problemas.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71410544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a:bodyPr>
          <a:lstStyle/>
          <a:p>
            <a:pPr marL="0" indent="0">
              <a:buNone/>
            </a:pPr>
            <a:r>
              <a:rPr lang="es-EC" sz="4600" b="1" i="0" dirty="0">
                <a:solidFill>
                  <a:srgbClr val="FF0000"/>
                </a:solidFill>
                <a:effectLst/>
              </a:rPr>
              <a:t>Integración con otras practicas</a:t>
            </a:r>
          </a:p>
          <a:p>
            <a:pPr marL="0" indent="0">
              <a:buNone/>
            </a:pPr>
            <a:endParaRPr lang="es-EC" sz="1400" b="1" dirty="0">
              <a:solidFill>
                <a:srgbClr val="FF0000"/>
              </a:solidFill>
            </a:endParaRPr>
          </a:p>
          <a:p>
            <a:pPr fontAlgn="base"/>
            <a:r>
              <a:rPr lang="es-ES" sz="2400" b="0" i="0" dirty="0">
                <a:solidFill>
                  <a:srgbClr val="444340"/>
                </a:solidFill>
                <a:effectLst/>
                <a:latin typeface="Ubuntu"/>
              </a:rPr>
              <a:t>El resultado de la práctica de gestión de problemas incluye información y documentación sobre soluciones provisionales y errores conocidos. Además, la gestión de problemas puede utilizar información en un sistema de gestión del conocimiento para investigar, diagnosticar y resolver problemas.</a:t>
            </a:r>
          </a:p>
          <a:p>
            <a:pPr fontAlgn="base"/>
            <a:r>
              <a:rPr lang="es-ES" sz="2400" b="0" i="0" dirty="0">
                <a:solidFill>
                  <a:srgbClr val="444340"/>
                </a:solidFill>
                <a:effectLst/>
                <a:latin typeface="Ubuntu"/>
              </a:rPr>
              <a:t>Las actividades de gestión de problemas pueden identificar oportunidades de mejora. En algunos casos, las soluciones pueden tratarse como oportunidades de mejora, por lo que se incluyen en un registro de mejora continua y se utilizan técnicas de mejora continua para priorizarlas y gestionarlas.</a:t>
            </a:r>
            <a:endParaRPr lang="es-ES" sz="2400" b="0" i="0" dirty="0">
              <a:solidFill>
                <a:srgbClr val="444340"/>
              </a:solidFill>
              <a:effectLst/>
              <a:latin typeface="inheri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301862649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Gestión de Problemas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C1F19EF9-6EA7-4F61-9722-C9762977598D}"/>
              </a:ext>
            </a:extLst>
          </p:cNvPr>
          <p:cNvPicPr>
            <a:picLocks noChangeAspect="1"/>
          </p:cNvPicPr>
          <p:nvPr/>
        </p:nvPicPr>
        <p:blipFill>
          <a:blip r:embed="rId2"/>
          <a:stretch>
            <a:fillRect/>
          </a:stretch>
        </p:blipFill>
        <p:spPr>
          <a:xfrm>
            <a:off x="869194" y="1082040"/>
            <a:ext cx="10353543" cy="5775960"/>
          </a:xfrm>
          <a:prstGeom prst="rect">
            <a:avLst/>
          </a:prstGeom>
        </p:spPr>
      </p:pic>
    </p:spTree>
    <p:extLst>
      <p:ext uri="{BB962C8B-B14F-4D97-AF65-F5344CB8AC3E}">
        <p14:creationId xmlns:p14="http://schemas.microsoft.com/office/powerpoint/2010/main" val="334440911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16. Mesa de Servicios</a:t>
            </a:r>
          </a:p>
        </p:txBody>
      </p:sp>
      <p:pic>
        <p:nvPicPr>
          <p:cNvPr id="15362" name="Picture 2" descr="Qué beneficios ofrece una mesa de servicio (service desk)?">
            <a:extLst>
              <a:ext uri="{FF2B5EF4-FFF2-40B4-BE49-F238E27FC236}">
                <a16:creationId xmlns:a16="http://schemas.microsoft.com/office/drawing/2014/main" id="{04C8E145-8378-4C22-912A-3747A3D875D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277" r="5177"/>
          <a:stretch/>
        </p:blipFill>
        <p:spPr bwMode="auto">
          <a:xfrm>
            <a:off x="5520040" y="1427657"/>
            <a:ext cx="6382152" cy="4362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57758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9CC4DCAD-2B31-4680-8999-72BAD731A785}"/>
              </a:ext>
            </a:extLst>
          </p:cNvPr>
          <p:cNvSpPr txBox="1"/>
          <p:nvPr/>
        </p:nvSpPr>
        <p:spPr>
          <a:xfrm>
            <a:off x="633407" y="1443841"/>
            <a:ext cx="11224987" cy="1384995"/>
          </a:xfrm>
          <a:prstGeom prst="rect">
            <a:avLst/>
          </a:prstGeom>
          <a:noFill/>
        </p:spPr>
        <p:txBody>
          <a:bodyPr wrap="square" rtlCol="0">
            <a:spAutoFit/>
          </a:bodyPr>
          <a:lstStyle/>
          <a:p>
            <a:pPr fontAlgn="base"/>
            <a:r>
              <a:rPr lang="es-EC" sz="4000" b="1" i="0" dirty="0">
                <a:solidFill>
                  <a:srgbClr val="FF0000"/>
                </a:solidFill>
                <a:effectLst/>
              </a:rPr>
              <a:t>Objetivo</a:t>
            </a:r>
          </a:p>
          <a:p>
            <a:pPr algn="l" fontAlgn="base"/>
            <a:endParaRPr lang="es-ES" sz="2400" b="0" i="0" dirty="0">
              <a:solidFill>
                <a:srgbClr val="444340"/>
              </a:solidFill>
              <a:effectLst/>
              <a:latin typeface="Ubuntu"/>
            </a:endParaRPr>
          </a:p>
          <a:p>
            <a:endParaRPr lang="es-EC" sz="2000" dirty="0"/>
          </a:p>
        </p:txBody>
      </p:sp>
      <p:pic>
        <p:nvPicPr>
          <p:cNvPr id="4" name="Imagen 3">
            <a:extLst>
              <a:ext uri="{FF2B5EF4-FFF2-40B4-BE49-F238E27FC236}">
                <a16:creationId xmlns:a16="http://schemas.microsoft.com/office/drawing/2014/main" id="{9ADA16E4-8341-438E-AF29-A98538751F49}"/>
              </a:ext>
            </a:extLst>
          </p:cNvPr>
          <p:cNvPicPr>
            <a:picLocks noChangeAspect="1"/>
          </p:cNvPicPr>
          <p:nvPr/>
        </p:nvPicPr>
        <p:blipFill>
          <a:blip r:embed="rId2"/>
          <a:stretch>
            <a:fillRect/>
          </a:stretch>
        </p:blipFill>
        <p:spPr>
          <a:xfrm>
            <a:off x="1013202" y="2251022"/>
            <a:ext cx="10545392" cy="4314669"/>
          </a:xfrm>
          <a:prstGeom prst="rect">
            <a:avLst/>
          </a:prstGeom>
        </p:spPr>
      </p:pic>
    </p:spTree>
    <p:extLst>
      <p:ext uri="{BB962C8B-B14F-4D97-AF65-F5344CB8AC3E}">
        <p14:creationId xmlns:p14="http://schemas.microsoft.com/office/powerpoint/2010/main" val="267885238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5" name="CuadroTexto 4">
            <a:extLst>
              <a:ext uri="{FF2B5EF4-FFF2-40B4-BE49-F238E27FC236}">
                <a16:creationId xmlns:a16="http://schemas.microsoft.com/office/drawing/2014/main" id="{9CC4DCAD-2B31-4680-8999-72BAD731A785}"/>
              </a:ext>
            </a:extLst>
          </p:cNvPr>
          <p:cNvSpPr txBox="1"/>
          <p:nvPr/>
        </p:nvSpPr>
        <p:spPr>
          <a:xfrm>
            <a:off x="633407" y="1443841"/>
            <a:ext cx="11224987" cy="1384995"/>
          </a:xfrm>
          <a:prstGeom prst="rect">
            <a:avLst/>
          </a:prstGeom>
          <a:noFill/>
        </p:spPr>
        <p:txBody>
          <a:bodyPr wrap="square" rtlCol="0">
            <a:spAutoFit/>
          </a:bodyPr>
          <a:lstStyle/>
          <a:p>
            <a:pPr fontAlgn="base"/>
            <a:r>
              <a:rPr lang="es-EC" sz="4000" b="1" i="0" dirty="0">
                <a:solidFill>
                  <a:srgbClr val="FF0000"/>
                </a:solidFill>
                <a:effectLst/>
              </a:rPr>
              <a:t>Actividades de la mesa de servicios</a:t>
            </a:r>
          </a:p>
          <a:p>
            <a:pPr algn="l" fontAlgn="base"/>
            <a:endParaRPr lang="es-ES" sz="2400" b="0" i="0" dirty="0">
              <a:solidFill>
                <a:srgbClr val="444340"/>
              </a:solidFill>
              <a:effectLst/>
              <a:latin typeface="Ubuntu"/>
            </a:endParaRPr>
          </a:p>
          <a:p>
            <a:endParaRPr lang="es-EC" sz="2000" dirty="0"/>
          </a:p>
        </p:txBody>
      </p:sp>
      <p:pic>
        <p:nvPicPr>
          <p:cNvPr id="10" name="Imagen 9">
            <a:extLst>
              <a:ext uri="{FF2B5EF4-FFF2-40B4-BE49-F238E27FC236}">
                <a16:creationId xmlns:a16="http://schemas.microsoft.com/office/drawing/2014/main" id="{4DD58FDA-9D40-429A-8C07-6BE05AD88212}"/>
              </a:ext>
            </a:extLst>
          </p:cNvPr>
          <p:cNvPicPr>
            <a:picLocks noChangeAspect="1"/>
          </p:cNvPicPr>
          <p:nvPr/>
        </p:nvPicPr>
        <p:blipFill>
          <a:blip r:embed="rId2"/>
          <a:stretch>
            <a:fillRect/>
          </a:stretch>
        </p:blipFill>
        <p:spPr>
          <a:xfrm>
            <a:off x="633407" y="2242334"/>
            <a:ext cx="10925186" cy="4458440"/>
          </a:xfrm>
          <a:prstGeom prst="rect">
            <a:avLst/>
          </a:prstGeom>
        </p:spPr>
      </p:pic>
    </p:spTree>
    <p:extLst>
      <p:ext uri="{BB962C8B-B14F-4D97-AF65-F5344CB8AC3E}">
        <p14:creationId xmlns:p14="http://schemas.microsoft.com/office/powerpoint/2010/main" val="41335002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52AC0F66-E441-4FD5-8026-F6CBDC62480B}"/>
              </a:ext>
            </a:extLst>
          </p:cNvPr>
          <p:cNvPicPr>
            <a:picLocks noChangeAspect="1"/>
          </p:cNvPicPr>
          <p:nvPr/>
        </p:nvPicPr>
        <p:blipFill>
          <a:blip r:embed="rId2"/>
          <a:stretch>
            <a:fillRect/>
          </a:stretch>
        </p:blipFill>
        <p:spPr>
          <a:xfrm>
            <a:off x="552370" y="1706457"/>
            <a:ext cx="11624006" cy="4244637"/>
          </a:xfrm>
          <a:prstGeom prst="rect">
            <a:avLst/>
          </a:prstGeom>
        </p:spPr>
      </p:pic>
    </p:spTree>
    <p:extLst>
      <p:ext uri="{BB962C8B-B14F-4D97-AF65-F5344CB8AC3E}">
        <p14:creationId xmlns:p14="http://schemas.microsoft.com/office/powerpoint/2010/main" val="281144538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7" name="Imagen 6">
            <a:extLst>
              <a:ext uri="{FF2B5EF4-FFF2-40B4-BE49-F238E27FC236}">
                <a16:creationId xmlns:a16="http://schemas.microsoft.com/office/drawing/2014/main" id="{E54BE094-7D93-4639-8285-FFD62C0DA2E3}"/>
              </a:ext>
            </a:extLst>
          </p:cNvPr>
          <p:cNvPicPr>
            <a:picLocks noChangeAspect="1"/>
          </p:cNvPicPr>
          <p:nvPr/>
        </p:nvPicPr>
        <p:blipFill>
          <a:blip r:embed="rId2"/>
          <a:stretch>
            <a:fillRect/>
          </a:stretch>
        </p:blipFill>
        <p:spPr>
          <a:xfrm>
            <a:off x="568566" y="1492536"/>
            <a:ext cx="11623434" cy="4383608"/>
          </a:xfrm>
          <a:prstGeom prst="rect">
            <a:avLst/>
          </a:prstGeom>
        </p:spPr>
      </p:pic>
    </p:spTree>
    <p:extLst>
      <p:ext uri="{BB962C8B-B14F-4D97-AF65-F5344CB8AC3E}">
        <p14:creationId xmlns:p14="http://schemas.microsoft.com/office/powerpoint/2010/main" val="61141451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6" name="Imagen 5">
            <a:extLst>
              <a:ext uri="{FF2B5EF4-FFF2-40B4-BE49-F238E27FC236}">
                <a16:creationId xmlns:a16="http://schemas.microsoft.com/office/drawing/2014/main" id="{41B8B2B3-2729-40D3-A281-74F9556D0B74}"/>
              </a:ext>
            </a:extLst>
          </p:cNvPr>
          <p:cNvPicPr>
            <a:picLocks noChangeAspect="1"/>
          </p:cNvPicPr>
          <p:nvPr/>
        </p:nvPicPr>
        <p:blipFill>
          <a:blip r:embed="rId2"/>
          <a:stretch>
            <a:fillRect/>
          </a:stretch>
        </p:blipFill>
        <p:spPr>
          <a:xfrm>
            <a:off x="551045" y="1499952"/>
            <a:ext cx="11305496" cy="4031417"/>
          </a:xfrm>
          <a:prstGeom prst="rect">
            <a:avLst/>
          </a:prstGeom>
        </p:spPr>
      </p:pic>
    </p:spTree>
    <p:extLst>
      <p:ext uri="{BB962C8B-B14F-4D97-AF65-F5344CB8AC3E}">
        <p14:creationId xmlns:p14="http://schemas.microsoft.com/office/powerpoint/2010/main" val="40441254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BF942D84-D5ED-4DB7-B551-10CF5839BA56}"/>
              </a:ext>
            </a:extLst>
          </p:cNvPr>
          <p:cNvPicPr>
            <a:picLocks noChangeAspect="1"/>
          </p:cNvPicPr>
          <p:nvPr/>
        </p:nvPicPr>
        <p:blipFill>
          <a:blip r:embed="rId2"/>
          <a:stretch>
            <a:fillRect/>
          </a:stretch>
        </p:blipFill>
        <p:spPr>
          <a:xfrm>
            <a:off x="871849" y="1671012"/>
            <a:ext cx="11247652" cy="4175152"/>
          </a:xfrm>
          <a:prstGeom prst="rect">
            <a:avLst/>
          </a:prstGeom>
        </p:spPr>
      </p:pic>
    </p:spTree>
    <p:extLst>
      <p:ext uri="{BB962C8B-B14F-4D97-AF65-F5344CB8AC3E}">
        <p14:creationId xmlns:p14="http://schemas.microsoft.com/office/powerpoint/2010/main" val="8512946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BF0796B1-2651-4491-9F21-98F2F2EC0996}"/>
              </a:ext>
            </a:extLst>
          </p:cNvPr>
          <p:cNvPicPr>
            <a:picLocks noChangeAspect="1"/>
          </p:cNvPicPr>
          <p:nvPr/>
        </p:nvPicPr>
        <p:blipFill>
          <a:blip r:embed="rId2"/>
          <a:stretch>
            <a:fillRect/>
          </a:stretch>
        </p:blipFill>
        <p:spPr>
          <a:xfrm>
            <a:off x="182880" y="1379094"/>
            <a:ext cx="11363277" cy="4796853"/>
          </a:xfrm>
          <a:prstGeom prst="rect">
            <a:avLst/>
          </a:prstGeom>
        </p:spPr>
      </p:pic>
    </p:spTree>
    <p:extLst>
      <p:ext uri="{BB962C8B-B14F-4D97-AF65-F5344CB8AC3E}">
        <p14:creationId xmlns:p14="http://schemas.microsoft.com/office/powerpoint/2010/main" val="122073367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1B776E01-9563-4065-90A9-2855F743CDB8}"/>
              </a:ext>
            </a:extLst>
          </p:cNvPr>
          <p:cNvPicPr>
            <a:picLocks noChangeAspect="1"/>
          </p:cNvPicPr>
          <p:nvPr/>
        </p:nvPicPr>
        <p:blipFill>
          <a:blip r:embed="rId2"/>
          <a:stretch>
            <a:fillRect/>
          </a:stretch>
        </p:blipFill>
        <p:spPr>
          <a:xfrm>
            <a:off x="445923" y="1794837"/>
            <a:ext cx="11300153" cy="3796494"/>
          </a:xfrm>
          <a:prstGeom prst="rect">
            <a:avLst/>
          </a:prstGeom>
        </p:spPr>
      </p:pic>
    </p:spTree>
    <p:extLst>
      <p:ext uri="{BB962C8B-B14F-4D97-AF65-F5344CB8AC3E}">
        <p14:creationId xmlns:p14="http://schemas.microsoft.com/office/powerpoint/2010/main" val="234629764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Mesa de Servicios</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00187B89-E573-40FD-8B00-F47A32929B16}"/>
              </a:ext>
            </a:extLst>
          </p:cNvPr>
          <p:cNvPicPr>
            <a:picLocks noChangeAspect="1"/>
          </p:cNvPicPr>
          <p:nvPr/>
        </p:nvPicPr>
        <p:blipFill>
          <a:blip r:embed="rId2"/>
          <a:stretch>
            <a:fillRect/>
          </a:stretch>
        </p:blipFill>
        <p:spPr>
          <a:xfrm>
            <a:off x="846318" y="1082040"/>
            <a:ext cx="10218137" cy="5775960"/>
          </a:xfrm>
          <a:prstGeom prst="rect">
            <a:avLst/>
          </a:prstGeom>
        </p:spPr>
      </p:pic>
    </p:spTree>
    <p:extLst>
      <p:ext uri="{BB962C8B-B14F-4D97-AF65-F5344CB8AC3E}">
        <p14:creationId xmlns:p14="http://schemas.microsoft.com/office/powerpoint/2010/main" val="244164138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B0B617-C257-4359-AFDC-0E5975183EA4}"/>
              </a:ext>
            </a:extLst>
          </p:cNvPr>
          <p:cNvSpPr>
            <a:spLocks noGrp="1"/>
          </p:cNvSpPr>
          <p:nvPr>
            <p:ph type="title"/>
          </p:nvPr>
        </p:nvSpPr>
        <p:spPr>
          <a:xfrm>
            <a:off x="640080" y="865632"/>
            <a:ext cx="4368602" cy="1416578"/>
          </a:xfrm>
        </p:spPr>
        <p:txBody>
          <a:bodyPr anchor="b">
            <a:normAutofit/>
          </a:bodyPr>
          <a:lstStyle/>
          <a:p>
            <a:pPr algn="ctr"/>
            <a:r>
              <a:rPr lang="es-EC" sz="8900" dirty="0" err="1"/>
              <a:t>ITIL</a:t>
            </a:r>
            <a:r>
              <a:rPr lang="es-EC" sz="8900" dirty="0"/>
              <a:t> 4</a:t>
            </a:r>
            <a:endParaRPr lang="es-EC" sz="4200" dirty="0"/>
          </a:p>
        </p:txBody>
      </p:sp>
      <p:sp>
        <p:nvSpPr>
          <p:cNvPr id="3" name="Marcador de contenido 2">
            <a:extLst>
              <a:ext uri="{FF2B5EF4-FFF2-40B4-BE49-F238E27FC236}">
                <a16:creationId xmlns:a16="http://schemas.microsoft.com/office/drawing/2014/main" id="{3A381CDC-C1E2-46D4-B108-EE574E07BB23}"/>
              </a:ext>
            </a:extLst>
          </p:cNvPr>
          <p:cNvSpPr>
            <a:spLocks noGrp="1"/>
          </p:cNvSpPr>
          <p:nvPr>
            <p:ph idx="1"/>
          </p:nvPr>
        </p:nvSpPr>
        <p:spPr>
          <a:xfrm>
            <a:off x="640080" y="2282210"/>
            <a:ext cx="4670097" cy="3911357"/>
          </a:xfrm>
        </p:spPr>
        <p:txBody>
          <a:bodyPr>
            <a:normAutofit/>
          </a:bodyPr>
          <a:lstStyle/>
          <a:p>
            <a:pPr marL="0" indent="0">
              <a:buNone/>
            </a:pPr>
            <a:r>
              <a:rPr lang="es-EC" sz="3600" b="1" dirty="0">
                <a:solidFill>
                  <a:srgbClr val="FF0000"/>
                </a:solidFill>
              </a:rPr>
              <a:t>Prácticas de Gestión del Servicio</a:t>
            </a:r>
          </a:p>
          <a:p>
            <a:pPr marL="0" indent="0">
              <a:buNone/>
            </a:pPr>
            <a:endParaRPr lang="es-EC" sz="3600" b="1" dirty="0">
              <a:solidFill>
                <a:srgbClr val="FF0000"/>
              </a:solidFill>
            </a:endParaRPr>
          </a:p>
          <a:p>
            <a:pPr marL="0" indent="0">
              <a:buNone/>
            </a:pPr>
            <a:r>
              <a:rPr lang="es-EC" sz="3600" b="1" dirty="0">
                <a:solidFill>
                  <a:srgbClr val="FF0000"/>
                </a:solidFill>
              </a:rPr>
              <a:t>17. Configuración del Servicio</a:t>
            </a:r>
          </a:p>
        </p:txBody>
      </p:sp>
      <p:pic>
        <p:nvPicPr>
          <p:cNvPr id="16386" name="Picture 2" descr="Servicio de configuración de métricas Yoonta – Yoonta">
            <a:extLst>
              <a:ext uri="{FF2B5EF4-FFF2-40B4-BE49-F238E27FC236}">
                <a16:creationId xmlns:a16="http://schemas.microsoft.com/office/drawing/2014/main" id="{DAA55711-FC6C-4499-ADF3-6F5FDD511F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5805" y="1273628"/>
            <a:ext cx="6833509" cy="455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929127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5616798"/>
          </a:xfrm>
        </p:spPr>
        <p:txBody>
          <a:bodyPr>
            <a:normAutofit/>
          </a:bodyPr>
          <a:lstStyle/>
          <a:p>
            <a:pPr marL="0" indent="0">
              <a:buNone/>
            </a:pPr>
            <a:r>
              <a:rPr lang="es-EC" sz="4600" b="1" i="0" dirty="0">
                <a:solidFill>
                  <a:srgbClr val="FF0000"/>
                </a:solidFill>
                <a:effectLst/>
              </a:rPr>
              <a:t>Objetivo</a:t>
            </a:r>
          </a:p>
          <a:p>
            <a:pPr marL="0" indent="0">
              <a:buNone/>
            </a:pPr>
            <a:endParaRPr lang="es-EC" sz="1400" b="1" dirty="0">
              <a:solidFill>
                <a:srgbClr val="FF0000"/>
              </a:solidFill>
            </a:endParaRPr>
          </a:p>
          <a:p>
            <a:pPr fontAlgn="base"/>
            <a:r>
              <a:rPr lang="es-ES" sz="3200" b="0" i="0" dirty="0">
                <a:solidFill>
                  <a:srgbClr val="444340"/>
                </a:solidFill>
                <a:effectLst/>
                <a:latin typeface="Ubuntu"/>
              </a:rPr>
              <a:t>Asegura que los </a:t>
            </a:r>
            <a:r>
              <a:rPr lang="es-ES" sz="3200" b="1" i="0" dirty="0">
                <a:solidFill>
                  <a:srgbClr val="FF0000"/>
                </a:solidFill>
                <a:effectLst/>
                <a:latin typeface="Ubuntu"/>
              </a:rPr>
              <a:t>activos</a:t>
            </a:r>
            <a:r>
              <a:rPr lang="es-ES" sz="3200" b="0" i="0" dirty="0">
                <a:solidFill>
                  <a:srgbClr val="444340"/>
                </a:solidFill>
                <a:effectLst/>
                <a:latin typeface="Ubuntu"/>
              </a:rPr>
              <a:t> para entregar los servicios son controlados (la información es exacta, confiable y esta disponible cuando y donde se necesite). Los activos son el conjunto de recursos y capacidades.</a:t>
            </a:r>
          </a:p>
          <a:p>
            <a:pPr fontAlgn="base"/>
            <a:r>
              <a:rPr lang="es-ES" sz="3200" dirty="0">
                <a:solidFill>
                  <a:srgbClr val="444340"/>
                </a:solidFill>
                <a:latin typeface="Ubuntu"/>
              </a:rPr>
              <a:t>Identificar, registrar y controlar los </a:t>
            </a:r>
            <a:r>
              <a:rPr lang="es-ES" sz="3200" b="1" dirty="0">
                <a:solidFill>
                  <a:srgbClr val="FF0000"/>
                </a:solidFill>
                <a:latin typeface="Ubuntu"/>
              </a:rPr>
              <a:t>elementos de configuración </a:t>
            </a:r>
            <a:r>
              <a:rPr lang="es-ES" sz="3200" dirty="0">
                <a:solidFill>
                  <a:srgbClr val="444340"/>
                </a:solidFill>
                <a:latin typeface="Ubuntu"/>
              </a:rPr>
              <a:t>(CI)</a:t>
            </a:r>
          </a:p>
          <a:p>
            <a:pPr fontAlgn="base"/>
            <a:r>
              <a:rPr lang="es-ES" sz="3200" b="0" i="0" dirty="0">
                <a:solidFill>
                  <a:srgbClr val="444340"/>
                </a:solidFill>
                <a:effectLst/>
                <a:latin typeface="Ubuntu"/>
              </a:rPr>
              <a:t>Proteger la integridad de los CI mediante un </a:t>
            </a:r>
            <a:r>
              <a:rPr lang="es-ES" sz="3200" b="1" i="0" dirty="0">
                <a:solidFill>
                  <a:srgbClr val="FF0000"/>
                </a:solidFill>
                <a:effectLst/>
                <a:latin typeface="Ubuntu"/>
              </a:rPr>
              <a:t>Sistema de Gestión</a:t>
            </a:r>
            <a:r>
              <a:rPr lang="es-ES" sz="3200" b="1" dirty="0">
                <a:solidFill>
                  <a:srgbClr val="FF0000"/>
                </a:solidFill>
                <a:latin typeface="Ubuntu"/>
              </a:rPr>
              <a:t> de la Configuración</a:t>
            </a:r>
            <a:r>
              <a:rPr lang="es-ES" sz="3200" dirty="0">
                <a:solidFill>
                  <a:srgbClr val="444340"/>
                </a:solidFill>
                <a:latin typeface="Ubuntu"/>
              </a:rPr>
              <a:t> (</a:t>
            </a:r>
            <a:r>
              <a:rPr lang="es-ES" sz="3200" dirty="0" err="1">
                <a:solidFill>
                  <a:srgbClr val="444340"/>
                </a:solidFill>
                <a:latin typeface="Ubuntu"/>
              </a:rPr>
              <a:t>CMS</a:t>
            </a:r>
            <a:r>
              <a:rPr lang="es-ES" sz="3200" dirty="0">
                <a:solidFill>
                  <a:srgbClr val="444340"/>
                </a:solidFill>
                <a:latin typeface="Ubuntu"/>
              </a:rPr>
              <a:t>) que sea preciso.</a:t>
            </a:r>
            <a:endParaRPr lang="es-ES" sz="3200" b="0" i="0" dirty="0">
              <a:solidFill>
                <a:srgbClr val="444340"/>
              </a:solidFill>
              <a:effectLst/>
              <a:latin typeface="inherit"/>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Tree>
    <p:extLst>
      <p:ext uri="{BB962C8B-B14F-4D97-AF65-F5344CB8AC3E}">
        <p14:creationId xmlns:p14="http://schemas.microsoft.com/office/powerpoint/2010/main" val="196216377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2187798"/>
          </a:xfrm>
        </p:spPr>
        <p:txBody>
          <a:bodyPr>
            <a:normAutofit/>
          </a:bodyPr>
          <a:lstStyle/>
          <a:p>
            <a:pPr marL="0" indent="0">
              <a:buNone/>
            </a:pPr>
            <a:r>
              <a:rPr lang="es-EC" sz="4600" b="1" i="0" dirty="0">
                <a:solidFill>
                  <a:srgbClr val="FF0000"/>
                </a:solidFill>
                <a:effectLst/>
              </a:rPr>
              <a:t>Elemento de configuración </a:t>
            </a:r>
          </a:p>
          <a:p>
            <a:pPr marL="0" indent="0">
              <a:buNone/>
            </a:pPr>
            <a:endParaRPr lang="es-EC" sz="1400" b="1" dirty="0">
              <a:solidFill>
                <a:srgbClr val="FF000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62226891-3CE0-4F26-8AD9-0C404433CD1F}"/>
              </a:ext>
            </a:extLst>
          </p:cNvPr>
          <p:cNvPicPr>
            <a:picLocks noChangeAspect="1"/>
          </p:cNvPicPr>
          <p:nvPr/>
        </p:nvPicPr>
        <p:blipFill>
          <a:blip r:embed="rId2"/>
          <a:stretch>
            <a:fillRect/>
          </a:stretch>
        </p:blipFill>
        <p:spPr>
          <a:xfrm>
            <a:off x="1182046" y="1920647"/>
            <a:ext cx="10515599" cy="4755562"/>
          </a:xfrm>
          <a:prstGeom prst="rect">
            <a:avLst/>
          </a:prstGeom>
        </p:spPr>
      </p:pic>
    </p:spTree>
    <p:extLst>
      <p:ext uri="{BB962C8B-B14F-4D97-AF65-F5344CB8AC3E}">
        <p14:creationId xmlns:p14="http://schemas.microsoft.com/office/powerpoint/2010/main" val="258541169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675861" y="1241202"/>
            <a:ext cx="11145077" cy="2187798"/>
          </a:xfrm>
        </p:spPr>
        <p:txBody>
          <a:bodyPr>
            <a:normAutofit/>
          </a:bodyPr>
          <a:lstStyle/>
          <a:p>
            <a:pPr marL="0" indent="0">
              <a:buNone/>
            </a:pPr>
            <a:r>
              <a:rPr lang="es-EC" sz="4600" b="1" i="0" dirty="0">
                <a:solidFill>
                  <a:srgbClr val="FF0000"/>
                </a:solidFill>
                <a:effectLst/>
              </a:rPr>
              <a:t>Elemento de configuración </a:t>
            </a:r>
          </a:p>
          <a:p>
            <a:pPr marL="0" indent="0">
              <a:buNone/>
            </a:pPr>
            <a:endParaRPr lang="es-EC" sz="1400" b="1" dirty="0">
              <a:solidFill>
                <a:srgbClr val="FF0000"/>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18095438-F437-4FB7-93D1-3704E38DD47C}"/>
              </a:ext>
            </a:extLst>
          </p:cNvPr>
          <p:cNvPicPr>
            <a:picLocks noChangeAspect="1"/>
          </p:cNvPicPr>
          <p:nvPr/>
        </p:nvPicPr>
        <p:blipFill>
          <a:blip r:embed="rId2"/>
          <a:stretch>
            <a:fillRect/>
          </a:stretch>
        </p:blipFill>
        <p:spPr>
          <a:xfrm>
            <a:off x="980394" y="2045111"/>
            <a:ext cx="10535745" cy="4438987"/>
          </a:xfrm>
          <a:prstGeom prst="rect">
            <a:avLst/>
          </a:prstGeom>
        </p:spPr>
      </p:pic>
    </p:spTree>
    <p:extLst>
      <p:ext uri="{BB962C8B-B14F-4D97-AF65-F5344CB8AC3E}">
        <p14:creationId xmlns:p14="http://schemas.microsoft.com/office/powerpoint/2010/main" val="2728068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46471703-36C1-4A05-8E0E-467934C5C265}"/>
              </a:ext>
            </a:extLst>
          </p:cNvPr>
          <p:cNvPicPr>
            <a:picLocks noChangeAspect="1"/>
          </p:cNvPicPr>
          <p:nvPr/>
        </p:nvPicPr>
        <p:blipFill>
          <a:blip r:embed="rId2"/>
          <a:stretch>
            <a:fillRect/>
          </a:stretch>
        </p:blipFill>
        <p:spPr>
          <a:xfrm>
            <a:off x="538844" y="1243803"/>
            <a:ext cx="10891156" cy="5469567"/>
          </a:xfrm>
          <a:prstGeom prst="rect">
            <a:avLst/>
          </a:prstGeom>
        </p:spPr>
      </p:pic>
    </p:spTree>
    <p:extLst>
      <p:ext uri="{BB962C8B-B14F-4D97-AF65-F5344CB8AC3E}">
        <p14:creationId xmlns:p14="http://schemas.microsoft.com/office/powerpoint/2010/main" val="14577273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4890A36E-E7C7-4835-88CA-9C688F885762}"/>
              </a:ext>
            </a:extLst>
          </p:cNvPr>
          <p:cNvPicPr>
            <a:picLocks noChangeAspect="1"/>
          </p:cNvPicPr>
          <p:nvPr/>
        </p:nvPicPr>
        <p:blipFill>
          <a:blip r:embed="rId2"/>
          <a:stretch>
            <a:fillRect/>
          </a:stretch>
        </p:blipFill>
        <p:spPr>
          <a:xfrm>
            <a:off x="783770" y="1318989"/>
            <a:ext cx="10811789" cy="4869540"/>
          </a:xfrm>
          <a:prstGeom prst="rect">
            <a:avLst/>
          </a:prstGeom>
        </p:spPr>
      </p:pic>
    </p:spTree>
    <p:extLst>
      <p:ext uri="{BB962C8B-B14F-4D97-AF65-F5344CB8AC3E}">
        <p14:creationId xmlns:p14="http://schemas.microsoft.com/office/powerpoint/2010/main" val="76813904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4" name="Imagen 3">
            <a:extLst>
              <a:ext uri="{FF2B5EF4-FFF2-40B4-BE49-F238E27FC236}">
                <a16:creationId xmlns:a16="http://schemas.microsoft.com/office/drawing/2014/main" id="{6F69C495-96D7-4EBA-9232-969418F586D0}"/>
              </a:ext>
            </a:extLst>
          </p:cNvPr>
          <p:cNvPicPr>
            <a:picLocks noChangeAspect="1"/>
          </p:cNvPicPr>
          <p:nvPr/>
        </p:nvPicPr>
        <p:blipFill>
          <a:blip r:embed="rId2"/>
          <a:stretch>
            <a:fillRect/>
          </a:stretch>
        </p:blipFill>
        <p:spPr>
          <a:xfrm>
            <a:off x="654505" y="1653947"/>
            <a:ext cx="11254052" cy="4452939"/>
          </a:xfrm>
          <a:prstGeom prst="rect">
            <a:avLst/>
          </a:prstGeom>
        </p:spPr>
      </p:pic>
    </p:spTree>
    <p:extLst>
      <p:ext uri="{BB962C8B-B14F-4D97-AF65-F5344CB8AC3E}">
        <p14:creationId xmlns:p14="http://schemas.microsoft.com/office/powerpoint/2010/main" val="1107073319"/>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 </a:t>
            </a:r>
            <a:br>
              <a:rPr lang="es-EC" sz="2800" dirty="0">
                <a:solidFill>
                  <a:schemeClr val="bg1"/>
                </a:solidFill>
              </a:rPr>
            </a:br>
            <a:r>
              <a:rPr lang="es-EC" sz="2000" dirty="0">
                <a:solidFill>
                  <a:schemeClr val="bg1"/>
                </a:solidFill>
              </a:rPr>
              <a:t>Configuración del Servicio</a:t>
            </a: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pic>
        <p:nvPicPr>
          <p:cNvPr id="5" name="Imagen 4">
            <a:extLst>
              <a:ext uri="{FF2B5EF4-FFF2-40B4-BE49-F238E27FC236}">
                <a16:creationId xmlns:a16="http://schemas.microsoft.com/office/drawing/2014/main" id="{A7700B51-0EE2-4142-93C3-A287985BAD9F}"/>
              </a:ext>
            </a:extLst>
          </p:cNvPr>
          <p:cNvPicPr>
            <a:picLocks noChangeAspect="1"/>
          </p:cNvPicPr>
          <p:nvPr/>
        </p:nvPicPr>
        <p:blipFill>
          <a:blip r:embed="rId2"/>
          <a:stretch>
            <a:fillRect/>
          </a:stretch>
        </p:blipFill>
        <p:spPr>
          <a:xfrm>
            <a:off x="894670" y="1082040"/>
            <a:ext cx="10271959" cy="5775960"/>
          </a:xfrm>
          <a:prstGeom prst="rect">
            <a:avLst/>
          </a:prstGeom>
        </p:spPr>
      </p:pic>
    </p:spTree>
    <p:extLst>
      <p:ext uri="{BB962C8B-B14F-4D97-AF65-F5344CB8AC3E}">
        <p14:creationId xmlns:p14="http://schemas.microsoft.com/office/powerpoint/2010/main" val="197074600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a evaluación del aprendizaje ante el actual escenario educativo a causa de  la pandemia - CETYS">
            <a:extLst>
              <a:ext uri="{FF2B5EF4-FFF2-40B4-BE49-F238E27FC236}">
                <a16:creationId xmlns:a16="http://schemas.microsoft.com/office/drawing/2014/main" id="{F5A5F19C-503B-45B1-A71D-9FFA416B0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6521" y="1186484"/>
            <a:ext cx="7726018" cy="554455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CD6068A3-374C-4660-8879-24FA4F0A2364}"/>
              </a:ext>
            </a:extLst>
          </p:cNvPr>
          <p:cNvSpPr/>
          <p:nvPr/>
        </p:nvSpPr>
        <p:spPr>
          <a:xfrm>
            <a:off x="0" y="0"/>
            <a:ext cx="12192000" cy="108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C" dirty="0"/>
          </a:p>
        </p:txBody>
      </p:sp>
      <p:sp>
        <p:nvSpPr>
          <p:cNvPr id="2" name="Título 1">
            <a:extLst>
              <a:ext uri="{FF2B5EF4-FFF2-40B4-BE49-F238E27FC236}">
                <a16:creationId xmlns:a16="http://schemas.microsoft.com/office/drawing/2014/main" id="{FE99AE3B-510C-4CE6-A45C-E9DE4345B57C}"/>
              </a:ext>
            </a:extLst>
          </p:cNvPr>
          <p:cNvSpPr>
            <a:spLocks noGrp="1"/>
          </p:cNvSpPr>
          <p:nvPr>
            <p:ph type="title"/>
          </p:nvPr>
        </p:nvSpPr>
        <p:spPr>
          <a:xfrm>
            <a:off x="350520" y="0"/>
            <a:ext cx="10515600" cy="1082040"/>
          </a:xfrm>
        </p:spPr>
        <p:txBody>
          <a:bodyPr>
            <a:normAutofit/>
          </a:bodyPr>
          <a:lstStyle/>
          <a:p>
            <a:r>
              <a:rPr lang="es-EC" sz="2800" b="1" dirty="0">
                <a:solidFill>
                  <a:schemeClr val="bg1"/>
                </a:solidFill>
              </a:rPr>
              <a:t>Prácticas de Gestión del Servicio</a:t>
            </a:r>
            <a:br>
              <a:rPr lang="es-EC" sz="2800" dirty="0">
                <a:solidFill>
                  <a:schemeClr val="bg1"/>
                </a:solidFill>
              </a:rPr>
            </a:br>
            <a:endParaRPr lang="es-EC" sz="2000" dirty="0">
              <a:solidFill>
                <a:schemeClr val="bg1"/>
              </a:solidFill>
            </a:endParaRPr>
          </a:p>
        </p:txBody>
      </p:sp>
      <p:sp>
        <p:nvSpPr>
          <p:cNvPr id="9" name="Rectángulo 8">
            <a:extLst>
              <a:ext uri="{FF2B5EF4-FFF2-40B4-BE49-F238E27FC236}">
                <a16:creationId xmlns:a16="http://schemas.microsoft.com/office/drawing/2014/main" id="{B701E58C-E74C-4D04-9975-1368ACF8C4B9}"/>
              </a:ext>
            </a:extLst>
          </p:cNvPr>
          <p:cNvSpPr/>
          <p:nvPr/>
        </p:nvSpPr>
        <p:spPr>
          <a:xfrm>
            <a:off x="0" y="0"/>
            <a:ext cx="182880" cy="1082040"/>
          </a:xfrm>
          <a:prstGeom prst="rect">
            <a:avLst/>
          </a:prstGeom>
          <a:solidFill>
            <a:srgbClr val="FF0000"/>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s-EC"/>
          </a:p>
        </p:txBody>
      </p:sp>
      <p:sp>
        <p:nvSpPr>
          <p:cNvPr id="7" name="Marcador de contenido 6">
            <a:extLst>
              <a:ext uri="{FF2B5EF4-FFF2-40B4-BE49-F238E27FC236}">
                <a16:creationId xmlns:a16="http://schemas.microsoft.com/office/drawing/2014/main" id="{A3CC7CDB-E227-40E4-9F41-61EA009B68B7}"/>
              </a:ext>
            </a:extLst>
          </p:cNvPr>
          <p:cNvSpPr>
            <a:spLocks noGrp="1"/>
          </p:cNvSpPr>
          <p:nvPr>
            <p:ph idx="1"/>
          </p:nvPr>
        </p:nvSpPr>
        <p:spPr>
          <a:xfrm>
            <a:off x="838200" y="1612264"/>
            <a:ext cx="10333383" cy="4443979"/>
          </a:xfrm>
        </p:spPr>
        <p:txBody>
          <a:bodyPr>
            <a:normAutofit/>
          </a:bodyPr>
          <a:lstStyle/>
          <a:p>
            <a:pPr marL="0" indent="0">
              <a:buNone/>
            </a:pPr>
            <a:r>
              <a:rPr lang="es-ES" sz="3200" b="1" dirty="0">
                <a:solidFill>
                  <a:srgbClr val="FF0000"/>
                </a:solidFill>
                <a:latin typeface="Open Sans" panose="020B0604020202020204" pitchFamily="34" charset="0"/>
              </a:rPr>
              <a:t>AUTO-APRENDIZAJE</a:t>
            </a:r>
            <a:endParaRPr lang="es-ES" sz="3200" i="0" dirty="0">
              <a:effectLst/>
            </a:endParaRPr>
          </a:p>
        </p:txBody>
      </p:sp>
    </p:spTree>
    <p:extLst>
      <p:ext uri="{BB962C8B-B14F-4D97-AF65-F5344CB8AC3E}">
        <p14:creationId xmlns:p14="http://schemas.microsoft.com/office/powerpoint/2010/main" val="108761854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9994</TotalTime>
  <Words>10375</Words>
  <Application>Microsoft Office PowerPoint</Application>
  <PresentationFormat>Panorámica</PresentationFormat>
  <Paragraphs>601</Paragraphs>
  <Slides>153</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153</vt:i4>
      </vt:variant>
    </vt:vector>
  </HeadingPairs>
  <TitlesOfParts>
    <vt:vector size="161" baseType="lpstr">
      <vt:lpstr>Arial</vt:lpstr>
      <vt:lpstr>Calibri</vt:lpstr>
      <vt:lpstr>Calibri Light</vt:lpstr>
      <vt:lpstr>inherit</vt:lpstr>
      <vt:lpstr>Open Sans</vt:lpstr>
      <vt:lpstr>Raleway</vt:lpstr>
      <vt:lpstr>Ubuntu</vt:lpstr>
      <vt:lpstr>Tema de Office</vt:lpstr>
      <vt:lpstr>ITIL 4</vt:lpstr>
      <vt:lpstr>ITIL 4</vt:lpstr>
      <vt:lpstr>Prácticas de Gestión del Servicio  Gestión de la Disponibilidad</vt:lpstr>
      <vt:lpstr>Prácticas de Gestión del Servicio  Gestión de la Disponibilidad</vt:lpstr>
      <vt:lpstr>Prácticas de Gestión del Servicio  Gestión de la Disponibilidad</vt:lpstr>
      <vt:lpstr>Prácticas de Gestión del Servicio  Gestión de la Disponibilidad</vt:lpstr>
      <vt:lpstr>Prácticas de Gestión del Servicio  Gestión de la Disponibilidad</vt:lpstr>
      <vt:lpstr>ITIL 4</vt:lpstr>
      <vt:lpstr>Prácticas de Gestión del Servicio  Gestión de la Continuidad</vt:lpstr>
      <vt:lpstr>Prácticas de Gestión del Servicio  Gestión de la Continuidad</vt:lpstr>
      <vt:lpstr>Prácticas de Gestión del Servicio  Gestión de la Continuidad</vt:lpstr>
      <vt:lpstr>Prácticas de Gestión del Servicio  Gestión de la Continuidad</vt:lpstr>
      <vt:lpstr>Prácticas de Gestión del Servicio  Gestión de la Continuidad</vt:lpstr>
      <vt:lpstr>Prácticas de Gestión del Servicio  Gestión de la Continuidad</vt:lpstr>
      <vt:lpstr>Prácticas de Gestión del Servicio  Gestión de la Continuidad</vt:lpstr>
      <vt:lpstr>ITIL 4</vt:lpstr>
      <vt:lpstr>Prácticas de Gestión del Servicio  Gestión de la Capacidad y el Desempeño</vt:lpstr>
      <vt:lpstr>Prácticas de Gestión del Servicio  Gestión de la Capacidad y el Desempeño</vt:lpstr>
      <vt:lpstr>Prácticas de Gestión del Servicio  Gestión de la Capacidad y el Desempeño</vt:lpstr>
      <vt:lpstr>Prácticas de Gestión del Servicio  Gestión de la Capacidad y el Desempeño</vt:lpstr>
      <vt:lpstr>Prácticas de Gestión del Servicio  Gestión de la Capacidad y el Desempeño</vt:lpstr>
      <vt:lpstr>Prácticas de Gestión del Servicio  Gestión de la Capacidad y el Desempeño</vt:lpstr>
      <vt:lpstr>ITIL 4</vt:lpstr>
      <vt:lpstr>Prácticas de Gestión del Servicio  Gestión de Solicitudes de Servicio</vt:lpstr>
      <vt:lpstr>Prácticas de Gestión del Servicio  Gestión de Solicitudes de Servicio</vt:lpstr>
      <vt:lpstr>Prácticas de Gestión del Servicio  Gestión de Solicitudes de Servicio</vt:lpstr>
      <vt:lpstr>Prácticas de Gestión del Servicio  Gestión de Solicitudes de Servicio</vt:lpstr>
      <vt:lpstr>ITIL 4</vt:lpstr>
      <vt:lpstr>Prácticas de Gestión del Servicio  Gestión de Control de Cambios</vt:lpstr>
      <vt:lpstr>Prácticas de Gestión del Servicio  Gestión de Control de Cambios</vt:lpstr>
      <vt:lpstr>Prácticas de Gestión del Servicio  Gestión de Control de Cambios</vt:lpstr>
      <vt:lpstr>Prácticas de Gestión del Servicio  Gestión de Control de Cambios</vt:lpstr>
      <vt:lpstr>Prácticas de Gestión del Servicio  Gestión de Control de Cambios</vt:lpstr>
      <vt:lpstr>Prácticas de Gestión del Servicio  Gestión de Control de Cambios</vt:lpstr>
      <vt:lpstr>Prácticas de Gestión del Servicio  Gestión de Control de Cambios</vt:lpstr>
      <vt:lpstr>Prácticas de Gestión del Servicio  Gestión de Control de Cambios</vt:lpstr>
      <vt:lpstr>ITIL 4</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Prácticas de Gestión del Servicio  Gestión de Niveles de Servicio</vt:lpstr>
      <vt:lpstr>ITIL 4</vt:lpstr>
      <vt:lpstr>Prácticas de Gestión del Servicio  Gestión de Liberaciones</vt:lpstr>
      <vt:lpstr>Prácticas de Gestión del Servicio  Gestión de Liberaciones</vt:lpstr>
      <vt:lpstr>Prácticas de Gestión del Servicio  Gestión de Liberaciones</vt:lpstr>
      <vt:lpstr>Prácticas de Gestión del Servicio  Gestión de Liberaciones</vt:lpstr>
      <vt:lpstr>Prácticas de Gestión del Servicio  Gestión de Liberaciones</vt:lpstr>
      <vt:lpstr>ITIL 4</vt:lpstr>
      <vt:lpstr>Prácticas de Gestión del Servicio  Gestión de Validaciones y pruebas</vt:lpstr>
      <vt:lpstr>Prácticas de Gestión del Servicio  Gestión de Validaciones y pruebas</vt:lpstr>
      <vt:lpstr>Prácticas de Gestión del Servicio  Gestión de Validaciones y pruebas</vt:lpstr>
      <vt:lpstr>Prácticas de Gestión del Servicio  Gestión de Validaciones y pruebas</vt:lpstr>
      <vt:lpstr>ITIL 4</vt:lpstr>
      <vt:lpstr>Prácticas de Gestión del Servicio  Gestión de Análisis del Negocio</vt:lpstr>
      <vt:lpstr>Prácticas de Gestión del Servicio  Gestión de Análisis del Negocio</vt:lpstr>
      <vt:lpstr>Prácticas de Gestión del Servicio  Gestión de Análisis del Negocio</vt:lpstr>
      <vt:lpstr>Prácticas de Gestión del Servicio  Gestión de Análisis del Negocio</vt:lpstr>
      <vt:lpstr>Prácticas de Gestión del Servicio  Gestión de Análisis del Negocio</vt:lpstr>
      <vt:lpstr>Prácticas de Gestión del Servicio  Gestión de Análisis del Negocio</vt:lpstr>
      <vt:lpstr>Prácticas de Gestión del Servicio  Gestión de Análisis del Negocio</vt:lpstr>
      <vt:lpstr>ITIL 4</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Prácticas de Gestión del Servicio  Gestión de Diseño del Servicio</vt:lpstr>
      <vt:lpstr>ITIL 4</vt:lpstr>
      <vt:lpstr>Prácticas de Gestión del Servicio  Gestión del Catálogo del Servicio</vt:lpstr>
      <vt:lpstr>Prácticas de Gestión del Servicio  Gestión del Catálogo del Servicio</vt:lpstr>
      <vt:lpstr>Prácticas de Gestión del Servicio  Gestión del Catálogo del Servicio</vt:lpstr>
      <vt:lpstr>Prácticas de Gestión del Servicio  Gestión del Catálogo del Servicio</vt:lpstr>
      <vt:lpstr>Prácticas de Gestión del Servicio  Gestión del Catálogo del Servicio</vt:lpstr>
      <vt:lpstr>Prácticas de Gestión del Servicio  Gestión del Catálogo del Servicio</vt:lpstr>
      <vt:lpstr>Prácticas de Gestión del Servicio  Gestión del Catálogo del Servicio</vt:lpstr>
      <vt:lpstr>ITIL 4</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Prácticas de Gestión del Servicio  Gestión de Activos de TI</vt:lpstr>
      <vt:lpstr>ITIL 4</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Prácticas de Gestión del Servicio  Monitoreo y Gestión de Eventos</vt:lpstr>
      <vt:lpstr>ITIL 4</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Prácticas de Gestión del Servicio  Gestión de Incidentes</vt:lpstr>
      <vt:lpstr>ITIL 4</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Prácticas de Gestión del Servicio  Gestión de Problemas</vt:lpstr>
      <vt:lpstr>ITIL 4</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Prácticas de Gestión del Servicio  Mesa de Servicios</vt:lpstr>
      <vt:lpstr>ITIL 4</vt:lpstr>
      <vt:lpstr>Prácticas de Gestión del Servicio  Configuración del Servicio</vt:lpstr>
      <vt:lpstr>Prácticas de Gestión del Servicio  Configuración del Servicio</vt:lpstr>
      <vt:lpstr>Prácticas de Gestión del Servicio  Configuración del Servicio</vt:lpstr>
      <vt:lpstr>Prácticas de Gestión del Servicio  Configuración del Servicio</vt:lpstr>
      <vt:lpstr>Prácticas de Gestión del Servicio  Configuración del Servicio</vt:lpstr>
      <vt:lpstr>Prácticas de Gestión del Servicio  Configuración del Servicio</vt:lpstr>
      <vt:lpstr>Prácticas de Gestión del Servicio  Configuración del Servicio</vt:lpstr>
      <vt:lpstr>Prácticas de Gestión del Servicio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ITIL 4</dc:title>
  <dc:creator>CarlosReyes</dc:creator>
  <cp:lastModifiedBy>CarlosReyes</cp:lastModifiedBy>
  <cp:revision>73</cp:revision>
  <dcterms:created xsi:type="dcterms:W3CDTF">2021-07-09T16:05:21Z</dcterms:created>
  <dcterms:modified xsi:type="dcterms:W3CDTF">2021-07-16T14:39:27Z</dcterms:modified>
</cp:coreProperties>
</file>