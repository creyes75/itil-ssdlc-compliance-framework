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58" r:id="rId3"/>
    <p:sldId id="270" r:id="rId4"/>
    <p:sldId id="272" r:id="rId5"/>
    <p:sldId id="273" r:id="rId6"/>
    <p:sldId id="274" r:id="rId7"/>
    <p:sldId id="275" r:id="rId8"/>
    <p:sldId id="277" r:id="rId9"/>
    <p:sldId id="278" r:id="rId10"/>
    <p:sldId id="279" r:id="rId11"/>
    <p:sldId id="280" r:id="rId12"/>
    <p:sldId id="281" r:id="rId13"/>
    <p:sldId id="282" r:id="rId14"/>
    <p:sldId id="283" r:id="rId15"/>
    <p:sldId id="286" r:id="rId16"/>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6A4678-7782-42D0-965B-4698DEEFFBB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0F3A3EDD-134C-4BFE-84E3-54DED6196A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63EC36D2-43E2-41B1-9A0C-451DD366121E}"/>
              </a:ext>
            </a:extLst>
          </p:cNvPr>
          <p:cNvSpPr>
            <a:spLocks noGrp="1"/>
          </p:cNvSpPr>
          <p:nvPr>
            <p:ph type="dt" sz="half" idx="10"/>
          </p:nvPr>
        </p:nvSpPr>
        <p:spPr/>
        <p:txBody>
          <a:bodyPr/>
          <a:lstStyle/>
          <a:p>
            <a:fld id="{ECF96859-C776-44CD-BD5A-5E7D21088058}" type="datetimeFigureOut">
              <a:rPr lang="es-EC" smtClean="0"/>
              <a:t>16/7/2021</a:t>
            </a:fld>
            <a:endParaRPr lang="es-EC"/>
          </a:p>
        </p:txBody>
      </p:sp>
      <p:sp>
        <p:nvSpPr>
          <p:cNvPr id="5" name="Marcador de pie de página 4">
            <a:extLst>
              <a:ext uri="{FF2B5EF4-FFF2-40B4-BE49-F238E27FC236}">
                <a16:creationId xmlns:a16="http://schemas.microsoft.com/office/drawing/2014/main" id="{015BDC16-5EC1-47BB-A514-602BDC53CC68}"/>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77FB9CDF-1F88-4BE0-82D7-F4844DC3AB92}"/>
              </a:ext>
            </a:extLst>
          </p:cNvPr>
          <p:cNvSpPr>
            <a:spLocks noGrp="1"/>
          </p:cNvSpPr>
          <p:nvPr>
            <p:ph type="sldNum" sz="quarter" idx="12"/>
          </p:nvPr>
        </p:nvSpPr>
        <p:spPr/>
        <p:txBody>
          <a:bodyPr/>
          <a:lstStyle/>
          <a:p>
            <a:fld id="{8D42E035-F17D-48DB-8F78-10E5446FFB1D}" type="slidenum">
              <a:rPr lang="es-EC" smtClean="0"/>
              <a:t>‹Nº›</a:t>
            </a:fld>
            <a:endParaRPr lang="es-EC"/>
          </a:p>
        </p:txBody>
      </p:sp>
    </p:spTree>
    <p:extLst>
      <p:ext uri="{BB962C8B-B14F-4D97-AF65-F5344CB8AC3E}">
        <p14:creationId xmlns:p14="http://schemas.microsoft.com/office/powerpoint/2010/main" val="2465818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49F03E-3D8D-45AC-93C3-E09C9945EF6F}"/>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3BDD6864-6574-4AC4-9566-F6A76771D82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037643D0-EFA5-4B61-BBD0-CD97C9E3E3E1}"/>
              </a:ext>
            </a:extLst>
          </p:cNvPr>
          <p:cNvSpPr>
            <a:spLocks noGrp="1"/>
          </p:cNvSpPr>
          <p:nvPr>
            <p:ph type="dt" sz="half" idx="10"/>
          </p:nvPr>
        </p:nvSpPr>
        <p:spPr/>
        <p:txBody>
          <a:bodyPr/>
          <a:lstStyle/>
          <a:p>
            <a:fld id="{ECF96859-C776-44CD-BD5A-5E7D21088058}" type="datetimeFigureOut">
              <a:rPr lang="es-EC" smtClean="0"/>
              <a:t>16/7/2021</a:t>
            </a:fld>
            <a:endParaRPr lang="es-EC"/>
          </a:p>
        </p:txBody>
      </p:sp>
      <p:sp>
        <p:nvSpPr>
          <p:cNvPr id="5" name="Marcador de pie de página 4">
            <a:extLst>
              <a:ext uri="{FF2B5EF4-FFF2-40B4-BE49-F238E27FC236}">
                <a16:creationId xmlns:a16="http://schemas.microsoft.com/office/drawing/2014/main" id="{8D70644F-846D-4A9C-A298-BAB77144FC84}"/>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D4BE7C9-2E15-415F-B933-8B5BE7A711EE}"/>
              </a:ext>
            </a:extLst>
          </p:cNvPr>
          <p:cNvSpPr>
            <a:spLocks noGrp="1"/>
          </p:cNvSpPr>
          <p:nvPr>
            <p:ph type="sldNum" sz="quarter" idx="12"/>
          </p:nvPr>
        </p:nvSpPr>
        <p:spPr/>
        <p:txBody>
          <a:bodyPr/>
          <a:lstStyle/>
          <a:p>
            <a:fld id="{8D42E035-F17D-48DB-8F78-10E5446FFB1D}" type="slidenum">
              <a:rPr lang="es-EC" smtClean="0"/>
              <a:t>‹Nº›</a:t>
            </a:fld>
            <a:endParaRPr lang="es-EC"/>
          </a:p>
        </p:txBody>
      </p:sp>
    </p:spTree>
    <p:extLst>
      <p:ext uri="{BB962C8B-B14F-4D97-AF65-F5344CB8AC3E}">
        <p14:creationId xmlns:p14="http://schemas.microsoft.com/office/powerpoint/2010/main" val="3102876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5F7373-361E-4C42-87D7-ADDF338744D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29DB7C5F-D9BE-45E1-9496-473C879231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0413D30-A62A-43E0-9B76-F9D6C5FB5A0D}"/>
              </a:ext>
            </a:extLst>
          </p:cNvPr>
          <p:cNvSpPr>
            <a:spLocks noGrp="1"/>
          </p:cNvSpPr>
          <p:nvPr>
            <p:ph type="dt" sz="half" idx="10"/>
          </p:nvPr>
        </p:nvSpPr>
        <p:spPr/>
        <p:txBody>
          <a:bodyPr/>
          <a:lstStyle/>
          <a:p>
            <a:fld id="{ECF96859-C776-44CD-BD5A-5E7D21088058}" type="datetimeFigureOut">
              <a:rPr lang="es-EC" smtClean="0"/>
              <a:t>16/7/2021</a:t>
            </a:fld>
            <a:endParaRPr lang="es-EC"/>
          </a:p>
        </p:txBody>
      </p:sp>
      <p:sp>
        <p:nvSpPr>
          <p:cNvPr id="5" name="Marcador de pie de página 4">
            <a:extLst>
              <a:ext uri="{FF2B5EF4-FFF2-40B4-BE49-F238E27FC236}">
                <a16:creationId xmlns:a16="http://schemas.microsoft.com/office/drawing/2014/main" id="{1AA6DBC2-7BA4-438A-9B33-113E592FF0BC}"/>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CA14C51-7020-4FED-9C63-43337276C544}"/>
              </a:ext>
            </a:extLst>
          </p:cNvPr>
          <p:cNvSpPr>
            <a:spLocks noGrp="1"/>
          </p:cNvSpPr>
          <p:nvPr>
            <p:ph type="sldNum" sz="quarter" idx="12"/>
          </p:nvPr>
        </p:nvSpPr>
        <p:spPr/>
        <p:txBody>
          <a:bodyPr/>
          <a:lstStyle/>
          <a:p>
            <a:fld id="{8D42E035-F17D-48DB-8F78-10E5446FFB1D}" type="slidenum">
              <a:rPr lang="es-EC" smtClean="0"/>
              <a:t>‹Nº›</a:t>
            </a:fld>
            <a:endParaRPr lang="es-EC"/>
          </a:p>
        </p:txBody>
      </p:sp>
    </p:spTree>
    <p:extLst>
      <p:ext uri="{BB962C8B-B14F-4D97-AF65-F5344CB8AC3E}">
        <p14:creationId xmlns:p14="http://schemas.microsoft.com/office/powerpoint/2010/main" val="2808962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CB20FE-5A3B-467C-A6BF-2C239941F3A8}"/>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EB1A81B-46C0-42A0-9F5B-D89E5400983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45A3EB70-FE43-49C5-ACC8-4E91D30622A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3CAFD826-F0E7-44E8-9E56-FCB1358E79A1}"/>
              </a:ext>
            </a:extLst>
          </p:cNvPr>
          <p:cNvSpPr>
            <a:spLocks noGrp="1"/>
          </p:cNvSpPr>
          <p:nvPr>
            <p:ph type="dt" sz="half" idx="10"/>
          </p:nvPr>
        </p:nvSpPr>
        <p:spPr/>
        <p:txBody>
          <a:bodyPr/>
          <a:lstStyle/>
          <a:p>
            <a:fld id="{ECF96859-C776-44CD-BD5A-5E7D21088058}" type="datetimeFigureOut">
              <a:rPr lang="es-EC" smtClean="0"/>
              <a:t>16/7/2021</a:t>
            </a:fld>
            <a:endParaRPr lang="es-EC"/>
          </a:p>
        </p:txBody>
      </p:sp>
      <p:sp>
        <p:nvSpPr>
          <p:cNvPr id="6" name="Marcador de pie de página 5">
            <a:extLst>
              <a:ext uri="{FF2B5EF4-FFF2-40B4-BE49-F238E27FC236}">
                <a16:creationId xmlns:a16="http://schemas.microsoft.com/office/drawing/2014/main" id="{1AC0C903-B0E5-48DB-9FA3-8D2F038C197C}"/>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4DC7FE86-2DBB-4120-8168-B37ABC03185D}"/>
              </a:ext>
            </a:extLst>
          </p:cNvPr>
          <p:cNvSpPr>
            <a:spLocks noGrp="1"/>
          </p:cNvSpPr>
          <p:nvPr>
            <p:ph type="sldNum" sz="quarter" idx="12"/>
          </p:nvPr>
        </p:nvSpPr>
        <p:spPr/>
        <p:txBody>
          <a:bodyPr/>
          <a:lstStyle/>
          <a:p>
            <a:fld id="{8D42E035-F17D-48DB-8F78-10E5446FFB1D}" type="slidenum">
              <a:rPr lang="es-EC" smtClean="0"/>
              <a:t>‹Nº›</a:t>
            </a:fld>
            <a:endParaRPr lang="es-EC"/>
          </a:p>
        </p:txBody>
      </p:sp>
    </p:spTree>
    <p:extLst>
      <p:ext uri="{BB962C8B-B14F-4D97-AF65-F5344CB8AC3E}">
        <p14:creationId xmlns:p14="http://schemas.microsoft.com/office/powerpoint/2010/main" val="2625310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1750DC-ADBA-4554-BCD3-4C07701D99F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EB8276B7-FDAE-42B9-A81E-69E227272B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39C00DE-F015-4A9C-B9D7-A7F9FCB093A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68A2EF94-3B12-423E-9107-DDF418D0DE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A6A88AC-A126-45D0-96EB-E7D112F2845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38412902-81EB-4AF6-8C8B-C3C24B0CEF45}"/>
              </a:ext>
            </a:extLst>
          </p:cNvPr>
          <p:cNvSpPr>
            <a:spLocks noGrp="1"/>
          </p:cNvSpPr>
          <p:nvPr>
            <p:ph type="dt" sz="half" idx="10"/>
          </p:nvPr>
        </p:nvSpPr>
        <p:spPr/>
        <p:txBody>
          <a:bodyPr/>
          <a:lstStyle/>
          <a:p>
            <a:fld id="{ECF96859-C776-44CD-BD5A-5E7D21088058}" type="datetimeFigureOut">
              <a:rPr lang="es-EC" smtClean="0"/>
              <a:t>16/7/2021</a:t>
            </a:fld>
            <a:endParaRPr lang="es-EC"/>
          </a:p>
        </p:txBody>
      </p:sp>
      <p:sp>
        <p:nvSpPr>
          <p:cNvPr id="8" name="Marcador de pie de página 7">
            <a:extLst>
              <a:ext uri="{FF2B5EF4-FFF2-40B4-BE49-F238E27FC236}">
                <a16:creationId xmlns:a16="http://schemas.microsoft.com/office/drawing/2014/main" id="{B957BA25-96EB-43A3-866D-2ECB1A748128}"/>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8BAEE259-42C9-4CC5-92C6-014B46B653D6}"/>
              </a:ext>
            </a:extLst>
          </p:cNvPr>
          <p:cNvSpPr>
            <a:spLocks noGrp="1"/>
          </p:cNvSpPr>
          <p:nvPr>
            <p:ph type="sldNum" sz="quarter" idx="12"/>
          </p:nvPr>
        </p:nvSpPr>
        <p:spPr/>
        <p:txBody>
          <a:bodyPr/>
          <a:lstStyle/>
          <a:p>
            <a:fld id="{8D42E035-F17D-48DB-8F78-10E5446FFB1D}" type="slidenum">
              <a:rPr lang="es-EC" smtClean="0"/>
              <a:t>‹Nº›</a:t>
            </a:fld>
            <a:endParaRPr lang="es-EC"/>
          </a:p>
        </p:txBody>
      </p:sp>
    </p:spTree>
    <p:extLst>
      <p:ext uri="{BB962C8B-B14F-4D97-AF65-F5344CB8AC3E}">
        <p14:creationId xmlns:p14="http://schemas.microsoft.com/office/powerpoint/2010/main" val="597100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657A59-F325-40B4-B7D1-861F5D5FAAB0}"/>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8B0F3A2D-D643-445D-9269-288C2C252A5A}"/>
              </a:ext>
            </a:extLst>
          </p:cNvPr>
          <p:cNvSpPr>
            <a:spLocks noGrp="1"/>
          </p:cNvSpPr>
          <p:nvPr>
            <p:ph type="dt" sz="half" idx="10"/>
          </p:nvPr>
        </p:nvSpPr>
        <p:spPr/>
        <p:txBody>
          <a:bodyPr/>
          <a:lstStyle/>
          <a:p>
            <a:fld id="{ECF96859-C776-44CD-BD5A-5E7D21088058}" type="datetimeFigureOut">
              <a:rPr lang="es-EC" smtClean="0"/>
              <a:t>16/7/2021</a:t>
            </a:fld>
            <a:endParaRPr lang="es-EC"/>
          </a:p>
        </p:txBody>
      </p:sp>
      <p:sp>
        <p:nvSpPr>
          <p:cNvPr id="4" name="Marcador de pie de página 3">
            <a:extLst>
              <a:ext uri="{FF2B5EF4-FFF2-40B4-BE49-F238E27FC236}">
                <a16:creationId xmlns:a16="http://schemas.microsoft.com/office/drawing/2014/main" id="{49B41B1C-77B5-447F-8F7F-A0B1E58BDC36}"/>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697CDEE0-2168-4EC6-BD8C-FBF999FC84A1}"/>
              </a:ext>
            </a:extLst>
          </p:cNvPr>
          <p:cNvSpPr>
            <a:spLocks noGrp="1"/>
          </p:cNvSpPr>
          <p:nvPr>
            <p:ph type="sldNum" sz="quarter" idx="12"/>
          </p:nvPr>
        </p:nvSpPr>
        <p:spPr/>
        <p:txBody>
          <a:bodyPr/>
          <a:lstStyle/>
          <a:p>
            <a:fld id="{8D42E035-F17D-48DB-8F78-10E5446FFB1D}" type="slidenum">
              <a:rPr lang="es-EC" smtClean="0"/>
              <a:t>‹Nº›</a:t>
            </a:fld>
            <a:endParaRPr lang="es-EC"/>
          </a:p>
        </p:txBody>
      </p:sp>
    </p:spTree>
    <p:extLst>
      <p:ext uri="{BB962C8B-B14F-4D97-AF65-F5344CB8AC3E}">
        <p14:creationId xmlns:p14="http://schemas.microsoft.com/office/powerpoint/2010/main" val="2811213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C93DCA6-FCCD-4D7D-B75D-11FFDEACA5FB}"/>
              </a:ext>
            </a:extLst>
          </p:cNvPr>
          <p:cNvSpPr>
            <a:spLocks noGrp="1"/>
          </p:cNvSpPr>
          <p:nvPr>
            <p:ph type="dt" sz="half" idx="10"/>
          </p:nvPr>
        </p:nvSpPr>
        <p:spPr/>
        <p:txBody>
          <a:bodyPr/>
          <a:lstStyle/>
          <a:p>
            <a:fld id="{ECF96859-C776-44CD-BD5A-5E7D21088058}" type="datetimeFigureOut">
              <a:rPr lang="es-EC" smtClean="0"/>
              <a:t>16/7/2021</a:t>
            </a:fld>
            <a:endParaRPr lang="es-EC"/>
          </a:p>
        </p:txBody>
      </p:sp>
      <p:sp>
        <p:nvSpPr>
          <p:cNvPr id="3" name="Marcador de pie de página 2">
            <a:extLst>
              <a:ext uri="{FF2B5EF4-FFF2-40B4-BE49-F238E27FC236}">
                <a16:creationId xmlns:a16="http://schemas.microsoft.com/office/drawing/2014/main" id="{71687DBE-002C-48D6-A340-988EA0EC7F0C}"/>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8451F2A5-567B-46D0-9AF7-7CF8F9AC686F}"/>
              </a:ext>
            </a:extLst>
          </p:cNvPr>
          <p:cNvSpPr>
            <a:spLocks noGrp="1"/>
          </p:cNvSpPr>
          <p:nvPr>
            <p:ph type="sldNum" sz="quarter" idx="12"/>
          </p:nvPr>
        </p:nvSpPr>
        <p:spPr/>
        <p:txBody>
          <a:bodyPr/>
          <a:lstStyle/>
          <a:p>
            <a:fld id="{8D42E035-F17D-48DB-8F78-10E5446FFB1D}" type="slidenum">
              <a:rPr lang="es-EC" smtClean="0"/>
              <a:t>‹Nº›</a:t>
            </a:fld>
            <a:endParaRPr lang="es-EC"/>
          </a:p>
        </p:txBody>
      </p:sp>
    </p:spTree>
    <p:extLst>
      <p:ext uri="{BB962C8B-B14F-4D97-AF65-F5344CB8AC3E}">
        <p14:creationId xmlns:p14="http://schemas.microsoft.com/office/powerpoint/2010/main" val="2429289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8F44E-2568-4600-AF2A-300E06AF19B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2BD6BFFA-E1DB-404B-950E-682B3BE3E2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A9C8E7D6-2322-4477-ACE7-BD51915B57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564F472-3C70-4BF9-9357-DF34410B288E}"/>
              </a:ext>
            </a:extLst>
          </p:cNvPr>
          <p:cNvSpPr>
            <a:spLocks noGrp="1"/>
          </p:cNvSpPr>
          <p:nvPr>
            <p:ph type="dt" sz="half" idx="10"/>
          </p:nvPr>
        </p:nvSpPr>
        <p:spPr/>
        <p:txBody>
          <a:bodyPr/>
          <a:lstStyle/>
          <a:p>
            <a:fld id="{ECF96859-C776-44CD-BD5A-5E7D21088058}" type="datetimeFigureOut">
              <a:rPr lang="es-EC" smtClean="0"/>
              <a:t>16/7/2021</a:t>
            </a:fld>
            <a:endParaRPr lang="es-EC"/>
          </a:p>
        </p:txBody>
      </p:sp>
      <p:sp>
        <p:nvSpPr>
          <p:cNvPr id="6" name="Marcador de pie de página 5">
            <a:extLst>
              <a:ext uri="{FF2B5EF4-FFF2-40B4-BE49-F238E27FC236}">
                <a16:creationId xmlns:a16="http://schemas.microsoft.com/office/drawing/2014/main" id="{2282930F-A9ED-4B20-98A3-C207CD56B9C1}"/>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2028FB15-38E2-479E-99A0-32CC7FFFA3D0}"/>
              </a:ext>
            </a:extLst>
          </p:cNvPr>
          <p:cNvSpPr>
            <a:spLocks noGrp="1"/>
          </p:cNvSpPr>
          <p:nvPr>
            <p:ph type="sldNum" sz="quarter" idx="12"/>
          </p:nvPr>
        </p:nvSpPr>
        <p:spPr/>
        <p:txBody>
          <a:bodyPr/>
          <a:lstStyle/>
          <a:p>
            <a:fld id="{8D42E035-F17D-48DB-8F78-10E5446FFB1D}" type="slidenum">
              <a:rPr lang="es-EC" smtClean="0"/>
              <a:t>‹Nº›</a:t>
            </a:fld>
            <a:endParaRPr lang="es-EC"/>
          </a:p>
        </p:txBody>
      </p:sp>
    </p:spTree>
    <p:extLst>
      <p:ext uri="{BB962C8B-B14F-4D97-AF65-F5344CB8AC3E}">
        <p14:creationId xmlns:p14="http://schemas.microsoft.com/office/powerpoint/2010/main" val="2572922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0A28C0-863D-4BC1-99DA-981D1986320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76F2BDB0-513B-4259-A992-FDD0A43B2D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613FDB68-658B-4CB8-A1FB-8A7D0EAEB0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0FCD2EA-7A15-4727-9699-CD783B59E322}"/>
              </a:ext>
            </a:extLst>
          </p:cNvPr>
          <p:cNvSpPr>
            <a:spLocks noGrp="1"/>
          </p:cNvSpPr>
          <p:nvPr>
            <p:ph type="dt" sz="half" idx="10"/>
          </p:nvPr>
        </p:nvSpPr>
        <p:spPr/>
        <p:txBody>
          <a:bodyPr/>
          <a:lstStyle/>
          <a:p>
            <a:fld id="{ECF96859-C776-44CD-BD5A-5E7D21088058}" type="datetimeFigureOut">
              <a:rPr lang="es-EC" smtClean="0"/>
              <a:t>16/7/2021</a:t>
            </a:fld>
            <a:endParaRPr lang="es-EC"/>
          </a:p>
        </p:txBody>
      </p:sp>
      <p:sp>
        <p:nvSpPr>
          <p:cNvPr id="6" name="Marcador de pie de página 5">
            <a:extLst>
              <a:ext uri="{FF2B5EF4-FFF2-40B4-BE49-F238E27FC236}">
                <a16:creationId xmlns:a16="http://schemas.microsoft.com/office/drawing/2014/main" id="{6284B469-E7B5-442B-B219-E27F8EA93112}"/>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C157F127-C49B-453D-9005-788F3376B0FE}"/>
              </a:ext>
            </a:extLst>
          </p:cNvPr>
          <p:cNvSpPr>
            <a:spLocks noGrp="1"/>
          </p:cNvSpPr>
          <p:nvPr>
            <p:ph type="sldNum" sz="quarter" idx="12"/>
          </p:nvPr>
        </p:nvSpPr>
        <p:spPr/>
        <p:txBody>
          <a:bodyPr/>
          <a:lstStyle/>
          <a:p>
            <a:fld id="{8D42E035-F17D-48DB-8F78-10E5446FFB1D}" type="slidenum">
              <a:rPr lang="es-EC" smtClean="0"/>
              <a:t>‹Nº›</a:t>
            </a:fld>
            <a:endParaRPr lang="es-EC"/>
          </a:p>
        </p:txBody>
      </p:sp>
    </p:spTree>
    <p:extLst>
      <p:ext uri="{BB962C8B-B14F-4D97-AF65-F5344CB8AC3E}">
        <p14:creationId xmlns:p14="http://schemas.microsoft.com/office/powerpoint/2010/main" val="3165651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84E099-372A-4E3A-BC21-2644F5F30F3B}"/>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8D2C01E9-A96D-4A75-A5F7-9E754EF3DD9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8E163793-858C-4A0E-83BD-A6872A94EB0E}"/>
              </a:ext>
            </a:extLst>
          </p:cNvPr>
          <p:cNvSpPr>
            <a:spLocks noGrp="1"/>
          </p:cNvSpPr>
          <p:nvPr>
            <p:ph type="dt" sz="half" idx="10"/>
          </p:nvPr>
        </p:nvSpPr>
        <p:spPr/>
        <p:txBody>
          <a:bodyPr/>
          <a:lstStyle/>
          <a:p>
            <a:fld id="{ECF96859-C776-44CD-BD5A-5E7D21088058}" type="datetimeFigureOut">
              <a:rPr lang="es-EC" smtClean="0"/>
              <a:t>16/7/2021</a:t>
            </a:fld>
            <a:endParaRPr lang="es-EC"/>
          </a:p>
        </p:txBody>
      </p:sp>
      <p:sp>
        <p:nvSpPr>
          <p:cNvPr id="5" name="Marcador de pie de página 4">
            <a:extLst>
              <a:ext uri="{FF2B5EF4-FFF2-40B4-BE49-F238E27FC236}">
                <a16:creationId xmlns:a16="http://schemas.microsoft.com/office/drawing/2014/main" id="{B2B61F91-D750-4D65-AEED-5E4A4358DA3B}"/>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345BB17E-3C39-4F49-8DDA-A4B56BC1B903}"/>
              </a:ext>
            </a:extLst>
          </p:cNvPr>
          <p:cNvSpPr>
            <a:spLocks noGrp="1"/>
          </p:cNvSpPr>
          <p:nvPr>
            <p:ph type="sldNum" sz="quarter" idx="12"/>
          </p:nvPr>
        </p:nvSpPr>
        <p:spPr/>
        <p:txBody>
          <a:bodyPr/>
          <a:lstStyle/>
          <a:p>
            <a:fld id="{8D42E035-F17D-48DB-8F78-10E5446FFB1D}" type="slidenum">
              <a:rPr lang="es-EC" smtClean="0"/>
              <a:t>‹Nº›</a:t>
            </a:fld>
            <a:endParaRPr lang="es-EC"/>
          </a:p>
        </p:txBody>
      </p:sp>
    </p:spTree>
    <p:extLst>
      <p:ext uri="{BB962C8B-B14F-4D97-AF65-F5344CB8AC3E}">
        <p14:creationId xmlns:p14="http://schemas.microsoft.com/office/powerpoint/2010/main" val="3121497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AD99494-2B58-480A-A634-DAF32BE9D2C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44C36FA0-82CB-4EDF-8692-A6B7A140820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2F011368-167A-40ED-8236-2B04E1F88F04}"/>
              </a:ext>
            </a:extLst>
          </p:cNvPr>
          <p:cNvSpPr>
            <a:spLocks noGrp="1"/>
          </p:cNvSpPr>
          <p:nvPr>
            <p:ph type="dt" sz="half" idx="10"/>
          </p:nvPr>
        </p:nvSpPr>
        <p:spPr/>
        <p:txBody>
          <a:bodyPr/>
          <a:lstStyle/>
          <a:p>
            <a:fld id="{ECF96859-C776-44CD-BD5A-5E7D21088058}" type="datetimeFigureOut">
              <a:rPr lang="es-EC" smtClean="0"/>
              <a:t>16/7/2021</a:t>
            </a:fld>
            <a:endParaRPr lang="es-EC"/>
          </a:p>
        </p:txBody>
      </p:sp>
      <p:sp>
        <p:nvSpPr>
          <p:cNvPr id="5" name="Marcador de pie de página 4">
            <a:extLst>
              <a:ext uri="{FF2B5EF4-FFF2-40B4-BE49-F238E27FC236}">
                <a16:creationId xmlns:a16="http://schemas.microsoft.com/office/drawing/2014/main" id="{7B7ACFE7-B1AC-45A4-9902-A9EFECD77DC6}"/>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7016F471-18F8-4C82-8554-BB0C6B3A3FC2}"/>
              </a:ext>
            </a:extLst>
          </p:cNvPr>
          <p:cNvSpPr>
            <a:spLocks noGrp="1"/>
          </p:cNvSpPr>
          <p:nvPr>
            <p:ph type="sldNum" sz="quarter" idx="12"/>
          </p:nvPr>
        </p:nvSpPr>
        <p:spPr/>
        <p:txBody>
          <a:bodyPr/>
          <a:lstStyle/>
          <a:p>
            <a:fld id="{8D42E035-F17D-48DB-8F78-10E5446FFB1D}" type="slidenum">
              <a:rPr lang="es-EC" smtClean="0"/>
              <a:t>‹Nº›</a:t>
            </a:fld>
            <a:endParaRPr lang="es-EC"/>
          </a:p>
        </p:txBody>
      </p:sp>
    </p:spTree>
    <p:extLst>
      <p:ext uri="{BB962C8B-B14F-4D97-AF65-F5344CB8AC3E}">
        <p14:creationId xmlns:p14="http://schemas.microsoft.com/office/powerpoint/2010/main" val="953613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9F68C80-BF9B-481E-9D87-0E09A0B517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43CAE902-9829-48FD-B4A5-2C44C650DA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38DE62D9-22F7-48B1-BAD5-647D3ED58E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F96859-C776-44CD-BD5A-5E7D21088058}" type="datetimeFigureOut">
              <a:rPr lang="es-EC" smtClean="0"/>
              <a:t>16/7/2021</a:t>
            </a:fld>
            <a:endParaRPr lang="es-EC"/>
          </a:p>
        </p:txBody>
      </p:sp>
      <p:sp>
        <p:nvSpPr>
          <p:cNvPr id="5" name="Marcador de pie de página 4">
            <a:extLst>
              <a:ext uri="{FF2B5EF4-FFF2-40B4-BE49-F238E27FC236}">
                <a16:creationId xmlns:a16="http://schemas.microsoft.com/office/drawing/2014/main" id="{868CE1BB-D40B-4999-9EF2-A3D1C0054F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9BC945AB-CBAE-4F22-B762-7869922C4E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42E035-F17D-48DB-8F78-10E5446FFB1D}" type="slidenum">
              <a:rPr lang="es-EC" smtClean="0"/>
              <a:t>‹Nº›</a:t>
            </a:fld>
            <a:endParaRPr lang="es-EC"/>
          </a:p>
        </p:txBody>
      </p:sp>
    </p:spTree>
    <p:extLst>
      <p:ext uri="{BB962C8B-B14F-4D97-AF65-F5344CB8AC3E}">
        <p14:creationId xmlns:p14="http://schemas.microsoft.com/office/powerpoint/2010/main" val="3537811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872899"/>
            <a:ext cx="4670097" cy="3320668"/>
          </a:xfrm>
        </p:spPr>
        <p:txBody>
          <a:bodyPr>
            <a:normAutofit/>
          </a:bodyPr>
          <a:lstStyle/>
          <a:p>
            <a:pPr marL="0" indent="0">
              <a:buNone/>
            </a:pPr>
            <a:r>
              <a:rPr lang="es-EC" sz="3600" b="1" dirty="0">
                <a:solidFill>
                  <a:srgbClr val="FF0000"/>
                </a:solidFill>
              </a:rPr>
              <a:t>Cuatro dimensiones de </a:t>
            </a:r>
            <a:r>
              <a:rPr lang="es-EC" sz="3600" b="1" dirty="0" err="1">
                <a:solidFill>
                  <a:srgbClr val="FF0000"/>
                </a:solidFill>
              </a:rPr>
              <a:t>ITIL</a:t>
            </a:r>
            <a:endParaRPr lang="es-EC" sz="3600" b="1" dirty="0">
              <a:solidFill>
                <a:srgbClr val="FF0000"/>
              </a:solidFill>
            </a:endParaRPr>
          </a:p>
          <a:p>
            <a:endParaRPr lang="es-EC" sz="2200" dirty="0"/>
          </a:p>
          <a:p>
            <a:r>
              <a:rPr lang="es-EC" sz="2200" b="1" dirty="0"/>
              <a:t>Organizaciones y personas</a:t>
            </a:r>
          </a:p>
          <a:p>
            <a:r>
              <a:rPr lang="es-EC" sz="2200" b="1" dirty="0"/>
              <a:t>Información y tecnología</a:t>
            </a:r>
          </a:p>
          <a:p>
            <a:r>
              <a:rPr lang="es-EC" sz="2200" b="1" dirty="0"/>
              <a:t>Socios y proveedores</a:t>
            </a:r>
          </a:p>
          <a:p>
            <a:r>
              <a:rPr lang="es-EC" sz="2200" b="1" dirty="0"/>
              <a:t>Flujos de valor y procesos</a:t>
            </a:r>
          </a:p>
          <a:p>
            <a:endParaRPr lang="es-EC" sz="2200" b="1" dirty="0"/>
          </a:p>
        </p:txBody>
      </p:sp>
      <p:pic>
        <p:nvPicPr>
          <p:cNvPr id="5" name="Imagen 4" descr="Interfaz de usuario gráfica&#10;&#10;Descripción generada automáticamente">
            <a:extLst>
              <a:ext uri="{FF2B5EF4-FFF2-40B4-BE49-F238E27FC236}">
                <a16:creationId xmlns:a16="http://schemas.microsoft.com/office/drawing/2014/main" id="{491FAAA3-FD84-442A-9FAE-28B14D927F60}"/>
              </a:ext>
            </a:extLst>
          </p:cNvPr>
          <p:cNvPicPr>
            <a:picLocks noChangeAspect="1"/>
          </p:cNvPicPr>
          <p:nvPr/>
        </p:nvPicPr>
        <p:blipFill rotWithShape="1">
          <a:blip r:embed="rId2">
            <a:extLst>
              <a:ext uri="{28A0092B-C50C-407E-A947-70E740481C1C}">
                <a14:useLocalDpi xmlns:a14="http://schemas.microsoft.com/office/drawing/2010/main" val="0"/>
              </a:ext>
            </a:extLst>
          </a:blip>
          <a:srcRect l="11866" r="41994"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48502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Cuatro dimensiones de </a:t>
            </a:r>
            <a:r>
              <a:rPr lang="es-EC" sz="2800" b="1" dirty="0" err="1">
                <a:solidFill>
                  <a:schemeClr val="bg1"/>
                </a:solidFill>
              </a:rPr>
              <a:t>ITIL</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544695"/>
          </a:xfrm>
        </p:spPr>
        <p:txBody>
          <a:bodyPr>
            <a:normAutofit lnSpcReduction="10000"/>
          </a:bodyPr>
          <a:lstStyle/>
          <a:p>
            <a:pPr marL="0" indent="0">
              <a:buNone/>
            </a:pPr>
            <a:r>
              <a:rPr lang="es-ES" sz="3200" b="1" i="0" dirty="0">
                <a:solidFill>
                  <a:srgbClr val="FF0000"/>
                </a:solidFill>
                <a:effectLst/>
                <a:latin typeface="Open Sans" panose="020B0604020202020204" pitchFamily="34" charset="0"/>
              </a:rPr>
              <a:t>Las 4 dimensiones de la Gestión del Servicio.</a:t>
            </a:r>
          </a:p>
          <a:p>
            <a:endParaRPr lang="es-ES" sz="2800" b="1" i="0" dirty="0">
              <a:solidFill>
                <a:srgbClr val="FF0000"/>
              </a:solidFill>
              <a:effectLst/>
              <a:latin typeface="Open Sans" panose="020B0604020202020204" pitchFamily="34" charset="0"/>
            </a:endParaRPr>
          </a:p>
          <a:p>
            <a:pPr marL="457200" lvl="1" indent="0" algn="just">
              <a:buNone/>
            </a:pPr>
            <a:r>
              <a:rPr lang="es-EC" sz="2800" dirty="0"/>
              <a:t>Las cuatro dimensiones de la Gestión del Servicio son:</a:t>
            </a:r>
          </a:p>
          <a:p>
            <a:pPr lvl="1" algn="just"/>
            <a:r>
              <a:rPr lang="es-EC" sz="2800" dirty="0"/>
              <a:t>Organizaciones y personas</a:t>
            </a:r>
          </a:p>
          <a:p>
            <a:pPr lvl="1" algn="just"/>
            <a:r>
              <a:rPr lang="es-EC" sz="2800" dirty="0"/>
              <a:t>Información y tecnología </a:t>
            </a:r>
          </a:p>
          <a:p>
            <a:pPr lvl="1" algn="just"/>
            <a:r>
              <a:rPr lang="es-EC" sz="2800" dirty="0"/>
              <a:t>Socios y proveedores</a:t>
            </a:r>
          </a:p>
          <a:p>
            <a:pPr lvl="1" algn="just"/>
            <a:r>
              <a:rPr lang="es-EC" sz="2800" dirty="0"/>
              <a:t>Flujos de valor y proceso</a:t>
            </a:r>
          </a:p>
          <a:p>
            <a:pPr lvl="1" algn="just"/>
            <a:endParaRPr lang="es-EC" sz="2800" dirty="0"/>
          </a:p>
          <a:p>
            <a:pPr marL="457200" lvl="1" indent="0" algn="just">
              <a:buNone/>
            </a:pPr>
            <a:r>
              <a:rPr lang="es-EC" sz="2800" dirty="0"/>
              <a:t>Factores externos que pueden afectar a las 4 dimensiones para la generación del servicio.</a:t>
            </a:r>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293300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Cuatro dimensiones de </a:t>
            </a:r>
            <a:r>
              <a:rPr lang="es-EC" sz="2800" b="1" dirty="0" err="1">
                <a:solidFill>
                  <a:schemeClr val="bg1"/>
                </a:solidFill>
              </a:rPr>
              <a:t>ITIL</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544695"/>
          </a:xfrm>
        </p:spPr>
        <p:txBody>
          <a:bodyPr>
            <a:normAutofit/>
          </a:bodyPr>
          <a:lstStyle/>
          <a:p>
            <a:pPr marL="0" indent="0">
              <a:buNone/>
            </a:pPr>
            <a:r>
              <a:rPr lang="es-ES" sz="3200" b="1" i="0" dirty="0">
                <a:solidFill>
                  <a:srgbClr val="FF0000"/>
                </a:solidFill>
                <a:effectLst/>
                <a:latin typeface="Open Sans" panose="020B0604020202020204" pitchFamily="34" charset="0"/>
              </a:rPr>
              <a:t>Las 4 dimensiones de la Gestión del Servicio.</a:t>
            </a:r>
          </a:p>
          <a:p>
            <a:endParaRPr lang="es-ES" sz="2800" b="1" i="0" dirty="0">
              <a:solidFill>
                <a:srgbClr val="FF0000"/>
              </a:solidFill>
              <a:effectLst/>
              <a:latin typeface="Open Sans" panose="020B0604020202020204" pitchFamily="34" charset="0"/>
            </a:endParaRPr>
          </a:p>
          <a:p>
            <a:pPr marL="457200" lvl="1" indent="0" algn="just">
              <a:buNone/>
            </a:pPr>
            <a:r>
              <a:rPr lang="es-EC" sz="2800" dirty="0"/>
              <a:t>Si en la generación de un servicio no se consideran las 4 dimensiones del servicio, este puede no llegar a entregarse, o entregarse con problemas de calidad o eficacia.</a:t>
            </a:r>
          </a:p>
          <a:p>
            <a:pPr marL="457200" lvl="1" indent="0" algn="just">
              <a:buNone/>
            </a:pPr>
            <a:endParaRPr lang="es-EC" sz="2800" dirty="0"/>
          </a:p>
          <a:p>
            <a:pPr marL="457200" lvl="1" indent="0" algn="just">
              <a:buNone/>
            </a:pPr>
            <a:r>
              <a:rPr lang="es-EC" sz="2800" dirty="0"/>
              <a:t>Ejemplo: entregar un servicio que no tiene establecidos los flujos de valor y procesos va a traer como consecuencias problemas de control o ineficiencia en la ejecución del servicio.</a:t>
            </a:r>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090380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Cuatro dimensiones de </a:t>
            </a:r>
            <a:r>
              <a:rPr lang="es-EC" sz="2800" b="1" dirty="0" err="1">
                <a:solidFill>
                  <a:schemeClr val="bg1"/>
                </a:solidFill>
              </a:rPr>
              <a:t>ITIL</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544695"/>
          </a:xfrm>
        </p:spPr>
        <p:txBody>
          <a:bodyPr>
            <a:normAutofit fontScale="92500" lnSpcReduction="20000"/>
          </a:bodyPr>
          <a:lstStyle/>
          <a:p>
            <a:pPr marL="0" indent="0">
              <a:buNone/>
            </a:pPr>
            <a:r>
              <a:rPr lang="es-ES" sz="3200" b="1" i="0" dirty="0">
                <a:solidFill>
                  <a:srgbClr val="FF0000"/>
                </a:solidFill>
                <a:effectLst/>
                <a:latin typeface="Open Sans" panose="020B0604020202020204" pitchFamily="34" charset="0"/>
              </a:rPr>
              <a:t>1. Organizaciones y personas.</a:t>
            </a:r>
          </a:p>
          <a:p>
            <a:endParaRPr lang="es-ES" sz="2800" b="1" i="0" dirty="0">
              <a:solidFill>
                <a:srgbClr val="FF0000"/>
              </a:solidFill>
              <a:effectLst/>
              <a:latin typeface="Open Sans" panose="020B0604020202020204" pitchFamily="34" charset="0"/>
            </a:endParaRPr>
          </a:p>
          <a:p>
            <a:pPr marL="457200" lvl="1" indent="0" algn="just">
              <a:buNone/>
            </a:pPr>
            <a:r>
              <a:rPr lang="es-EC" sz="2800" dirty="0"/>
              <a:t>En el sistema de valor de </a:t>
            </a:r>
            <a:r>
              <a:rPr lang="es-EC" sz="2800" dirty="0" err="1"/>
              <a:t>ITIL</a:t>
            </a:r>
            <a:r>
              <a:rPr lang="es-EC" sz="2800" dirty="0"/>
              <a:t>, las personas se vuelven un pilar fundamental en el desarrollo empresarial, por lo que la administración de personal se vuelve uno de los retos mas importantes  en el desarrollo de las empresas.</a:t>
            </a:r>
          </a:p>
          <a:p>
            <a:r>
              <a:rPr lang="es-EC" dirty="0"/>
              <a:t>Esta dimensión cubre :</a:t>
            </a:r>
          </a:p>
          <a:p>
            <a:pPr marL="457200" lvl="1" indent="0">
              <a:buNone/>
            </a:pPr>
            <a:r>
              <a:rPr lang="es-EC" sz="3000" dirty="0"/>
              <a:t>Personas y equipos</a:t>
            </a:r>
          </a:p>
          <a:p>
            <a:pPr lvl="2"/>
            <a:r>
              <a:rPr lang="es-EC" sz="2600" dirty="0"/>
              <a:t>Habilidades y competencias</a:t>
            </a:r>
          </a:p>
          <a:p>
            <a:pPr lvl="2"/>
            <a:r>
              <a:rPr lang="es-EC" sz="2600" dirty="0"/>
              <a:t>Roles y responsabilidades</a:t>
            </a:r>
          </a:p>
          <a:p>
            <a:pPr marL="457200" lvl="1" indent="0">
              <a:buNone/>
            </a:pPr>
            <a:r>
              <a:rPr lang="es-EC" sz="3000" dirty="0"/>
              <a:t>Cultura organizacional</a:t>
            </a:r>
          </a:p>
          <a:p>
            <a:pPr lvl="2"/>
            <a:r>
              <a:rPr lang="es-EC" sz="2600" dirty="0"/>
              <a:t>Estilos de administración y liderazgo</a:t>
            </a:r>
          </a:p>
          <a:p>
            <a:pPr lvl="2"/>
            <a:r>
              <a:rPr lang="es-EC" sz="2600" dirty="0"/>
              <a:t>Estructuras organizacionales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270315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Cuatro dimensiones de </a:t>
            </a:r>
            <a:r>
              <a:rPr lang="es-EC" sz="2800" b="1" dirty="0" err="1">
                <a:solidFill>
                  <a:schemeClr val="bg1"/>
                </a:solidFill>
              </a:rPr>
              <a:t>ITIL</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1303214"/>
          </a:xfrm>
        </p:spPr>
        <p:txBody>
          <a:bodyPr>
            <a:normAutofit/>
          </a:bodyPr>
          <a:lstStyle/>
          <a:p>
            <a:pPr marL="0" indent="0">
              <a:buNone/>
            </a:pPr>
            <a:r>
              <a:rPr lang="es-ES" sz="3200" b="1" i="0" dirty="0">
                <a:solidFill>
                  <a:srgbClr val="FF0000"/>
                </a:solidFill>
                <a:effectLst/>
                <a:latin typeface="Open Sans" panose="020B0604020202020204" pitchFamily="34" charset="0"/>
              </a:rPr>
              <a:t>1. Organizaciones y personas.</a:t>
            </a:r>
          </a:p>
          <a:p>
            <a:endParaRPr lang="es-ES" sz="2800" b="1" i="0" dirty="0">
              <a:solidFill>
                <a:srgbClr val="FF0000"/>
              </a:solidFill>
              <a:effectLst/>
              <a:latin typeface="Open Sans" panose="020B0604020202020204" pitchFamily="34" charset="0"/>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CA3FF160-F309-45D4-9733-05C9E84EE7AF}"/>
              </a:ext>
            </a:extLst>
          </p:cNvPr>
          <p:cNvPicPr>
            <a:picLocks noChangeAspect="1"/>
          </p:cNvPicPr>
          <p:nvPr/>
        </p:nvPicPr>
        <p:blipFill>
          <a:blip r:embed="rId2"/>
          <a:stretch>
            <a:fillRect/>
          </a:stretch>
        </p:blipFill>
        <p:spPr>
          <a:xfrm>
            <a:off x="5274945" y="2504661"/>
            <a:ext cx="5591175" cy="3631096"/>
          </a:xfrm>
          <a:prstGeom prst="rect">
            <a:avLst/>
          </a:prstGeom>
        </p:spPr>
      </p:pic>
      <p:sp>
        <p:nvSpPr>
          <p:cNvPr id="5" name="CuadroTexto 4">
            <a:extLst>
              <a:ext uri="{FF2B5EF4-FFF2-40B4-BE49-F238E27FC236}">
                <a16:creationId xmlns:a16="http://schemas.microsoft.com/office/drawing/2014/main" id="{CA28A84F-F4D5-48E2-99ED-F57AFF1643C0}"/>
              </a:ext>
            </a:extLst>
          </p:cNvPr>
          <p:cNvSpPr txBox="1"/>
          <p:nvPr/>
        </p:nvSpPr>
        <p:spPr>
          <a:xfrm>
            <a:off x="1325880" y="2448126"/>
            <a:ext cx="3949065" cy="4154984"/>
          </a:xfrm>
          <a:prstGeom prst="rect">
            <a:avLst/>
          </a:prstGeom>
          <a:noFill/>
        </p:spPr>
        <p:txBody>
          <a:bodyPr wrap="square" rtlCol="0">
            <a:spAutoFit/>
          </a:bodyPr>
          <a:lstStyle/>
          <a:p>
            <a:r>
              <a:rPr lang="es-EC" sz="2400" dirty="0"/>
              <a:t>Las organizaciones cuentan con Políticas, procedimientos, Cultura organizacional, planes estratégicos, pero todo esto es ejecutado por personas. </a:t>
            </a:r>
          </a:p>
          <a:p>
            <a:r>
              <a:rPr lang="es-EC" sz="2400" dirty="0"/>
              <a:t>De allí la importancia de contar con un equipo calificado que permita conseguir los objetivos de la empresa y la generación adecuada de servicios.</a:t>
            </a:r>
          </a:p>
        </p:txBody>
      </p:sp>
    </p:spTree>
    <p:extLst>
      <p:ext uri="{BB962C8B-B14F-4D97-AF65-F5344CB8AC3E}">
        <p14:creationId xmlns:p14="http://schemas.microsoft.com/office/powerpoint/2010/main" val="727256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Cuatro dimensiones de </a:t>
            </a:r>
            <a:r>
              <a:rPr lang="es-EC" sz="2800" b="1" dirty="0" err="1">
                <a:solidFill>
                  <a:schemeClr val="bg1"/>
                </a:solidFill>
              </a:rPr>
              <a:t>ITIL</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544695"/>
          </a:xfrm>
        </p:spPr>
        <p:txBody>
          <a:bodyPr>
            <a:normAutofit/>
          </a:bodyPr>
          <a:lstStyle/>
          <a:p>
            <a:pPr marL="0" indent="0">
              <a:buNone/>
            </a:pPr>
            <a:r>
              <a:rPr lang="es-ES" sz="3200" b="1" dirty="0">
                <a:solidFill>
                  <a:srgbClr val="FF0000"/>
                </a:solidFill>
                <a:latin typeface="Open Sans" panose="020B0604020202020204" pitchFamily="34" charset="0"/>
              </a:rPr>
              <a:t>2</a:t>
            </a:r>
            <a:r>
              <a:rPr lang="es-ES" sz="3200" b="1" i="0" dirty="0">
                <a:solidFill>
                  <a:srgbClr val="FF0000"/>
                </a:solidFill>
                <a:effectLst/>
                <a:latin typeface="Open Sans" panose="020B0604020202020204" pitchFamily="34" charset="0"/>
              </a:rPr>
              <a:t>. Informació</a:t>
            </a:r>
            <a:r>
              <a:rPr lang="es-ES" sz="3200" b="1" dirty="0">
                <a:solidFill>
                  <a:srgbClr val="FF0000"/>
                </a:solidFill>
                <a:latin typeface="Open Sans" panose="020B0604020202020204" pitchFamily="34" charset="0"/>
              </a:rPr>
              <a:t>n y tecnología</a:t>
            </a:r>
            <a:r>
              <a:rPr lang="es-ES" sz="3200" b="1" i="0" dirty="0">
                <a:solidFill>
                  <a:srgbClr val="FF0000"/>
                </a:solidFill>
                <a:effectLst/>
                <a:latin typeface="Open Sans" panose="020B0604020202020204" pitchFamily="34" charset="0"/>
              </a:rPr>
              <a:t>.</a:t>
            </a:r>
          </a:p>
          <a:p>
            <a:endParaRPr lang="es-ES" sz="2800" b="1" i="0" dirty="0">
              <a:solidFill>
                <a:srgbClr val="FF0000"/>
              </a:solidFill>
              <a:effectLst/>
              <a:latin typeface="Open Sans" panose="020B0604020202020204" pitchFamily="34" charset="0"/>
            </a:endParaRPr>
          </a:p>
          <a:p>
            <a:pPr marL="457200" lvl="1" indent="0" algn="just">
              <a:buNone/>
            </a:pPr>
            <a:r>
              <a:rPr lang="es-EC" sz="2800" dirty="0"/>
              <a:t>El uso de la tecnología tiene como finalidad capturar, procesar y cuidar la información de los clientes. La administración de estos datos es uno de los factores mas importantes en la entrega de los servicios.</a:t>
            </a:r>
          </a:p>
          <a:p>
            <a:r>
              <a:rPr lang="es-EC" dirty="0"/>
              <a:t>Esta dimensión pone mayor atención en:</a:t>
            </a:r>
          </a:p>
          <a:p>
            <a:pPr lvl="1"/>
            <a:r>
              <a:rPr lang="es-EC" dirty="0"/>
              <a:t>Elección de la tecnología a utilizar para procesar la información </a:t>
            </a:r>
          </a:p>
          <a:p>
            <a:pPr lvl="1"/>
            <a:r>
              <a:rPr lang="es-EC" dirty="0"/>
              <a:t>Tratamiento de la Información </a:t>
            </a:r>
          </a:p>
          <a:p>
            <a:pPr lvl="1"/>
            <a:r>
              <a:rPr lang="es-EC" dirty="0"/>
              <a:t>Seguridad </a:t>
            </a:r>
            <a:r>
              <a:rPr lang="es-EC" sz="2600" dirty="0"/>
              <a:t>de la Información</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640793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Cuatro dimensiones de </a:t>
            </a:r>
            <a:r>
              <a:rPr lang="es-EC" sz="2800" b="1" dirty="0" err="1">
                <a:solidFill>
                  <a:schemeClr val="bg1"/>
                </a:solidFill>
              </a:rPr>
              <a:t>ITIL</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544695"/>
          </a:xfrm>
        </p:spPr>
        <p:txBody>
          <a:bodyPr>
            <a:normAutofit fontScale="92500" lnSpcReduction="10000"/>
          </a:bodyPr>
          <a:lstStyle/>
          <a:p>
            <a:pPr marL="0" indent="0">
              <a:buNone/>
            </a:pPr>
            <a:r>
              <a:rPr lang="es-ES" sz="3200" b="1" dirty="0">
                <a:solidFill>
                  <a:srgbClr val="FF0000"/>
                </a:solidFill>
                <a:latin typeface="Open Sans" panose="020B0604020202020204" pitchFamily="34" charset="0"/>
              </a:rPr>
              <a:t>2</a:t>
            </a:r>
            <a:r>
              <a:rPr lang="es-ES" sz="3200" b="1" i="0" dirty="0">
                <a:solidFill>
                  <a:srgbClr val="FF0000"/>
                </a:solidFill>
                <a:effectLst/>
                <a:latin typeface="Open Sans" panose="020B0604020202020204" pitchFamily="34" charset="0"/>
              </a:rPr>
              <a:t>. Informació</a:t>
            </a:r>
            <a:r>
              <a:rPr lang="es-ES" sz="3200" b="1" dirty="0">
                <a:solidFill>
                  <a:srgbClr val="FF0000"/>
                </a:solidFill>
                <a:latin typeface="Open Sans" panose="020B0604020202020204" pitchFamily="34" charset="0"/>
              </a:rPr>
              <a:t>n y tecnología</a:t>
            </a:r>
            <a:r>
              <a:rPr lang="es-ES" sz="3200" b="1" i="0" dirty="0">
                <a:solidFill>
                  <a:srgbClr val="FF0000"/>
                </a:solidFill>
                <a:effectLst/>
                <a:latin typeface="Open Sans" panose="020B0604020202020204" pitchFamily="34" charset="0"/>
              </a:rPr>
              <a:t>.</a:t>
            </a:r>
          </a:p>
          <a:p>
            <a:endParaRPr lang="es-ES" sz="2800" b="1" i="0" dirty="0">
              <a:solidFill>
                <a:srgbClr val="FF0000"/>
              </a:solidFill>
              <a:effectLst/>
              <a:latin typeface="Open Sans" panose="020B0604020202020204" pitchFamily="34" charset="0"/>
            </a:endParaRPr>
          </a:p>
          <a:p>
            <a:pPr marL="457200" lvl="1" indent="0" algn="just">
              <a:buNone/>
            </a:pPr>
            <a:r>
              <a:rPr lang="es-EC" sz="2800" b="1" dirty="0"/>
              <a:t>Transformación digital.</a:t>
            </a:r>
          </a:p>
          <a:p>
            <a:pPr marL="457200" lvl="1" indent="0" algn="just">
              <a:buNone/>
            </a:pPr>
            <a:r>
              <a:rPr lang="es-EC" sz="2800" dirty="0"/>
              <a:t>Rápidos avances tecnológicos que afectan de manera positiva o negativa a los negocios</a:t>
            </a:r>
          </a:p>
          <a:p>
            <a:pPr lvl="1" algn="just"/>
            <a:r>
              <a:rPr lang="es-EC" sz="2800" dirty="0"/>
              <a:t>Metodologías Agiles</a:t>
            </a:r>
          </a:p>
          <a:p>
            <a:pPr lvl="1" algn="just"/>
            <a:r>
              <a:rPr lang="es-EC" sz="2800" dirty="0"/>
              <a:t>Cambios disruptivos </a:t>
            </a:r>
          </a:p>
          <a:p>
            <a:pPr lvl="2" algn="just"/>
            <a:r>
              <a:rPr lang="es-EC" sz="2400" dirty="0"/>
              <a:t>Virtualización </a:t>
            </a:r>
          </a:p>
          <a:p>
            <a:pPr lvl="2" algn="just"/>
            <a:r>
              <a:rPr lang="es-EC" sz="2400" dirty="0"/>
              <a:t>Big Data</a:t>
            </a:r>
          </a:p>
          <a:p>
            <a:pPr lvl="2" algn="just"/>
            <a:r>
              <a:rPr lang="es-EC" sz="2400" dirty="0"/>
              <a:t>Internet de las cosas</a:t>
            </a:r>
          </a:p>
          <a:p>
            <a:pPr lvl="2" algn="just"/>
            <a:r>
              <a:rPr lang="es-EC" sz="2400" dirty="0"/>
              <a:t>Computo en la nube</a:t>
            </a:r>
          </a:p>
          <a:p>
            <a:pPr marL="457200" lvl="1" indent="0" algn="just">
              <a:buNone/>
            </a:pPr>
            <a:r>
              <a:rPr lang="es-EC" sz="2800" dirty="0"/>
              <a:t>Todo esto debe estar orientado a mejorar la experiencia del usuario</a:t>
            </a:r>
          </a:p>
          <a:p>
            <a:pPr marL="457200" lvl="1" indent="0" algn="just">
              <a:buNone/>
            </a:pPr>
            <a:endParaRPr lang="es-EC" sz="2600"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952649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Cuatro dimensiones de </a:t>
            </a:r>
            <a:r>
              <a:rPr lang="es-EC" sz="2800" b="1" dirty="0" err="1">
                <a:solidFill>
                  <a:schemeClr val="bg1"/>
                </a:solidFill>
              </a:rPr>
              <a:t>ITIL</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544695"/>
          </a:xfrm>
        </p:spPr>
        <p:txBody>
          <a:bodyPr>
            <a:normAutofit/>
          </a:bodyPr>
          <a:lstStyle/>
          <a:p>
            <a:pPr marL="0" indent="0">
              <a:buNone/>
            </a:pPr>
            <a:r>
              <a:rPr lang="es-ES" sz="3200" b="1" dirty="0">
                <a:solidFill>
                  <a:srgbClr val="FF0000"/>
                </a:solidFill>
                <a:latin typeface="Open Sans" panose="020B0604020202020204" pitchFamily="34" charset="0"/>
              </a:rPr>
              <a:t>2</a:t>
            </a:r>
            <a:r>
              <a:rPr lang="es-ES" sz="3200" b="1" i="0" dirty="0">
                <a:solidFill>
                  <a:srgbClr val="FF0000"/>
                </a:solidFill>
                <a:effectLst/>
                <a:latin typeface="Open Sans" panose="020B0604020202020204" pitchFamily="34" charset="0"/>
              </a:rPr>
              <a:t>. Informació</a:t>
            </a:r>
            <a:r>
              <a:rPr lang="es-ES" sz="3200" b="1" dirty="0">
                <a:solidFill>
                  <a:srgbClr val="FF0000"/>
                </a:solidFill>
                <a:latin typeface="Open Sans" panose="020B0604020202020204" pitchFamily="34" charset="0"/>
              </a:rPr>
              <a:t>n y tecnología</a:t>
            </a:r>
            <a:r>
              <a:rPr lang="es-ES" sz="3200" b="1" i="0" dirty="0">
                <a:solidFill>
                  <a:srgbClr val="FF0000"/>
                </a:solidFill>
                <a:effectLst/>
                <a:latin typeface="Open Sans" panose="020B0604020202020204" pitchFamily="34" charset="0"/>
              </a:rPr>
              <a:t>.</a:t>
            </a:r>
          </a:p>
          <a:p>
            <a:endParaRPr lang="es-ES" sz="2800" b="1" i="0" dirty="0">
              <a:solidFill>
                <a:srgbClr val="FF0000"/>
              </a:solidFill>
              <a:effectLst/>
              <a:latin typeface="Open Sans" panose="020B0604020202020204" pitchFamily="34" charset="0"/>
            </a:endParaRPr>
          </a:p>
          <a:p>
            <a:pPr marL="457200" lvl="1" indent="0" algn="just">
              <a:buNone/>
            </a:pPr>
            <a:r>
              <a:rPr lang="es-EC" sz="2800" b="1" dirty="0"/>
              <a:t>Transformación digital.</a:t>
            </a:r>
          </a:p>
          <a:p>
            <a:pPr marL="457200" lvl="1" indent="0" algn="just">
              <a:buNone/>
            </a:pPr>
            <a:r>
              <a:rPr lang="es-EC" sz="2800" dirty="0"/>
              <a:t>El principal cambio disruptivo en el que </a:t>
            </a:r>
            <a:r>
              <a:rPr lang="es-EC" sz="2800" dirty="0" err="1"/>
              <a:t>ITIL</a:t>
            </a:r>
            <a:r>
              <a:rPr lang="es-EC" sz="2800" dirty="0"/>
              <a:t> pone atención es el computo en la nube :</a:t>
            </a:r>
          </a:p>
          <a:p>
            <a:pPr lvl="1" algn="just"/>
            <a:r>
              <a:rPr lang="es-EC" sz="2800" dirty="0"/>
              <a:t>Nos permite contar con capacidad elástica de crecimiento</a:t>
            </a:r>
          </a:p>
          <a:p>
            <a:pPr lvl="1" algn="just"/>
            <a:r>
              <a:rPr lang="es-EC" sz="2800" dirty="0"/>
              <a:t>Rapidez y alcance global de la implementación de servicios</a:t>
            </a:r>
          </a:p>
          <a:p>
            <a:pPr lvl="1" algn="just"/>
            <a:r>
              <a:rPr lang="es-EC" sz="2800" dirty="0"/>
              <a:t>Diversificar métodos de inversión y costos</a:t>
            </a:r>
          </a:p>
          <a:p>
            <a:pPr lvl="1" algn="just"/>
            <a:r>
              <a:rPr lang="es-EC" sz="2800" dirty="0"/>
              <a:t>Ofrece garantías efectivas y seguridad de la información.</a:t>
            </a:r>
          </a:p>
          <a:p>
            <a:pPr marL="457200" lvl="1" indent="0" algn="just">
              <a:buNone/>
            </a:pPr>
            <a:endParaRPr lang="es-EC" sz="2600"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653555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Cuatro dimensiones de </a:t>
            </a:r>
            <a:r>
              <a:rPr lang="es-EC" sz="2800" b="1" dirty="0" err="1">
                <a:solidFill>
                  <a:schemeClr val="bg1"/>
                </a:solidFill>
              </a:rPr>
              <a:t>ITIL</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544695"/>
          </a:xfrm>
        </p:spPr>
        <p:txBody>
          <a:bodyPr>
            <a:normAutofit fontScale="92500" lnSpcReduction="10000"/>
          </a:bodyPr>
          <a:lstStyle/>
          <a:p>
            <a:pPr marL="0" indent="0">
              <a:buNone/>
            </a:pPr>
            <a:r>
              <a:rPr lang="es-ES" sz="3200" b="1" dirty="0">
                <a:solidFill>
                  <a:srgbClr val="FF0000"/>
                </a:solidFill>
                <a:latin typeface="Open Sans" panose="020B0604020202020204" pitchFamily="34" charset="0"/>
              </a:rPr>
              <a:t>3</a:t>
            </a:r>
            <a:r>
              <a:rPr lang="es-ES" sz="3200" b="1" i="0" dirty="0">
                <a:solidFill>
                  <a:srgbClr val="FF0000"/>
                </a:solidFill>
                <a:effectLst/>
                <a:latin typeface="Open Sans" panose="020B0604020202020204" pitchFamily="34" charset="0"/>
              </a:rPr>
              <a:t>. Socios y proveedores.</a:t>
            </a:r>
          </a:p>
          <a:p>
            <a:endParaRPr lang="es-ES" sz="2800" b="1" i="0" dirty="0">
              <a:solidFill>
                <a:srgbClr val="FF0000"/>
              </a:solidFill>
              <a:effectLst/>
              <a:latin typeface="Open Sans" panose="020B0604020202020204" pitchFamily="34" charset="0"/>
            </a:endParaRPr>
          </a:p>
          <a:p>
            <a:pPr marL="457200" lvl="1" indent="0" algn="just">
              <a:buNone/>
            </a:pPr>
            <a:r>
              <a:rPr lang="es-EC" sz="2800" dirty="0"/>
              <a:t>Un proveedor de servicios debe ser consciente que no siempre cuenta con todos los recursos ni capacidades para entregar los productos y servicios de manera aislada, por lo que será necesario que cuente con la participación de socios y proveedores.</a:t>
            </a:r>
          </a:p>
          <a:p>
            <a:pPr marL="457200" lvl="1" indent="0" algn="just">
              <a:buNone/>
            </a:pPr>
            <a:r>
              <a:rPr lang="es-EC" sz="2800" dirty="0"/>
              <a:t>Al tratar con proveedores se debe considerar:</a:t>
            </a:r>
          </a:p>
          <a:p>
            <a:pPr lvl="1" algn="just"/>
            <a:r>
              <a:rPr lang="es-EC" sz="2800" dirty="0"/>
              <a:t>Administrarlos por medio de contratos.</a:t>
            </a:r>
          </a:p>
          <a:p>
            <a:pPr lvl="1" algn="just"/>
            <a:r>
              <a:rPr lang="es-EC" sz="2800" dirty="0"/>
              <a:t>Apoyen a validar el dominio en el área tecnológica que se le ofrece al cliente</a:t>
            </a:r>
          </a:p>
          <a:p>
            <a:pPr lvl="1" algn="just"/>
            <a:r>
              <a:rPr lang="es-EC" sz="2800" dirty="0"/>
              <a:t>Se requiere de una estrategia de gestión con diferencias para cada proveedor</a:t>
            </a:r>
          </a:p>
          <a:p>
            <a:pPr marL="457200" lvl="1" indent="0" algn="just">
              <a:buNone/>
            </a:pPr>
            <a:endParaRPr lang="es-EC" sz="2600"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468121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Cuatro dimensiones de </a:t>
            </a:r>
            <a:r>
              <a:rPr lang="es-EC" sz="2800" b="1" dirty="0" err="1">
                <a:solidFill>
                  <a:schemeClr val="bg1"/>
                </a:solidFill>
              </a:rPr>
              <a:t>ITIL</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544695"/>
          </a:xfrm>
        </p:spPr>
        <p:txBody>
          <a:bodyPr>
            <a:normAutofit fontScale="92500"/>
          </a:bodyPr>
          <a:lstStyle/>
          <a:p>
            <a:pPr marL="0" indent="0">
              <a:buNone/>
            </a:pPr>
            <a:r>
              <a:rPr lang="es-ES" sz="3200" b="1" dirty="0">
                <a:solidFill>
                  <a:srgbClr val="FF0000"/>
                </a:solidFill>
                <a:latin typeface="Open Sans" panose="020B0604020202020204" pitchFamily="34" charset="0"/>
              </a:rPr>
              <a:t>3</a:t>
            </a:r>
            <a:r>
              <a:rPr lang="es-ES" sz="3200" b="1" i="0" dirty="0">
                <a:solidFill>
                  <a:srgbClr val="FF0000"/>
                </a:solidFill>
                <a:effectLst/>
                <a:latin typeface="Open Sans" panose="020B0604020202020204" pitchFamily="34" charset="0"/>
              </a:rPr>
              <a:t>. Socios y proveedores.</a:t>
            </a:r>
          </a:p>
          <a:p>
            <a:endParaRPr lang="es-ES" sz="2800" b="1" i="0" dirty="0">
              <a:solidFill>
                <a:srgbClr val="FF0000"/>
              </a:solidFill>
              <a:effectLst/>
              <a:latin typeface="Open Sans" panose="020B0604020202020204" pitchFamily="34" charset="0"/>
            </a:endParaRPr>
          </a:p>
          <a:p>
            <a:pPr marL="457200" lvl="1" indent="0" algn="just">
              <a:buNone/>
            </a:pPr>
            <a:r>
              <a:rPr lang="es-EC" sz="2600" dirty="0"/>
              <a:t>Los factores que influyen en la estrategia de gestión hacia un proveedor, son:</a:t>
            </a:r>
          </a:p>
          <a:p>
            <a:pPr lvl="1" algn="just"/>
            <a:r>
              <a:rPr lang="es-EC" sz="2600" dirty="0"/>
              <a:t>Enfoque estratégico (mas independiente o mas dependiente del proveedor)</a:t>
            </a:r>
          </a:p>
          <a:p>
            <a:pPr lvl="1" algn="just"/>
            <a:r>
              <a:rPr lang="es-EC" sz="2600" dirty="0"/>
              <a:t>Cultura corporativa (estos afectan los enfoques de gestión). Ejemplo: horario de trabajo del proveedor</a:t>
            </a:r>
          </a:p>
          <a:p>
            <a:pPr lvl="1" algn="just"/>
            <a:r>
              <a:rPr lang="es-EC" sz="2600" dirty="0"/>
              <a:t>Costos (que tanto está dispuesto a invertir el proveedor)</a:t>
            </a:r>
          </a:p>
          <a:p>
            <a:pPr lvl="1" algn="just"/>
            <a:r>
              <a:rPr lang="es-EC" sz="2600" dirty="0"/>
              <a:t>Experiencia</a:t>
            </a:r>
          </a:p>
          <a:p>
            <a:pPr lvl="1" algn="just"/>
            <a:r>
              <a:rPr lang="es-EC" sz="2600" dirty="0"/>
              <a:t>Restricciones externas (regulaciones gubernamentales, restricciones sociales)</a:t>
            </a:r>
          </a:p>
          <a:p>
            <a:pPr lvl="1" algn="just"/>
            <a:r>
              <a:rPr lang="es-EC" sz="2600" dirty="0"/>
              <a:t>Patrones de demanda (demanda estacional). El proveedor puede necesitar aumentar su disponibilidad en algún momento del año.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561751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Cuatro dimensiones de </a:t>
            </a:r>
            <a:r>
              <a:rPr lang="es-EC" sz="2800" b="1" dirty="0" err="1">
                <a:solidFill>
                  <a:schemeClr val="bg1"/>
                </a:solidFill>
              </a:rPr>
              <a:t>ITIL</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544695"/>
          </a:xfrm>
        </p:spPr>
        <p:txBody>
          <a:bodyPr>
            <a:normAutofit fontScale="92500" lnSpcReduction="20000"/>
          </a:bodyPr>
          <a:lstStyle/>
          <a:p>
            <a:pPr marL="0" indent="0">
              <a:buNone/>
            </a:pPr>
            <a:r>
              <a:rPr lang="es-ES" sz="3200" b="1" i="0" dirty="0">
                <a:solidFill>
                  <a:srgbClr val="FF0000"/>
                </a:solidFill>
                <a:effectLst/>
                <a:latin typeface="Open Sans" panose="020B0604020202020204" pitchFamily="34" charset="0"/>
              </a:rPr>
              <a:t>4. Flujos de valor y procesos.</a:t>
            </a:r>
          </a:p>
          <a:p>
            <a:endParaRPr lang="es-ES" sz="2800" b="1" i="0" dirty="0">
              <a:solidFill>
                <a:srgbClr val="FF0000"/>
              </a:solidFill>
              <a:effectLst/>
              <a:latin typeface="Open Sans" panose="020B0604020202020204" pitchFamily="34" charset="0"/>
            </a:endParaRPr>
          </a:p>
          <a:p>
            <a:pPr marL="457200" lvl="1" indent="0" algn="just">
              <a:buNone/>
            </a:pPr>
            <a:r>
              <a:rPr lang="es-EC" sz="2600" dirty="0"/>
              <a:t>Esta dimensión considera que todas las actividades que las personas de la organización tienen un punto inicial y un punto final .</a:t>
            </a:r>
          </a:p>
          <a:p>
            <a:pPr marL="457200" lvl="1" indent="0" algn="just">
              <a:buNone/>
            </a:pPr>
            <a:r>
              <a:rPr lang="es-EC" sz="2600" dirty="0"/>
              <a:t>El punto inicial es la demanda o solicitud para la creación del servicio y</a:t>
            </a:r>
          </a:p>
          <a:p>
            <a:pPr marL="457200" lvl="1" indent="0" algn="just">
              <a:buNone/>
            </a:pPr>
            <a:r>
              <a:rPr lang="es-EC" sz="2600" dirty="0"/>
              <a:t>El punto final u objetivo siempre será generar valor para los clientes</a:t>
            </a:r>
          </a:p>
          <a:p>
            <a:pPr marL="457200" lvl="1" indent="0" algn="just">
              <a:buNone/>
            </a:pPr>
            <a:r>
              <a:rPr lang="es-EC" sz="2600" dirty="0"/>
              <a:t>La dimensión se enfoca en las actividades que realiza la organización y en como se organizan:</a:t>
            </a:r>
          </a:p>
          <a:p>
            <a:pPr lvl="1" algn="just"/>
            <a:r>
              <a:rPr lang="es-EC" sz="2600" dirty="0"/>
              <a:t>Involucrar</a:t>
            </a:r>
          </a:p>
          <a:p>
            <a:pPr lvl="1" algn="just"/>
            <a:r>
              <a:rPr lang="es-EC" sz="2600" dirty="0"/>
              <a:t>Planear y mejorar</a:t>
            </a:r>
          </a:p>
          <a:p>
            <a:pPr lvl="1" algn="just"/>
            <a:r>
              <a:rPr lang="es-EC" sz="2600" dirty="0"/>
              <a:t>Diseño y transición </a:t>
            </a:r>
          </a:p>
          <a:p>
            <a:pPr lvl="1" algn="just"/>
            <a:r>
              <a:rPr lang="es-EC" sz="2600" dirty="0"/>
              <a:t>Obtener / Construir</a:t>
            </a:r>
          </a:p>
          <a:p>
            <a:pPr lvl="1" algn="just"/>
            <a:r>
              <a:rPr lang="es-EC" sz="2600" dirty="0"/>
              <a:t>Entregar el servicio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518116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Cuatro dimensiones de </a:t>
            </a:r>
            <a:r>
              <a:rPr lang="es-EC" sz="2800" b="1" dirty="0" err="1">
                <a:solidFill>
                  <a:schemeClr val="bg1"/>
                </a:solidFill>
              </a:rPr>
              <a:t>ITIL</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1082040"/>
          </a:xfrm>
        </p:spPr>
        <p:txBody>
          <a:bodyPr>
            <a:normAutofit/>
          </a:bodyPr>
          <a:lstStyle/>
          <a:p>
            <a:pPr marL="0" indent="0">
              <a:buNone/>
            </a:pPr>
            <a:r>
              <a:rPr lang="es-ES" sz="3200" b="1" i="0" dirty="0">
                <a:solidFill>
                  <a:srgbClr val="FF0000"/>
                </a:solidFill>
                <a:effectLst/>
                <a:latin typeface="Open Sans" panose="020B0604020202020204" pitchFamily="34" charset="0"/>
              </a:rPr>
              <a:t>4. Flujos de valor y procesos.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077C7903-141E-4DF7-86B8-3CA279DBA6D6}"/>
              </a:ext>
            </a:extLst>
          </p:cNvPr>
          <p:cNvPicPr>
            <a:picLocks noChangeAspect="1"/>
          </p:cNvPicPr>
          <p:nvPr/>
        </p:nvPicPr>
        <p:blipFill>
          <a:blip r:embed="rId2"/>
          <a:stretch>
            <a:fillRect/>
          </a:stretch>
        </p:blipFill>
        <p:spPr>
          <a:xfrm>
            <a:off x="1193524" y="2694305"/>
            <a:ext cx="5219700" cy="2752725"/>
          </a:xfrm>
          <a:prstGeom prst="rect">
            <a:avLst/>
          </a:prstGeom>
        </p:spPr>
      </p:pic>
      <p:sp>
        <p:nvSpPr>
          <p:cNvPr id="5" name="CuadroTexto 4">
            <a:extLst>
              <a:ext uri="{FF2B5EF4-FFF2-40B4-BE49-F238E27FC236}">
                <a16:creationId xmlns:a16="http://schemas.microsoft.com/office/drawing/2014/main" id="{0621BD75-C2E2-40EF-B062-416E4FCBAC95}"/>
              </a:ext>
            </a:extLst>
          </p:cNvPr>
          <p:cNvSpPr txBox="1"/>
          <p:nvPr/>
        </p:nvSpPr>
        <p:spPr>
          <a:xfrm>
            <a:off x="6983897" y="2491409"/>
            <a:ext cx="4014580" cy="3785652"/>
          </a:xfrm>
          <a:prstGeom prst="rect">
            <a:avLst/>
          </a:prstGeom>
          <a:noFill/>
        </p:spPr>
        <p:txBody>
          <a:bodyPr wrap="square" rtlCol="0">
            <a:spAutoFit/>
          </a:bodyPr>
          <a:lstStyle/>
          <a:p>
            <a:r>
              <a:rPr lang="es-EC" sz="2400" b="1" dirty="0"/>
              <a:t>Flujo de valor </a:t>
            </a:r>
          </a:p>
          <a:p>
            <a:pPr marL="285750" indent="-285750">
              <a:buFont typeface="Arial" panose="020B0604020202020204" pitchFamily="34" charset="0"/>
              <a:buChar char="•"/>
            </a:pPr>
            <a:r>
              <a:rPr lang="es-EC" sz="2400" dirty="0"/>
              <a:t>Combinación de actividades de la cadena de valor para satisfacer una demanda</a:t>
            </a:r>
          </a:p>
          <a:p>
            <a:pPr marL="285750" indent="-285750">
              <a:buFont typeface="Arial" panose="020B0604020202020204" pitchFamily="34" charset="0"/>
              <a:buChar char="•"/>
            </a:pPr>
            <a:r>
              <a:rPr lang="es-EC" sz="2400" dirty="0"/>
              <a:t>Siempre inicia en demanda y termina en valor</a:t>
            </a:r>
          </a:p>
          <a:p>
            <a:pPr marL="285750" indent="-285750">
              <a:buFont typeface="Arial" panose="020B0604020202020204" pitchFamily="34" charset="0"/>
              <a:buChar char="•"/>
            </a:pPr>
            <a:r>
              <a:rPr lang="es-EC" sz="2400" dirty="0"/>
              <a:t>Puede ser tan dinámico como se requiera</a:t>
            </a:r>
          </a:p>
          <a:p>
            <a:pPr marL="285750" indent="-285750">
              <a:buFont typeface="Arial" panose="020B0604020202020204" pitchFamily="34" charset="0"/>
              <a:buChar char="•"/>
            </a:pPr>
            <a:r>
              <a:rPr lang="es-EC" sz="2400" dirty="0"/>
              <a:t>Se puede definir a cualquier nivel de la organización </a:t>
            </a:r>
          </a:p>
        </p:txBody>
      </p:sp>
      <p:sp>
        <p:nvSpPr>
          <p:cNvPr id="6" name="CuadroTexto 5">
            <a:extLst>
              <a:ext uri="{FF2B5EF4-FFF2-40B4-BE49-F238E27FC236}">
                <a16:creationId xmlns:a16="http://schemas.microsoft.com/office/drawing/2014/main" id="{814B8529-6958-4D66-9BE2-424A8D8400C6}"/>
              </a:ext>
            </a:extLst>
          </p:cNvPr>
          <p:cNvSpPr txBox="1"/>
          <p:nvPr/>
        </p:nvSpPr>
        <p:spPr>
          <a:xfrm>
            <a:off x="2475207" y="5246122"/>
            <a:ext cx="2871684" cy="584775"/>
          </a:xfrm>
          <a:prstGeom prst="rect">
            <a:avLst/>
          </a:prstGeom>
          <a:noFill/>
        </p:spPr>
        <p:txBody>
          <a:bodyPr wrap="none" rtlCol="0">
            <a:spAutoFit/>
          </a:bodyPr>
          <a:lstStyle/>
          <a:p>
            <a:r>
              <a:rPr lang="es-EC" sz="3200" dirty="0"/>
              <a:t>Cadena de valor</a:t>
            </a:r>
          </a:p>
        </p:txBody>
      </p:sp>
    </p:spTree>
    <p:extLst>
      <p:ext uri="{BB962C8B-B14F-4D97-AF65-F5344CB8AC3E}">
        <p14:creationId xmlns:p14="http://schemas.microsoft.com/office/powerpoint/2010/main" val="1859912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Cuatro dimensiones de </a:t>
            </a:r>
            <a:r>
              <a:rPr lang="es-EC" sz="2800" b="1" dirty="0" err="1">
                <a:solidFill>
                  <a:schemeClr val="bg1"/>
                </a:solidFill>
              </a:rPr>
              <a:t>ITIL</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1082040"/>
          </a:xfrm>
        </p:spPr>
        <p:txBody>
          <a:bodyPr>
            <a:normAutofit/>
          </a:bodyPr>
          <a:lstStyle/>
          <a:p>
            <a:pPr marL="0" indent="0">
              <a:buNone/>
            </a:pPr>
            <a:r>
              <a:rPr lang="es-ES" sz="3200" b="1" i="0" dirty="0">
                <a:solidFill>
                  <a:srgbClr val="FF0000"/>
                </a:solidFill>
                <a:effectLst/>
                <a:latin typeface="Open Sans" panose="020B0604020202020204" pitchFamily="34" charset="0"/>
              </a:rPr>
              <a:t>4. Flujos de valor y procesos.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
        <p:nvSpPr>
          <p:cNvPr id="5" name="CuadroTexto 4">
            <a:extLst>
              <a:ext uri="{FF2B5EF4-FFF2-40B4-BE49-F238E27FC236}">
                <a16:creationId xmlns:a16="http://schemas.microsoft.com/office/drawing/2014/main" id="{0621BD75-C2E2-40EF-B062-416E4FCBAC95}"/>
              </a:ext>
            </a:extLst>
          </p:cNvPr>
          <p:cNvSpPr txBox="1"/>
          <p:nvPr/>
        </p:nvSpPr>
        <p:spPr>
          <a:xfrm>
            <a:off x="6628575" y="2306471"/>
            <a:ext cx="4725225" cy="3477875"/>
          </a:xfrm>
          <a:prstGeom prst="rect">
            <a:avLst/>
          </a:prstGeom>
          <a:noFill/>
        </p:spPr>
        <p:txBody>
          <a:bodyPr wrap="square" rtlCol="0">
            <a:spAutoFit/>
          </a:bodyPr>
          <a:lstStyle/>
          <a:p>
            <a:r>
              <a:rPr lang="es-EC" sz="2000" b="1" dirty="0"/>
              <a:t>Proceso  </a:t>
            </a:r>
          </a:p>
          <a:p>
            <a:r>
              <a:rPr lang="es-EC" sz="2000" dirty="0"/>
              <a:t>Es un conjunto estructurado de actividades que transforman entradas en sus correspondientes salidas</a:t>
            </a:r>
          </a:p>
          <a:p>
            <a:r>
              <a:rPr lang="es-EC" sz="2000" dirty="0"/>
              <a:t>Contiene actividades, procedimientos y flujos de tareas especificas. </a:t>
            </a:r>
          </a:p>
          <a:p>
            <a:r>
              <a:rPr lang="es-EC" sz="2000" dirty="0"/>
              <a:t>Características</a:t>
            </a:r>
          </a:p>
          <a:p>
            <a:pPr marL="342900" indent="-342900">
              <a:buFont typeface="Arial" panose="020B0604020202020204" pitchFamily="34" charset="0"/>
              <a:buChar char="•"/>
            </a:pPr>
            <a:r>
              <a:rPr lang="es-EC" sz="2000" dirty="0"/>
              <a:t>Son medibles</a:t>
            </a:r>
          </a:p>
          <a:p>
            <a:pPr marL="342900" indent="-342900">
              <a:buFont typeface="Arial" panose="020B0604020202020204" pitchFamily="34" charset="0"/>
              <a:buChar char="•"/>
            </a:pPr>
            <a:r>
              <a:rPr lang="es-EC" sz="2000" dirty="0"/>
              <a:t>Entregan resultados de valor específicos</a:t>
            </a:r>
          </a:p>
          <a:p>
            <a:pPr marL="342900" indent="-342900">
              <a:buFont typeface="Arial" panose="020B0604020202020204" pitchFamily="34" charset="0"/>
              <a:buChar char="•"/>
            </a:pPr>
            <a:r>
              <a:rPr lang="es-EC" sz="2000" dirty="0"/>
              <a:t>Debe tener un dueño  o responsable</a:t>
            </a:r>
          </a:p>
          <a:p>
            <a:pPr marL="342900" indent="-342900">
              <a:buFont typeface="Arial" panose="020B0604020202020204" pitchFamily="34" charset="0"/>
              <a:buChar char="•"/>
            </a:pPr>
            <a:r>
              <a:rPr lang="es-EC" sz="2000" dirty="0"/>
              <a:t>Responden a un detonante </a:t>
            </a:r>
          </a:p>
        </p:txBody>
      </p:sp>
      <p:pic>
        <p:nvPicPr>
          <p:cNvPr id="10" name="Imagen 9">
            <a:extLst>
              <a:ext uri="{FF2B5EF4-FFF2-40B4-BE49-F238E27FC236}">
                <a16:creationId xmlns:a16="http://schemas.microsoft.com/office/drawing/2014/main" id="{468D3BE5-21EF-4A61-8AF4-5DCC7366792A}"/>
              </a:ext>
            </a:extLst>
          </p:cNvPr>
          <p:cNvPicPr>
            <a:picLocks noChangeAspect="1"/>
          </p:cNvPicPr>
          <p:nvPr/>
        </p:nvPicPr>
        <p:blipFill>
          <a:blip r:embed="rId2"/>
          <a:stretch>
            <a:fillRect/>
          </a:stretch>
        </p:blipFill>
        <p:spPr>
          <a:xfrm>
            <a:off x="1627949" y="3552233"/>
            <a:ext cx="5000625" cy="1866900"/>
          </a:xfrm>
          <a:prstGeom prst="rect">
            <a:avLst/>
          </a:prstGeom>
        </p:spPr>
      </p:pic>
    </p:spTree>
    <p:extLst>
      <p:ext uri="{BB962C8B-B14F-4D97-AF65-F5344CB8AC3E}">
        <p14:creationId xmlns:p14="http://schemas.microsoft.com/office/powerpoint/2010/main" val="3923740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Cuatro dimensiones de </a:t>
            </a:r>
            <a:r>
              <a:rPr lang="es-EC" sz="2800" b="1" dirty="0" err="1">
                <a:solidFill>
                  <a:schemeClr val="bg1"/>
                </a:solidFill>
              </a:rPr>
              <a:t>ITIL</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1082040"/>
          </a:xfrm>
        </p:spPr>
        <p:txBody>
          <a:bodyPr>
            <a:normAutofit/>
          </a:bodyPr>
          <a:lstStyle/>
          <a:p>
            <a:r>
              <a:rPr lang="es-ES" sz="3200" b="1" i="0" dirty="0">
                <a:solidFill>
                  <a:srgbClr val="FF0000"/>
                </a:solidFill>
                <a:effectLst/>
                <a:latin typeface="Open Sans" panose="020B0604020202020204" pitchFamily="34" charset="0"/>
              </a:rPr>
              <a:t>Factores externos.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
        <p:nvSpPr>
          <p:cNvPr id="5" name="CuadroTexto 4">
            <a:extLst>
              <a:ext uri="{FF2B5EF4-FFF2-40B4-BE49-F238E27FC236}">
                <a16:creationId xmlns:a16="http://schemas.microsoft.com/office/drawing/2014/main" id="{0621BD75-C2E2-40EF-B062-416E4FCBAC95}"/>
              </a:ext>
            </a:extLst>
          </p:cNvPr>
          <p:cNvSpPr txBox="1"/>
          <p:nvPr/>
        </p:nvSpPr>
        <p:spPr>
          <a:xfrm>
            <a:off x="6514681" y="1747650"/>
            <a:ext cx="5332762" cy="4832092"/>
          </a:xfrm>
          <a:prstGeom prst="rect">
            <a:avLst/>
          </a:prstGeom>
          <a:noFill/>
        </p:spPr>
        <p:txBody>
          <a:bodyPr wrap="square" rtlCol="0">
            <a:spAutoFit/>
          </a:bodyPr>
          <a:lstStyle/>
          <a:p>
            <a:r>
              <a:rPr lang="es-EC" sz="2200" dirty="0"/>
              <a:t>Condiciones del entorno que pueden afectar de manera positiva o negativa las operaciones y los resultados de una organización;</a:t>
            </a:r>
          </a:p>
          <a:p>
            <a:r>
              <a:rPr lang="es-EC" sz="2200" dirty="0"/>
              <a:t>Es necesario considerar de manera estratégica estos factores, antes, durante y después de la entrega de un servicio.</a:t>
            </a:r>
          </a:p>
          <a:p>
            <a:r>
              <a:rPr lang="es-EC" sz="2200" dirty="0"/>
              <a:t>Estos factores son manejados se gestionan con la técnica </a:t>
            </a:r>
            <a:r>
              <a:rPr lang="es-EC" sz="2200" dirty="0" err="1"/>
              <a:t>PESTLE</a:t>
            </a:r>
            <a:r>
              <a:rPr lang="es-EC" sz="2200" dirty="0"/>
              <a:t>.</a:t>
            </a:r>
          </a:p>
          <a:p>
            <a:r>
              <a:rPr lang="es-EC" sz="2200" dirty="0"/>
              <a:t>Las principales características de los factores externos son:</a:t>
            </a:r>
          </a:p>
          <a:p>
            <a:pPr marL="342900" indent="-342900">
              <a:buFont typeface="Arial" panose="020B0604020202020204" pitchFamily="34" charset="0"/>
              <a:buChar char="•"/>
            </a:pPr>
            <a:r>
              <a:rPr lang="es-EC" sz="2200" dirty="0"/>
              <a:t>Siempre están presentes</a:t>
            </a:r>
          </a:p>
          <a:p>
            <a:pPr marL="342900" indent="-342900">
              <a:buFont typeface="Arial" panose="020B0604020202020204" pitchFamily="34" charset="0"/>
              <a:buChar char="•"/>
            </a:pPr>
            <a:r>
              <a:rPr lang="es-EC" sz="2200" dirty="0"/>
              <a:t>Son impredecibles</a:t>
            </a:r>
          </a:p>
          <a:p>
            <a:pPr marL="342900" indent="-342900">
              <a:buFont typeface="Arial" panose="020B0604020202020204" pitchFamily="34" charset="0"/>
              <a:buChar char="•"/>
            </a:pPr>
            <a:r>
              <a:rPr lang="es-EC" sz="2200" dirty="0"/>
              <a:t>Son factores de éxito o de obstáculo</a:t>
            </a:r>
          </a:p>
        </p:txBody>
      </p:sp>
      <p:pic>
        <p:nvPicPr>
          <p:cNvPr id="4" name="Imagen 3">
            <a:extLst>
              <a:ext uri="{FF2B5EF4-FFF2-40B4-BE49-F238E27FC236}">
                <a16:creationId xmlns:a16="http://schemas.microsoft.com/office/drawing/2014/main" id="{4A498589-8F7D-414C-90ED-1AF9964DFB69}"/>
              </a:ext>
            </a:extLst>
          </p:cNvPr>
          <p:cNvPicPr>
            <a:picLocks noChangeAspect="1"/>
          </p:cNvPicPr>
          <p:nvPr/>
        </p:nvPicPr>
        <p:blipFill>
          <a:blip r:embed="rId2"/>
          <a:stretch>
            <a:fillRect/>
          </a:stretch>
        </p:blipFill>
        <p:spPr>
          <a:xfrm>
            <a:off x="1166603" y="2488696"/>
            <a:ext cx="5019675" cy="3295650"/>
          </a:xfrm>
          <a:prstGeom prst="rect">
            <a:avLst/>
          </a:prstGeom>
        </p:spPr>
      </p:pic>
    </p:spTree>
    <p:extLst>
      <p:ext uri="{BB962C8B-B14F-4D97-AF65-F5344CB8AC3E}">
        <p14:creationId xmlns:p14="http://schemas.microsoft.com/office/powerpoint/2010/main" val="1632717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a evaluación del aprendizaje ante el actual escenario educativo a causa de  la pandemia - CETYS">
            <a:extLst>
              <a:ext uri="{FF2B5EF4-FFF2-40B4-BE49-F238E27FC236}">
                <a16:creationId xmlns:a16="http://schemas.microsoft.com/office/drawing/2014/main" id="{F5A5F19C-503B-45B1-A71D-9FFA416B0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6521" y="1186484"/>
            <a:ext cx="7726018" cy="5544554"/>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Cuatro dimensiones de </a:t>
            </a:r>
            <a:r>
              <a:rPr lang="es-EC" sz="2800" b="1" dirty="0" err="1">
                <a:solidFill>
                  <a:schemeClr val="bg1"/>
                </a:solidFill>
              </a:rPr>
              <a:t>ITIL</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333383" cy="4443979"/>
          </a:xfrm>
        </p:spPr>
        <p:txBody>
          <a:bodyPr>
            <a:normAutofit/>
          </a:bodyPr>
          <a:lstStyle/>
          <a:p>
            <a:pPr marL="0" indent="0">
              <a:buNone/>
            </a:pPr>
            <a:r>
              <a:rPr lang="es-ES" sz="3200" b="1">
                <a:solidFill>
                  <a:srgbClr val="FF0000"/>
                </a:solidFill>
                <a:latin typeface="Open Sans" panose="020B0604020202020204" pitchFamily="34" charset="0"/>
              </a:rPr>
              <a:t>AUTO-APRENDIZAJE</a:t>
            </a:r>
            <a:endParaRPr lang="es-ES" sz="3200" i="0" dirty="0">
              <a:effectLst/>
            </a:endParaRPr>
          </a:p>
        </p:txBody>
      </p:sp>
    </p:spTree>
    <p:extLst>
      <p:ext uri="{BB962C8B-B14F-4D97-AF65-F5344CB8AC3E}">
        <p14:creationId xmlns:p14="http://schemas.microsoft.com/office/powerpoint/2010/main" val="108761854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514</TotalTime>
  <Words>1006</Words>
  <Application>Microsoft Office PowerPoint</Application>
  <PresentationFormat>Panorámica</PresentationFormat>
  <Paragraphs>126</Paragraphs>
  <Slides>15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Arial</vt:lpstr>
      <vt:lpstr>Calibri</vt:lpstr>
      <vt:lpstr>Calibri Light</vt:lpstr>
      <vt:lpstr>Open Sans</vt:lpstr>
      <vt:lpstr>Tema de Office</vt:lpstr>
      <vt:lpstr>ITIL 4</vt:lpstr>
      <vt:lpstr>Cuatro dimensiones de ITIL Fundamentos de ITIL 4</vt:lpstr>
      <vt:lpstr>Cuatro dimensiones de ITIL Fundamentos de ITIL 4</vt:lpstr>
      <vt:lpstr>Cuatro dimensiones de ITIL Fundamentos de ITIL 4</vt:lpstr>
      <vt:lpstr>Cuatro dimensiones de ITIL Fundamentos de ITIL 4</vt:lpstr>
      <vt:lpstr>Cuatro dimensiones de ITIL Fundamentos de ITIL 4</vt:lpstr>
      <vt:lpstr>Cuatro dimensiones de ITIL Fundamentos de ITIL 4</vt:lpstr>
      <vt:lpstr>Cuatro dimensiones de ITIL Fundamentos de ITIL 4</vt:lpstr>
      <vt:lpstr>Cuatro dimensiones de ITIL Fundamentos de ITIL 4</vt:lpstr>
      <vt:lpstr>Cuatro dimensiones de ITIL Fundamentos de ITIL 4</vt:lpstr>
      <vt:lpstr>Cuatro dimensiones de ITIL Fundamentos de ITIL 4</vt:lpstr>
      <vt:lpstr>Cuatro dimensiones de ITIL Fundamentos de ITIL 4</vt:lpstr>
      <vt:lpstr>Cuatro dimensiones de ITIL Fundamentos de ITIL 4</vt:lpstr>
      <vt:lpstr>Cuatro dimensiones de ITIL Fundamentos de ITIL 4</vt:lpstr>
      <vt:lpstr>Cuatro dimensiones de ITIL Fundamentos de ITIL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ITIL 4</dc:title>
  <dc:creator>CarlosReyes</dc:creator>
  <cp:lastModifiedBy>CarlosReyes</cp:lastModifiedBy>
  <cp:revision>16</cp:revision>
  <dcterms:created xsi:type="dcterms:W3CDTF">2021-07-05T19:14:40Z</dcterms:created>
  <dcterms:modified xsi:type="dcterms:W3CDTF">2021-07-16T14:37:44Z</dcterms:modified>
</cp:coreProperties>
</file>