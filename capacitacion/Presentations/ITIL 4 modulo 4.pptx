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8" r:id="rId3"/>
    <p:sldId id="270" r:id="rId4"/>
    <p:sldId id="271" r:id="rId5"/>
    <p:sldId id="272" r:id="rId6"/>
    <p:sldId id="273" r:id="rId7"/>
    <p:sldId id="274" r:id="rId8"/>
    <p:sldId id="275" r:id="rId9"/>
    <p:sldId id="276" r:id="rId10"/>
    <p:sldId id="277" r:id="rId11"/>
    <p:sldId id="278" r:id="rId12"/>
    <p:sldId id="279" r:id="rId13"/>
    <p:sldId id="280" r:id="rId14"/>
    <p:sldId id="281" r:id="rId15"/>
    <p:sldId id="287" r:id="rId16"/>
    <p:sldId id="282" r:id="rId17"/>
    <p:sldId id="283" r:id="rId18"/>
    <p:sldId id="284" r:id="rId19"/>
    <p:sldId id="285" r:id="rId20"/>
    <p:sldId id="286" r:id="rId21"/>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7CB9E7-F47C-4C2C-935C-C7A983D49E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5349D2CC-C9EC-49CE-A3FF-2A97EA2E7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56E802FF-708F-4712-9CF7-51CBE8BCD354}"/>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040AE5CE-685E-4CD0-AFD4-BB36B7B2204B}"/>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DA8CBF3-6FD9-49BC-B965-8119749698F5}"/>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2751629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CCFFD8-3D3B-4074-AA9B-157A60FA51FE}"/>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834C80F7-27F9-4CEB-9AE7-033455B2AD1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E48F2C41-6B0B-42BB-96A3-A6B17129187B}"/>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16146774-5D8E-4404-8181-C94C885134F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E186716-2F22-418A-A43D-53B2D236E038}"/>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342103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C5D279-752F-495A-B12F-8FC7E7B1C38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E050BD49-FE96-4AE8-BAD4-0F1A2EE891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9F51AEB-4D6C-4BE2-B590-A249753C34EE}"/>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6DB249E0-40B9-4B70-AA0C-DD5AA2B333E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CA95261-6F68-4184-BF8D-7309F2DE738C}"/>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27328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EBABC-D89F-46F3-A55D-8AA50A9F9C9E}"/>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80F1884-84A9-4851-943C-3082653CB6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B1739D5A-9B0D-4F22-ABEA-A10F901EEA9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96FB9992-5236-423E-9E60-865075F7E945}"/>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6" name="Marcador de pie de página 5">
            <a:extLst>
              <a:ext uri="{FF2B5EF4-FFF2-40B4-BE49-F238E27FC236}">
                <a16:creationId xmlns:a16="http://schemas.microsoft.com/office/drawing/2014/main" id="{641ED8EE-A184-4776-A2EF-043CE40AB0DB}"/>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599751C0-DBF0-487F-859E-FEFE59C7585D}"/>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301236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FEA814-BFF7-4B81-A160-C4AFD077963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74BFEE7D-9BC7-448E-B5FD-7DAC1B48CD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7CB2E66-D674-4D00-8E44-42AE0C6D4AE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2860E015-9409-47AE-B789-E14C6ED6A4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DA66490-F1DB-4F02-B98A-7B0B628FA19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AC0557AF-582C-42C2-95D7-053A9E70BEE0}"/>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8" name="Marcador de pie de página 7">
            <a:extLst>
              <a:ext uri="{FF2B5EF4-FFF2-40B4-BE49-F238E27FC236}">
                <a16:creationId xmlns:a16="http://schemas.microsoft.com/office/drawing/2014/main" id="{2073EEDB-9461-4E48-BF56-C4F9731315DF}"/>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8927856-BBFE-41DA-BE03-8B81CA2C2BAE}"/>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4065558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5352E2-8274-4628-A344-46C70FC19B82}"/>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FF460657-9A7E-47B6-9E6B-3979383983B8}"/>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4" name="Marcador de pie de página 3">
            <a:extLst>
              <a:ext uri="{FF2B5EF4-FFF2-40B4-BE49-F238E27FC236}">
                <a16:creationId xmlns:a16="http://schemas.microsoft.com/office/drawing/2014/main" id="{F76BB5AD-C74E-43FB-AA2B-B1C695855078}"/>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6ADE414C-2F4F-478A-8A6E-0A43D7B417CC}"/>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2271168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1319A75-5ABA-4001-81DB-301A6166EC86}"/>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3" name="Marcador de pie de página 2">
            <a:extLst>
              <a:ext uri="{FF2B5EF4-FFF2-40B4-BE49-F238E27FC236}">
                <a16:creationId xmlns:a16="http://schemas.microsoft.com/office/drawing/2014/main" id="{3C11A4A3-8B61-4CDB-BFB3-8E8DEBDD5C19}"/>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ED5AF61F-F8DC-4ECF-B6F9-23540B66B7A0}"/>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1732986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28ED72-4D6D-42A9-9B46-BE6CE4F954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252AF504-0C9C-4A13-B36A-ADBA367D56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256B6459-D1C1-4088-8E39-EE51C49B24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66B5F9-9AFC-4F8F-A5FC-E6D5B2726F11}"/>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6" name="Marcador de pie de página 5">
            <a:extLst>
              <a:ext uri="{FF2B5EF4-FFF2-40B4-BE49-F238E27FC236}">
                <a16:creationId xmlns:a16="http://schemas.microsoft.com/office/drawing/2014/main" id="{6454D836-E87E-4DBE-9B02-0DD8BBDCAE07}"/>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84AA0AB2-16F3-407A-8B8D-B48BD2D67E3D}"/>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1578114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7452D-D064-4BDC-A4F1-58920DD2228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A0DC589F-12C9-4C08-A65B-9932BE71B8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4648A8CA-3C94-476C-9C1E-A2C700DD5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D5FCC71-8DB0-4B2B-AD81-C4EAC61262FD}"/>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6" name="Marcador de pie de página 5">
            <a:extLst>
              <a:ext uri="{FF2B5EF4-FFF2-40B4-BE49-F238E27FC236}">
                <a16:creationId xmlns:a16="http://schemas.microsoft.com/office/drawing/2014/main" id="{B0562ED5-D249-4C2B-966D-69432C9B95D8}"/>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66B91612-9D0E-433F-9AEF-367BDF54E578}"/>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46781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213BBE-4B11-4923-A575-CC07CADA9D1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D101B5F9-9E71-47E3-869E-3F3BF8013E6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2F4AEBB-C703-4281-A5B6-5BF14E0C2840}"/>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75EFBFEF-F621-421E-998E-68BC04758E4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BFCAB3F-CAAC-458B-A64D-E682BA0A2D0C}"/>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354115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9902AD7-9077-41A4-867D-8B24E151325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750BDA4D-48DA-4742-8021-25EADA8EFC9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A8E9BC1-5C95-4B76-9C47-31DA94B7ED19}"/>
              </a:ext>
            </a:extLst>
          </p:cNvPr>
          <p:cNvSpPr>
            <a:spLocks noGrp="1"/>
          </p:cNvSpPr>
          <p:nvPr>
            <p:ph type="dt" sz="half" idx="10"/>
          </p:nvPr>
        </p:nvSpPr>
        <p:spPr/>
        <p:txBody>
          <a:body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FB2D4D77-9B61-4183-B3B8-ADA58D94EAD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C9FF0E4-E51D-4F7E-8E4A-4F86D4FF343C}"/>
              </a:ext>
            </a:extLst>
          </p:cNvPr>
          <p:cNvSpPr>
            <a:spLocks noGrp="1"/>
          </p:cNvSpPr>
          <p:nvPr>
            <p:ph type="sldNum" sz="quarter" idx="12"/>
          </p:nvPr>
        </p:nvSpPr>
        <p:spPr/>
        <p:txBody>
          <a:bodyPr/>
          <a:lstStyle/>
          <a:p>
            <a:fld id="{CD654F66-B501-4D0D-ADED-254A0F8C42C8}" type="slidenum">
              <a:rPr lang="es-EC" smtClean="0"/>
              <a:t>‹Nº›</a:t>
            </a:fld>
            <a:endParaRPr lang="es-EC"/>
          </a:p>
        </p:txBody>
      </p:sp>
    </p:spTree>
    <p:extLst>
      <p:ext uri="{BB962C8B-B14F-4D97-AF65-F5344CB8AC3E}">
        <p14:creationId xmlns:p14="http://schemas.microsoft.com/office/powerpoint/2010/main" val="1106358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38DAED3-F155-4E43-A60A-5DFC4C939B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FE93C48E-47A3-4C86-A76B-30A7BEA8FB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C7DE37B-04F1-451F-AF44-278356619E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D3E312-9396-4DD6-8700-98E622216B86}" type="datetimeFigureOut">
              <a:rPr lang="es-EC" smtClean="0"/>
              <a:t>16/7/2021</a:t>
            </a:fld>
            <a:endParaRPr lang="es-EC"/>
          </a:p>
        </p:txBody>
      </p:sp>
      <p:sp>
        <p:nvSpPr>
          <p:cNvPr id="5" name="Marcador de pie de página 4">
            <a:extLst>
              <a:ext uri="{FF2B5EF4-FFF2-40B4-BE49-F238E27FC236}">
                <a16:creationId xmlns:a16="http://schemas.microsoft.com/office/drawing/2014/main" id="{C5EE278F-4E3A-4F1C-B519-A317F05B9C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1F31F4F7-8F81-412F-94E4-83BD8A5A62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654F66-B501-4D0D-ADED-254A0F8C42C8}" type="slidenum">
              <a:rPr lang="es-EC" smtClean="0"/>
              <a:t>‹Nº›</a:t>
            </a:fld>
            <a:endParaRPr lang="es-EC"/>
          </a:p>
        </p:txBody>
      </p:sp>
    </p:spTree>
    <p:extLst>
      <p:ext uri="{BB962C8B-B14F-4D97-AF65-F5344CB8AC3E}">
        <p14:creationId xmlns:p14="http://schemas.microsoft.com/office/powerpoint/2010/main" val="1590587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lnSpcReduction="10000"/>
          </a:bodyPr>
          <a:lstStyle/>
          <a:p>
            <a:pPr marL="0" indent="0">
              <a:buNone/>
            </a:pPr>
            <a:r>
              <a:rPr lang="es-EC" sz="3600" b="1" dirty="0">
                <a:solidFill>
                  <a:srgbClr val="FF0000"/>
                </a:solidFill>
              </a:rPr>
              <a:t>El Sistema de valor del Servicio (</a:t>
            </a:r>
            <a:r>
              <a:rPr lang="es-EC" sz="3600" b="1" dirty="0" err="1">
                <a:solidFill>
                  <a:srgbClr val="FF0000"/>
                </a:solidFill>
              </a:rPr>
              <a:t>SVS</a:t>
            </a:r>
            <a:r>
              <a:rPr lang="es-EC" sz="3600" b="1" dirty="0">
                <a:solidFill>
                  <a:srgbClr val="FF0000"/>
                </a:solidFill>
              </a:rPr>
              <a:t>)</a:t>
            </a:r>
          </a:p>
          <a:p>
            <a:endParaRPr lang="es-EC" sz="2200" dirty="0"/>
          </a:p>
          <a:p>
            <a:r>
              <a:rPr lang="es-EC" sz="2200" b="1" dirty="0"/>
              <a:t>Visión General</a:t>
            </a:r>
          </a:p>
          <a:p>
            <a:pPr lvl="1"/>
            <a:r>
              <a:rPr lang="es-EC" sz="1800" b="1" dirty="0"/>
              <a:t>Principios Guías</a:t>
            </a:r>
          </a:p>
          <a:p>
            <a:pPr lvl="1"/>
            <a:r>
              <a:rPr lang="es-EC" sz="1800" b="1" dirty="0"/>
              <a:t>Gobernabilidad</a:t>
            </a:r>
          </a:p>
          <a:p>
            <a:pPr lvl="1"/>
            <a:r>
              <a:rPr lang="es-EC" sz="1800" b="1" dirty="0"/>
              <a:t>Cadena de Valor del servicio</a:t>
            </a:r>
          </a:p>
          <a:p>
            <a:pPr lvl="1"/>
            <a:r>
              <a:rPr lang="es-EC" sz="1800" b="1" dirty="0"/>
              <a:t>Mejora Continua</a:t>
            </a:r>
          </a:p>
          <a:p>
            <a:pPr lvl="1"/>
            <a:r>
              <a:rPr lang="es-EC" sz="1800" b="1" dirty="0"/>
              <a:t>Practicas de Gestión </a:t>
            </a:r>
          </a:p>
          <a:p>
            <a:r>
              <a:rPr lang="es-EC" sz="2200" b="1" dirty="0" err="1"/>
              <a:t>ITSM</a:t>
            </a:r>
            <a:r>
              <a:rPr lang="es-EC" sz="2200" b="1" dirty="0"/>
              <a:t> en el mundo actual</a:t>
            </a:r>
          </a:p>
          <a:p>
            <a:endParaRPr lang="es-EC" sz="2200" b="1" dirty="0"/>
          </a:p>
        </p:txBody>
      </p:sp>
      <p:pic>
        <p:nvPicPr>
          <p:cNvPr id="5" name="Imagen 4" descr="Interfaz de usuario gráfica&#10;&#10;Descripción generada automáticamente">
            <a:extLst>
              <a:ext uri="{FF2B5EF4-FFF2-40B4-BE49-F238E27FC236}">
                <a16:creationId xmlns:a16="http://schemas.microsoft.com/office/drawing/2014/main" id="{491FAAA3-FD84-442A-9FAE-28B14D927F60}"/>
              </a:ext>
            </a:extLst>
          </p:cNvPr>
          <p:cNvPicPr>
            <a:picLocks noChangeAspect="1"/>
          </p:cNvPicPr>
          <p:nvPr/>
        </p:nvPicPr>
        <p:blipFill rotWithShape="1">
          <a:blip r:embed="rId2">
            <a:extLst>
              <a:ext uri="{28A0092B-C50C-407E-A947-70E740481C1C}">
                <a14:useLocalDpi xmlns:a14="http://schemas.microsoft.com/office/drawing/2010/main" val="0"/>
              </a:ext>
            </a:extLst>
          </a:blip>
          <a:srcRect l="11866" r="4199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8502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2204361"/>
          </a:xfrm>
        </p:spPr>
        <p:txBody>
          <a:bodyPr>
            <a:normAutofit/>
          </a:bodyPr>
          <a:lstStyle/>
          <a:p>
            <a:r>
              <a:rPr lang="es-ES" sz="3200" b="1" i="0" dirty="0">
                <a:solidFill>
                  <a:srgbClr val="FF0000"/>
                </a:solidFill>
                <a:effectLst/>
                <a:latin typeface="Open Sans" panose="020B0604020202020204" pitchFamily="34" charset="0"/>
              </a:rPr>
              <a:t>Visión General</a:t>
            </a:r>
          </a:p>
          <a:p>
            <a:endParaRPr lang="es-ES" sz="2400" b="1" i="0" dirty="0">
              <a:solidFill>
                <a:srgbClr val="FF0000"/>
              </a:solidFill>
              <a:effectLst/>
              <a:latin typeface="Open Sans" panose="020B0604020202020204" pitchFamily="34" charset="0"/>
            </a:endParaRPr>
          </a:p>
          <a:p>
            <a:pPr marL="457200" lvl="1" indent="0" algn="just">
              <a:buNone/>
            </a:pPr>
            <a:r>
              <a:rPr lang="es-EC" dirty="0"/>
              <a:t>El Sistema de Valor del Servicio (</a:t>
            </a:r>
            <a:r>
              <a:rPr lang="es-EC" dirty="0" err="1"/>
              <a:t>SVS</a:t>
            </a:r>
            <a:r>
              <a:rPr lang="es-EC" dirty="0"/>
              <a:t>) es un conjunto de cinco actividades interconectadas que se inician cuando una empresa tiene una oportunidad de negocios o requiere de un servicio y concluye con la generación de valor.</a:t>
            </a: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5A9E86F9-CF15-4B5C-A353-BD0F344ADBCF}"/>
              </a:ext>
            </a:extLst>
          </p:cNvPr>
          <p:cNvPicPr>
            <a:picLocks noChangeAspect="1"/>
          </p:cNvPicPr>
          <p:nvPr/>
        </p:nvPicPr>
        <p:blipFill>
          <a:blip r:embed="rId2"/>
          <a:stretch>
            <a:fillRect/>
          </a:stretch>
        </p:blipFill>
        <p:spPr>
          <a:xfrm>
            <a:off x="2663688" y="3538330"/>
            <a:ext cx="6399183" cy="3205572"/>
          </a:xfrm>
          <a:prstGeom prst="rect">
            <a:avLst/>
          </a:prstGeom>
        </p:spPr>
      </p:pic>
    </p:spTree>
    <p:extLst>
      <p:ext uri="{BB962C8B-B14F-4D97-AF65-F5344CB8AC3E}">
        <p14:creationId xmlns:p14="http://schemas.microsoft.com/office/powerpoint/2010/main" val="329330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3675352"/>
          </a:xfrm>
        </p:spPr>
        <p:txBody>
          <a:bodyPr>
            <a:normAutofit/>
          </a:bodyPr>
          <a:lstStyle/>
          <a:p>
            <a:r>
              <a:rPr lang="es-ES" sz="3200" b="1" i="0" dirty="0">
                <a:solidFill>
                  <a:srgbClr val="FF0000"/>
                </a:solidFill>
                <a:effectLst/>
                <a:latin typeface="Open Sans" panose="020B0604020202020204" pitchFamily="34" charset="0"/>
              </a:rPr>
              <a:t>Visión General</a:t>
            </a:r>
          </a:p>
          <a:p>
            <a:endParaRPr lang="es-ES" sz="2400" b="1" i="0" dirty="0">
              <a:solidFill>
                <a:srgbClr val="FF0000"/>
              </a:solidFill>
              <a:effectLst/>
              <a:latin typeface="Open Sans" panose="020B0604020202020204" pitchFamily="34" charset="0"/>
            </a:endParaRPr>
          </a:p>
          <a:p>
            <a:pPr marL="457200" lvl="1" indent="0" algn="just">
              <a:buNone/>
            </a:pPr>
            <a:r>
              <a:rPr lang="es-EC" dirty="0"/>
              <a:t>El Sistema de Valor del Servicio (</a:t>
            </a:r>
            <a:r>
              <a:rPr lang="es-EC" dirty="0" err="1"/>
              <a:t>SVS</a:t>
            </a:r>
            <a:r>
              <a:rPr lang="es-EC" dirty="0"/>
              <a:t>) tiene dos objetivos principales:</a:t>
            </a:r>
          </a:p>
          <a:p>
            <a:pPr lvl="1" algn="just"/>
            <a:r>
              <a:rPr lang="es-EC" dirty="0">
                <a:solidFill>
                  <a:srgbClr val="FF0000"/>
                </a:solidFill>
              </a:rPr>
              <a:t>Promueve la flexibilidad .- </a:t>
            </a:r>
            <a:r>
              <a:rPr lang="es-EC" dirty="0"/>
              <a:t>los elementos del </a:t>
            </a:r>
            <a:r>
              <a:rPr lang="es-EC" dirty="0" err="1"/>
              <a:t>SVS</a:t>
            </a:r>
            <a:r>
              <a:rPr lang="es-EC" dirty="0"/>
              <a:t> no forman una estructura rígida y se combinan para crear flujos de valor</a:t>
            </a:r>
          </a:p>
          <a:p>
            <a:pPr lvl="1" algn="just"/>
            <a:r>
              <a:rPr lang="es-EC" dirty="0">
                <a:solidFill>
                  <a:srgbClr val="FF0000"/>
                </a:solidFill>
              </a:rPr>
              <a:t>Promueve la colaboración .- </a:t>
            </a:r>
            <a:r>
              <a:rPr lang="es-EC" dirty="0"/>
              <a:t>intenta eliminar los grupos aislados dentro de la organización eliminando bloqueo de información, trabajos independientes, agendas ocultas, etc.</a:t>
            </a: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4396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r>
              <a:rPr lang="es-ES" sz="3200" b="1" i="0" dirty="0">
                <a:solidFill>
                  <a:srgbClr val="FF0000"/>
                </a:solidFill>
                <a:effectLst/>
                <a:latin typeface="Open Sans" panose="020B0604020202020204" pitchFamily="34" charset="0"/>
              </a:rPr>
              <a:t>Visión General</a:t>
            </a:r>
          </a:p>
          <a:p>
            <a:endParaRPr lang="es-ES" sz="2400" b="1" i="0" dirty="0">
              <a:solidFill>
                <a:srgbClr val="FF0000"/>
              </a:solidFill>
              <a:effectLst/>
              <a:latin typeface="Open Sans" panose="020B0604020202020204" pitchFamily="34" charset="0"/>
            </a:endParaRPr>
          </a:p>
          <a:p>
            <a:pPr marL="457200" lvl="1" indent="0" algn="just">
              <a:buNone/>
            </a:pPr>
            <a:r>
              <a:rPr lang="es-EC" sz="2800" b="1" dirty="0"/>
              <a:t>Oportunidad, demanda y valor</a:t>
            </a:r>
          </a:p>
          <a:p>
            <a:pPr marL="457200" lvl="1" indent="0" algn="just">
              <a:buNone/>
            </a:pPr>
            <a:r>
              <a:rPr lang="es-EC" sz="2800" dirty="0">
                <a:solidFill>
                  <a:srgbClr val="FF0000"/>
                </a:solidFill>
              </a:rPr>
              <a:t>De donde surge la oportunidad de un negocio?</a:t>
            </a:r>
          </a:p>
          <a:p>
            <a:pPr lvl="1"/>
            <a:r>
              <a:rPr lang="es-EC" dirty="0"/>
              <a:t>Surge de las necesidades de un cliente.- solicitud de un cliente para resolver una problemática especifica </a:t>
            </a:r>
          </a:p>
          <a:p>
            <a:pPr lvl="1"/>
            <a:r>
              <a:rPr lang="es-EC" dirty="0"/>
              <a:t>Surge de las necesidades creadas por el proveedor.- se da cuando el proveedor crea un servicio que resulta atractivo para un cliente, y este lo adquiere</a:t>
            </a:r>
          </a:p>
          <a:p>
            <a:pPr marL="457200" lvl="1" indent="0">
              <a:buNone/>
            </a:pPr>
            <a:r>
              <a:rPr lang="es-EC" dirty="0"/>
              <a:t>Ambos son entradas del </a:t>
            </a:r>
            <a:r>
              <a:rPr lang="es-EC" dirty="0" err="1"/>
              <a:t>SVS</a:t>
            </a:r>
            <a:r>
              <a:rPr lang="es-EC" dirty="0"/>
              <a:t>, pero la salida es la misma.</a:t>
            </a:r>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36556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1.</a:t>
            </a:r>
            <a:r>
              <a:rPr lang="es-ES" sz="3200" b="1" i="0" dirty="0">
                <a:solidFill>
                  <a:srgbClr val="FF0000"/>
                </a:solidFill>
                <a:effectLst/>
                <a:latin typeface="Open Sans" panose="020B0604020202020204" pitchFamily="34" charset="0"/>
              </a:rPr>
              <a:t> Principios Guías de </a:t>
            </a:r>
            <a:r>
              <a:rPr lang="es-ES" sz="3200" b="1" i="0" dirty="0" err="1">
                <a:solidFill>
                  <a:srgbClr val="FF0000"/>
                </a:solidFill>
                <a:effectLst/>
                <a:latin typeface="Open Sans" panose="020B0604020202020204" pitchFamily="34" charset="0"/>
              </a:rPr>
              <a:t>ITIL</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pPr marL="457200" lvl="1" indent="0">
              <a:buNone/>
            </a:pPr>
            <a:r>
              <a:rPr lang="es-EC" dirty="0"/>
              <a:t>Son 7 recomendaciones que orientan a una organización y a todos sus integrantes en diferentes circunstancias. </a:t>
            </a:r>
          </a:p>
          <a:p>
            <a:pPr marL="457200" lvl="1" indent="0">
              <a:buNone/>
            </a:pPr>
            <a:endParaRPr lang="es-EC" dirty="0"/>
          </a:p>
          <a:p>
            <a:pPr marL="457200" lvl="1" indent="0">
              <a:buNone/>
            </a:pPr>
            <a:r>
              <a:rPr lang="es-EC" dirty="0"/>
              <a:t>Dicho de otra manera son consejos que permiten elegir las mejores acciones y tomar buenas decisiones de todo tipo</a:t>
            </a:r>
          </a:p>
          <a:p>
            <a:pPr marL="457200" lvl="1" indent="0">
              <a:buNone/>
            </a:pPr>
            <a:endParaRPr lang="es-EC" dirty="0"/>
          </a:p>
          <a:p>
            <a:pPr marL="457200" lvl="1" indent="0">
              <a:buNone/>
            </a:pPr>
            <a:r>
              <a:rPr lang="es-EC" dirty="0"/>
              <a:t>Son universales y perdurables (no se atan a una mitología como Agiles, </a:t>
            </a:r>
            <a:r>
              <a:rPr lang="es-EC" dirty="0" err="1"/>
              <a:t>COBIT</a:t>
            </a:r>
            <a:r>
              <a:rPr lang="es-EC" dirty="0"/>
              <a:t>, etc.)</a:t>
            </a:r>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961422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1.</a:t>
            </a:r>
            <a:r>
              <a:rPr lang="es-ES" sz="3200" b="1" i="0" dirty="0">
                <a:solidFill>
                  <a:srgbClr val="FF0000"/>
                </a:solidFill>
                <a:effectLst/>
                <a:latin typeface="Open Sans" panose="020B0604020202020204" pitchFamily="34" charset="0"/>
              </a:rPr>
              <a:t> Principios Guías de </a:t>
            </a:r>
            <a:r>
              <a:rPr lang="es-ES" sz="3200" b="1" i="0" dirty="0" err="1">
                <a:solidFill>
                  <a:srgbClr val="FF0000"/>
                </a:solidFill>
                <a:effectLst/>
                <a:latin typeface="Open Sans" panose="020B0604020202020204" pitchFamily="34" charset="0"/>
              </a:rPr>
              <a:t>ITIL</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r>
              <a:rPr lang="es-EC" dirty="0">
                <a:solidFill>
                  <a:schemeClr val="bg1"/>
                </a:solidFill>
                <a:highlight>
                  <a:srgbClr val="0000FF"/>
                </a:highlight>
              </a:rPr>
              <a:t>1. Enfoque</a:t>
            </a:r>
            <a:r>
              <a:rPr lang="es-EC" dirty="0">
                <a:highlight>
                  <a:srgbClr val="0000FF"/>
                </a:highlight>
              </a:rPr>
              <a:t> </a:t>
            </a:r>
            <a:r>
              <a:rPr lang="es-EC" dirty="0">
                <a:solidFill>
                  <a:schemeClr val="bg1"/>
                </a:solidFill>
                <a:highlight>
                  <a:srgbClr val="0000FF"/>
                </a:highlight>
              </a:rPr>
              <a:t>en el valor</a:t>
            </a:r>
          </a:p>
          <a:p>
            <a:pPr marL="457200" lvl="1" indent="0">
              <a:buNone/>
            </a:pPr>
            <a:r>
              <a:rPr lang="es-EC" dirty="0"/>
              <a:t>Todo lo realizado por una organización debe enfocarse en generar valor para si mismo, para sus clientes y otros involucrados.</a:t>
            </a:r>
          </a:p>
          <a:p>
            <a:r>
              <a:rPr lang="es-EC" dirty="0">
                <a:solidFill>
                  <a:schemeClr val="bg1"/>
                </a:solidFill>
                <a:highlight>
                  <a:srgbClr val="FF0000"/>
                </a:highlight>
              </a:rPr>
              <a:t>2. Comience donde se encuentre</a:t>
            </a:r>
          </a:p>
          <a:p>
            <a:pPr marL="457200" lvl="1" indent="0">
              <a:buNone/>
            </a:pPr>
            <a:r>
              <a:rPr lang="es-EC" dirty="0"/>
              <a:t>Esto significa que se debe aprovechar los recursos disponibles para lograr el objetivo en lugar de iniciar desde cero. Es decir antes de comenzar una activar revisar lo que ya se encuentra disponible con el objetivo de aprovecharlo.</a:t>
            </a:r>
          </a:p>
          <a:p>
            <a:pPr marL="457200" lvl="1" indent="0">
              <a:buNone/>
            </a:pPr>
            <a:endParaRPr lang="es-EC" dirty="0"/>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504410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1.</a:t>
            </a:r>
            <a:r>
              <a:rPr lang="es-ES" sz="3200" b="1" i="0" dirty="0">
                <a:solidFill>
                  <a:srgbClr val="FF0000"/>
                </a:solidFill>
                <a:effectLst/>
                <a:latin typeface="Open Sans" panose="020B0604020202020204" pitchFamily="34" charset="0"/>
              </a:rPr>
              <a:t> Principios Guías de </a:t>
            </a:r>
            <a:r>
              <a:rPr lang="es-ES" sz="3200" b="1" i="0" dirty="0" err="1">
                <a:solidFill>
                  <a:srgbClr val="FF0000"/>
                </a:solidFill>
                <a:effectLst/>
                <a:latin typeface="Open Sans" panose="020B0604020202020204" pitchFamily="34" charset="0"/>
              </a:rPr>
              <a:t>ITIL</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r>
              <a:rPr lang="es-EC" dirty="0">
                <a:solidFill>
                  <a:schemeClr val="bg1"/>
                </a:solidFill>
                <a:highlight>
                  <a:srgbClr val="800080"/>
                </a:highlight>
              </a:rPr>
              <a:t>3. Proceso iterativo con retroalimentación</a:t>
            </a:r>
          </a:p>
          <a:p>
            <a:pPr marL="457200" lvl="1" indent="0">
              <a:buNone/>
            </a:pPr>
            <a:r>
              <a:rPr lang="es-EC" dirty="0"/>
              <a:t>Todo el trabajo debe poder dividirse y organizarse en secciones pequeñas y manejables que se puedan ejecutar y completar oportunamente. Este concepto es tomado como base de las metodologías Agiles como SCRUM.</a:t>
            </a:r>
          </a:p>
          <a:p>
            <a:r>
              <a:rPr lang="es-EC" dirty="0">
                <a:solidFill>
                  <a:schemeClr val="bg1"/>
                </a:solidFill>
                <a:highlight>
                  <a:srgbClr val="FF0000"/>
                </a:highlight>
              </a:rPr>
              <a:t>4. Colabore y promueva la visibilidad</a:t>
            </a:r>
          </a:p>
          <a:p>
            <a:pPr marL="457200" lvl="1" indent="0">
              <a:buNone/>
            </a:pPr>
            <a:r>
              <a:rPr lang="es-EC" dirty="0" err="1"/>
              <a:t>ITIL</a:t>
            </a:r>
            <a:r>
              <a:rPr lang="es-EC" dirty="0"/>
              <a:t> promueve el trabajo colaborativo con el objetivo de alcanzar los objetivos, para esto se requiere la comprensión del entorno, así como la confianza y colaboración de sus integrantes. Este concepto se toma de la practica DevOps</a:t>
            </a:r>
          </a:p>
          <a:p>
            <a:pPr marL="457200" lvl="1" indent="0">
              <a:buNone/>
            </a:pPr>
            <a:endParaRPr lang="es-EC" dirty="0"/>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29217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1.</a:t>
            </a:r>
            <a:r>
              <a:rPr lang="es-ES" sz="3200" b="1" i="0" dirty="0">
                <a:solidFill>
                  <a:srgbClr val="FF0000"/>
                </a:solidFill>
                <a:effectLst/>
                <a:latin typeface="Open Sans" panose="020B0604020202020204" pitchFamily="34" charset="0"/>
              </a:rPr>
              <a:t> Principios Guías de </a:t>
            </a:r>
            <a:r>
              <a:rPr lang="es-ES" sz="3200" b="1" i="0" dirty="0" err="1">
                <a:solidFill>
                  <a:srgbClr val="FF0000"/>
                </a:solidFill>
                <a:effectLst/>
                <a:latin typeface="Open Sans" panose="020B0604020202020204" pitchFamily="34" charset="0"/>
              </a:rPr>
              <a:t>ITIL</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r>
              <a:rPr lang="es-EC" dirty="0">
                <a:solidFill>
                  <a:schemeClr val="bg1"/>
                </a:solidFill>
                <a:highlight>
                  <a:srgbClr val="800080"/>
                </a:highlight>
              </a:rPr>
              <a:t>5. Piense y trabaje de manera </a:t>
            </a:r>
            <a:r>
              <a:rPr lang="es-EC" dirty="0" err="1">
                <a:solidFill>
                  <a:schemeClr val="bg1"/>
                </a:solidFill>
                <a:highlight>
                  <a:srgbClr val="800080"/>
                </a:highlight>
              </a:rPr>
              <a:t>holisitca</a:t>
            </a:r>
            <a:endParaRPr lang="es-EC" dirty="0">
              <a:solidFill>
                <a:schemeClr val="bg1"/>
              </a:solidFill>
              <a:highlight>
                <a:srgbClr val="800080"/>
              </a:highlight>
            </a:endParaRPr>
          </a:p>
          <a:p>
            <a:pPr marL="457200" lvl="1" indent="0">
              <a:buNone/>
            </a:pPr>
            <a:r>
              <a:rPr lang="es-EC" dirty="0"/>
              <a:t>Todo el trabajo que se genera en una organización no se genera de manera individual, es producto del trabajo colaborativo. Todas las áreas deben estar interconectadas.</a:t>
            </a:r>
          </a:p>
          <a:p>
            <a:r>
              <a:rPr lang="es-EC" dirty="0">
                <a:solidFill>
                  <a:schemeClr val="bg1"/>
                </a:solidFill>
                <a:highlight>
                  <a:srgbClr val="FF0000"/>
                </a:highlight>
              </a:rPr>
              <a:t>6. </a:t>
            </a:r>
            <a:r>
              <a:rPr lang="es-EC" dirty="0" err="1">
                <a:solidFill>
                  <a:schemeClr val="bg1"/>
                </a:solidFill>
                <a:highlight>
                  <a:srgbClr val="FF0000"/>
                </a:highlight>
              </a:rPr>
              <a:t>Mantengalo</a:t>
            </a:r>
            <a:r>
              <a:rPr lang="es-EC" dirty="0">
                <a:solidFill>
                  <a:schemeClr val="bg1"/>
                </a:solidFill>
                <a:highlight>
                  <a:srgbClr val="FF0000"/>
                </a:highlight>
              </a:rPr>
              <a:t> simple y practico </a:t>
            </a:r>
          </a:p>
          <a:p>
            <a:pPr marL="457200" lvl="1" indent="0">
              <a:buNone/>
            </a:pPr>
            <a:r>
              <a:rPr lang="es-EC" dirty="0"/>
              <a:t>Este principio manda que los servicios sean diseñados de la manera mas practica y simple posible. Evitando así la complejidad y mostrando la practicidad sobre todo con la interacción con el cliente.</a:t>
            </a:r>
          </a:p>
          <a:p>
            <a:pPr marL="457200" lvl="1" indent="0">
              <a:buNone/>
            </a:pPr>
            <a:endParaRPr lang="es-EC" dirty="0"/>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23710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1.</a:t>
            </a:r>
            <a:r>
              <a:rPr lang="es-ES" sz="3200" b="1" i="0" dirty="0">
                <a:solidFill>
                  <a:srgbClr val="FF0000"/>
                </a:solidFill>
                <a:effectLst/>
                <a:latin typeface="Open Sans" panose="020B0604020202020204" pitchFamily="34" charset="0"/>
              </a:rPr>
              <a:t> Principios Guías de </a:t>
            </a:r>
            <a:r>
              <a:rPr lang="es-ES" sz="3200" b="1" i="0" dirty="0" err="1">
                <a:solidFill>
                  <a:srgbClr val="FF0000"/>
                </a:solidFill>
                <a:effectLst/>
                <a:latin typeface="Open Sans" panose="020B0604020202020204" pitchFamily="34" charset="0"/>
              </a:rPr>
              <a:t>ITIL</a:t>
            </a:r>
            <a:r>
              <a:rPr lang="es-ES" sz="3200" b="1" i="0" dirty="0">
                <a:solidFill>
                  <a:srgbClr val="FF0000"/>
                </a:solidFill>
                <a:effectLst/>
                <a:latin typeface="Open Sans" panose="020B0604020202020204" pitchFamily="34" charset="0"/>
              </a:rPr>
              <a:t> </a:t>
            </a:r>
          </a:p>
          <a:p>
            <a:endParaRPr lang="es-ES" sz="2400" b="1" i="0" dirty="0">
              <a:solidFill>
                <a:srgbClr val="FF0000"/>
              </a:solidFill>
              <a:effectLst/>
              <a:latin typeface="Open Sans" panose="020B0604020202020204" pitchFamily="34" charset="0"/>
            </a:endParaRPr>
          </a:p>
          <a:p>
            <a:r>
              <a:rPr lang="es-EC" dirty="0">
                <a:solidFill>
                  <a:schemeClr val="bg1"/>
                </a:solidFill>
                <a:highlight>
                  <a:srgbClr val="800080"/>
                </a:highlight>
              </a:rPr>
              <a:t>7. Optimizar y automatizar recursos</a:t>
            </a:r>
          </a:p>
          <a:p>
            <a:pPr marL="457200" lvl="1" indent="0">
              <a:buNone/>
            </a:pPr>
            <a:r>
              <a:rPr lang="es-EC" dirty="0"/>
              <a:t>En la entrega de servicios de TI se debe tener siempre un enfoque orientado a la automatización. Cualquier proceso o procedimiento repetitivo, de bajo riesgo y claramente entendido, debe ser automatizado.</a:t>
            </a:r>
          </a:p>
          <a:p>
            <a:pPr marL="457200" lvl="1" indent="0">
              <a:buNone/>
            </a:pPr>
            <a:r>
              <a:rPr lang="es-EC" dirty="0"/>
              <a:t>Todo proceso que representa atraso a la organización y no genera valor deben ser eliminados.</a:t>
            </a:r>
          </a:p>
          <a:p>
            <a:pPr marL="457200" lvl="1" indent="0">
              <a:buNone/>
            </a:pPr>
            <a:endParaRPr lang="es-EC" dirty="0"/>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13981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496987"/>
          </a:xfrm>
        </p:spPr>
        <p:txBody>
          <a:bodyPr>
            <a:normAutofit/>
          </a:bodyPr>
          <a:lstStyle/>
          <a:p>
            <a:pPr marL="0" indent="0">
              <a:buNone/>
            </a:pPr>
            <a:r>
              <a:rPr lang="es-ES" sz="3200" b="1" dirty="0">
                <a:solidFill>
                  <a:srgbClr val="FF0000"/>
                </a:solidFill>
                <a:latin typeface="Open Sans" panose="020B0604020202020204" pitchFamily="34" charset="0"/>
              </a:rPr>
              <a:t>2.</a:t>
            </a:r>
            <a:r>
              <a:rPr lang="es-ES" sz="3200" b="1" i="0" dirty="0">
                <a:solidFill>
                  <a:srgbClr val="FF0000"/>
                </a:solidFill>
                <a:effectLst/>
                <a:latin typeface="Open Sans" panose="020B0604020202020204" pitchFamily="34" charset="0"/>
              </a:rPr>
              <a:t> Gobernabilidad (Contexto del </a:t>
            </a:r>
            <a:r>
              <a:rPr lang="es-ES" sz="3200" b="1" i="0" dirty="0" err="1">
                <a:solidFill>
                  <a:srgbClr val="FF0000"/>
                </a:solidFill>
                <a:effectLst/>
                <a:latin typeface="Open Sans" panose="020B0604020202020204" pitchFamily="34" charset="0"/>
              </a:rPr>
              <a:t>SVS</a:t>
            </a:r>
            <a:r>
              <a:rPr lang="es-ES" sz="3200" b="1" i="0" dirty="0">
                <a:solidFill>
                  <a:srgbClr val="FF0000"/>
                </a:solidFill>
                <a:effectLst/>
                <a:latin typeface="Open Sans" panose="020B0604020202020204" pitchFamily="34" charset="0"/>
              </a:rPr>
              <a:t>)</a:t>
            </a:r>
          </a:p>
          <a:p>
            <a:endParaRPr lang="es-ES" sz="2400" b="1" i="0" dirty="0">
              <a:solidFill>
                <a:srgbClr val="FF0000"/>
              </a:solidFill>
              <a:effectLst/>
              <a:latin typeface="Open Sans" panose="020B0604020202020204" pitchFamily="34" charset="0"/>
            </a:endParaRPr>
          </a:p>
          <a:p>
            <a:pPr marL="457200" lvl="1" indent="0">
              <a:buNone/>
            </a:pPr>
            <a:r>
              <a:rPr lang="es-EC" dirty="0"/>
              <a:t>Medios por los cuales se dirige y controla una organización </a:t>
            </a:r>
          </a:p>
          <a:p>
            <a:pPr marL="457200" lvl="1" indent="0">
              <a:buNone/>
            </a:pPr>
            <a:r>
              <a:rPr lang="es-EC" dirty="0"/>
              <a:t>Gobernar la ejecución de los planes de gestión que son necesarios para llevar a cabo la prestación de un servicio.</a:t>
            </a:r>
          </a:p>
          <a:p>
            <a:pPr marL="457200" lvl="1" indent="0">
              <a:buNone/>
            </a:pPr>
            <a:endParaRPr lang="es-EC" dirty="0"/>
          </a:p>
          <a:p>
            <a:pPr marL="457200" lvl="1" indent="0">
              <a:buNone/>
            </a:pPr>
            <a:r>
              <a:rPr lang="es-EC" dirty="0"/>
              <a:t>”</a:t>
            </a:r>
            <a:r>
              <a:rPr lang="es-EC" b="1" dirty="0"/>
              <a:t>La gobernabilidad se refiere a evaluar, dirigir y supervisar la ejecución de tareas y actividades de los planes de gestión”</a:t>
            </a:r>
          </a:p>
          <a:p>
            <a:pPr marL="457200" lvl="1" indent="0">
              <a:buNone/>
            </a:pPr>
            <a:endParaRPr lang="es-EC" dirty="0"/>
          </a:p>
          <a:p>
            <a:pPr marL="457200" lvl="1" indent="0">
              <a:buNone/>
            </a:pPr>
            <a:r>
              <a:rPr lang="es-EC" dirty="0"/>
              <a:t>Para lograr la gobernabilidad es necesario contar con una estructura jerárquica clara con roles y responsabilidades claros de cada integrante de la organización </a:t>
            </a:r>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925021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4873487" cy="4496987"/>
          </a:xfrm>
        </p:spPr>
        <p:txBody>
          <a:bodyPr>
            <a:normAutofit fontScale="85000" lnSpcReduction="20000"/>
          </a:bodyPr>
          <a:lstStyle/>
          <a:p>
            <a:pPr marL="0" indent="0">
              <a:buNone/>
            </a:pPr>
            <a:r>
              <a:rPr lang="es-ES" sz="3200" b="1" dirty="0">
                <a:solidFill>
                  <a:srgbClr val="FF0000"/>
                </a:solidFill>
                <a:latin typeface="Open Sans" panose="020B0604020202020204" pitchFamily="34" charset="0"/>
              </a:rPr>
              <a:t>3.</a:t>
            </a:r>
            <a:r>
              <a:rPr lang="es-ES" sz="3200" b="1" i="0" dirty="0">
                <a:solidFill>
                  <a:srgbClr val="FF0000"/>
                </a:solidFill>
                <a:effectLst/>
                <a:latin typeface="Open Sans" panose="020B0604020202020204" pitchFamily="34" charset="0"/>
              </a:rPr>
              <a:t> Cadena de valor</a:t>
            </a:r>
          </a:p>
          <a:p>
            <a:endParaRPr lang="es-ES" sz="2400" b="1" i="0" dirty="0">
              <a:solidFill>
                <a:srgbClr val="FF0000"/>
              </a:solidFill>
              <a:effectLst/>
              <a:latin typeface="Open Sans" panose="020B0604020202020204" pitchFamily="34" charset="0"/>
            </a:endParaRPr>
          </a:p>
          <a:p>
            <a:pPr marL="457200" lvl="1" indent="0">
              <a:buNone/>
            </a:pPr>
            <a:r>
              <a:rPr lang="es-EC" dirty="0"/>
              <a:t>Es el elemento mas importante del </a:t>
            </a:r>
            <a:r>
              <a:rPr lang="es-EC" dirty="0" err="1"/>
              <a:t>SVS</a:t>
            </a:r>
            <a:r>
              <a:rPr lang="es-EC" dirty="0"/>
              <a:t>.</a:t>
            </a:r>
          </a:p>
          <a:p>
            <a:pPr marL="457200" lvl="1" indent="0">
              <a:buNone/>
            </a:pPr>
            <a:r>
              <a:rPr lang="es-EC" dirty="0"/>
              <a:t>Modelo operativo que describe las actividades clave necesarias para responder a la demanda de un cliente.</a:t>
            </a:r>
          </a:p>
          <a:p>
            <a:pPr marL="457200" lvl="1" indent="0">
              <a:buNone/>
            </a:pPr>
            <a:r>
              <a:rPr lang="es-EC" dirty="0"/>
              <a:t>Esta compuesta por 6 actividades </a:t>
            </a:r>
          </a:p>
          <a:p>
            <a:pPr lvl="1"/>
            <a:r>
              <a:rPr lang="es-EC" dirty="0"/>
              <a:t>Planear</a:t>
            </a:r>
          </a:p>
          <a:p>
            <a:pPr lvl="1"/>
            <a:r>
              <a:rPr lang="es-EC" dirty="0"/>
              <a:t>Mejorar</a:t>
            </a:r>
          </a:p>
          <a:p>
            <a:pPr lvl="1"/>
            <a:r>
              <a:rPr lang="es-EC" dirty="0"/>
              <a:t>Involucrar</a:t>
            </a:r>
          </a:p>
          <a:p>
            <a:pPr lvl="1"/>
            <a:r>
              <a:rPr lang="es-EC" dirty="0"/>
              <a:t>Diseño y transición </a:t>
            </a:r>
          </a:p>
          <a:p>
            <a:pPr lvl="1"/>
            <a:r>
              <a:rPr lang="es-EC" dirty="0"/>
              <a:t>Obtener/Construir</a:t>
            </a:r>
          </a:p>
          <a:p>
            <a:pPr lvl="1"/>
            <a:r>
              <a:rPr lang="es-EC" dirty="0"/>
              <a:t>Entrega y Soporte</a:t>
            </a:r>
          </a:p>
          <a:p>
            <a:pPr marL="457200" lvl="1" indent="0">
              <a:buNone/>
            </a:pPr>
            <a:r>
              <a:rPr lang="es-EC" dirty="0"/>
              <a:t>Las actividades están interconectadas. La salida de una es la entrada de otra.</a:t>
            </a:r>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C431BEE1-798D-472A-AA85-BC29AC827A27}"/>
              </a:ext>
            </a:extLst>
          </p:cNvPr>
          <p:cNvPicPr>
            <a:picLocks noChangeAspect="1"/>
          </p:cNvPicPr>
          <p:nvPr/>
        </p:nvPicPr>
        <p:blipFill>
          <a:blip r:embed="rId2"/>
          <a:stretch>
            <a:fillRect/>
          </a:stretch>
        </p:blipFill>
        <p:spPr>
          <a:xfrm>
            <a:off x="6096000" y="3041607"/>
            <a:ext cx="5295900" cy="2857500"/>
          </a:xfrm>
          <a:prstGeom prst="rect">
            <a:avLst/>
          </a:prstGeom>
        </p:spPr>
      </p:pic>
    </p:spTree>
    <p:extLst>
      <p:ext uri="{BB962C8B-B14F-4D97-AF65-F5344CB8AC3E}">
        <p14:creationId xmlns:p14="http://schemas.microsoft.com/office/powerpoint/2010/main" val="2068692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4873487" cy="4496987"/>
          </a:xfrm>
        </p:spPr>
        <p:txBody>
          <a:bodyPr>
            <a:normAutofit lnSpcReduction="10000"/>
          </a:bodyPr>
          <a:lstStyle/>
          <a:p>
            <a:pPr marL="0" indent="0">
              <a:buNone/>
            </a:pPr>
            <a:r>
              <a:rPr lang="es-ES" sz="3200" b="1" dirty="0">
                <a:solidFill>
                  <a:srgbClr val="FF0000"/>
                </a:solidFill>
                <a:latin typeface="Open Sans" panose="020B0604020202020204" pitchFamily="34" charset="0"/>
              </a:rPr>
              <a:t>3.</a:t>
            </a:r>
            <a:r>
              <a:rPr lang="es-ES" sz="3200" b="1" i="0" dirty="0">
                <a:solidFill>
                  <a:srgbClr val="FF0000"/>
                </a:solidFill>
                <a:effectLst/>
                <a:latin typeface="Open Sans" panose="020B0604020202020204" pitchFamily="34" charset="0"/>
              </a:rPr>
              <a:t> Cadena de valor</a:t>
            </a:r>
          </a:p>
          <a:p>
            <a:endParaRPr lang="es-ES" sz="2400" b="1" i="0" dirty="0">
              <a:solidFill>
                <a:srgbClr val="FF0000"/>
              </a:solidFill>
              <a:effectLst/>
              <a:latin typeface="Open Sans" panose="020B0604020202020204" pitchFamily="34" charset="0"/>
            </a:endParaRPr>
          </a:p>
          <a:p>
            <a:pPr lvl="1"/>
            <a:r>
              <a:rPr lang="es-EC" dirty="0"/>
              <a:t>Para realizar una tarea o responder a una necesidad se crean </a:t>
            </a:r>
            <a:r>
              <a:rPr lang="es-EC" b="1" dirty="0">
                <a:solidFill>
                  <a:srgbClr val="FF0000"/>
                </a:solidFill>
              </a:rPr>
              <a:t>flujos de valor del servicio</a:t>
            </a:r>
            <a:r>
              <a:rPr lang="es-EC" dirty="0"/>
              <a:t>.</a:t>
            </a:r>
          </a:p>
          <a:p>
            <a:pPr lvl="1"/>
            <a:r>
              <a:rPr lang="es-EC" dirty="0"/>
              <a:t>Los flujos de valor del servicio son combinaciones de actividades de la cadena de valor.</a:t>
            </a:r>
          </a:p>
          <a:p>
            <a:pPr lvl="1"/>
            <a:r>
              <a:rPr lang="es-EC" dirty="0"/>
              <a:t>Estos flujos de valor del servicio deben estar sujetos a un proceso de mejora continua.</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C431BEE1-798D-472A-AA85-BC29AC827A27}"/>
              </a:ext>
            </a:extLst>
          </p:cNvPr>
          <p:cNvPicPr>
            <a:picLocks noChangeAspect="1"/>
          </p:cNvPicPr>
          <p:nvPr/>
        </p:nvPicPr>
        <p:blipFill>
          <a:blip r:embed="rId2"/>
          <a:stretch>
            <a:fillRect/>
          </a:stretch>
        </p:blipFill>
        <p:spPr>
          <a:xfrm>
            <a:off x="6096000" y="3041607"/>
            <a:ext cx="5295900" cy="2857500"/>
          </a:xfrm>
          <a:prstGeom prst="rect">
            <a:avLst/>
          </a:prstGeom>
        </p:spPr>
      </p:pic>
    </p:spTree>
    <p:extLst>
      <p:ext uri="{BB962C8B-B14F-4D97-AF65-F5344CB8AC3E}">
        <p14:creationId xmlns:p14="http://schemas.microsoft.com/office/powerpoint/2010/main" val="2418695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4873487" cy="4496987"/>
          </a:xfrm>
        </p:spPr>
        <p:txBody>
          <a:bodyPr>
            <a:normAutofit/>
          </a:bodyPr>
          <a:lstStyle/>
          <a:p>
            <a:pPr marL="0" indent="0">
              <a:buNone/>
            </a:pPr>
            <a:r>
              <a:rPr lang="es-ES" sz="3200" b="1" dirty="0">
                <a:solidFill>
                  <a:srgbClr val="FF0000"/>
                </a:solidFill>
                <a:latin typeface="Open Sans" panose="020B0604020202020204" pitchFamily="34" charset="0"/>
              </a:rPr>
              <a:t>3.</a:t>
            </a:r>
            <a:r>
              <a:rPr lang="es-ES" sz="3200" b="1" i="0" dirty="0">
                <a:solidFill>
                  <a:srgbClr val="FF0000"/>
                </a:solidFill>
                <a:effectLst/>
                <a:latin typeface="Open Sans" panose="020B0604020202020204" pitchFamily="34" charset="0"/>
              </a:rPr>
              <a:t> Cadena de valor</a:t>
            </a:r>
          </a:p>
          <a:p>
            <a:endParaRPr lang="es-ES" sz="2400" b="1" i="0" dirty="0">
              <a:solidFill>
                <a:srgbClr val="FF0000"/>
              </a:solidFill>
              <a:effectLst/>
              <a:latin typeface="Open Sans" panose="020B0604020202020204" pitchFamily="34" charset="0"/>
            </a:endParaRPr>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1ECADF1D-4E1D-4F95-B4DD-B87213B94316}"/>
              </a:ext>
            </a:extLst>
          </p:cNvPr>
          <p:cNvPicPr>
            <a:picLocks noChangeAspect="1"/>
          </p:cNvPicPr>
          <p:nvPr/>
        </p:nvPicPr>
        <p:blipFill>
          <a:blip r:embed="rId2"/>
          <a:stretch>
            <a:fillRect/>
          </a:stretch>
        </p:blipFill>
        <p:spPr>
          <a:xfrm>
            <a:off x="1282562" y="2146438"/>
            <a:ext cx="4544008" cy="2849632"/>
          </a:xfrm>
          <a:prstGeom prst="rect">
            <a:avLst/>
          </a:prstGeom>
        </p:spPr>
      </p:pic>
      <p:pic>
        <p:nvPicPr>
          <p:cNvPr id="10" name="Imagen 9">
            <a:extLst>
              <a:ext uri="{FF2B5EF4-FFF2-40B4-BE49-F238E27FC236}">
                <a16:creationId xmlns:a16="http://schemas.microsoft.com/office/drawing/2014/main" id="{507A5AC9-0787-4332-8623-BA5C280D840A}"/>
              </a:ext>
            </a:extLst>
          </p:cNvPr>
          <p:cNvPicPr>
            <a:picLocks noChangeAspect="1"/>
          </p:cNvPicPr>
          <p:nvPr/>
        </p:nvPicPr>
        <p:blipFill>
          <a:blip r:embed="rId3"/>
          <a:stretch>
            <a:fillRect/>
          </a:stretch>
        </p:blipFill>
        <p:spPr>
          <a:xfrm>
            <a:off x="1240717" y="4821253"/>
            <a:ext cx="4831642" cy="1417982"/>
          </a:xfrm>
          <a:prstGeom prst="rect">
            <a:avLst/>
          </a:prstGeom>
        </p:spPr>
      </p:pic>
      <p:pic>
        <p:nvPicPr>
          <p:cNvPr id="12" name="Imagen 11">
            <a:extLst>
              <a:ext uri="{FF2B5EF4-FFF2-40B4-BE49-F238E27FC236}">
                <a16:creationId xmlns:a16="http://schemas.microsoft.com/office/drawing/2014/main" id="{99F865E8-4BEF-45FD-AF00-A56F71A3D60A}"/>
              </a:ext>
            </a:extLst>
          </p:cNvPr>
          <p:cNvPicPr>
            <a:picLocks noChangeAspect="1"/>
          </p:cNvPicPr>
          <p:nvPr/>
        </p:nvPicPr>
        <p:blipFill>
          <a:blip r:embed="rId4"/>
          <a:stretch>
            <a:fillRect/>
          </a:stretch>
        </p:blipFill>
        <p:spPr>
          <a:xfrm>
            <a:off x="6335579" y="2285999"/>
            <a:ext cx="4292664" cy="3838147"/>
          </a:xfrm>
          <a:prstGeom prst="rect">
            <a:avLst/>
          </a:prstGeom>
        </p:spPr>
      </p:pic>
    </p:spTree>
    <p:extLst>
      <p:ext uri="{BB962C8B-B14F-4D97-AF65-F5344CB8AC3E}">
        <p14:creationId xmlns:p14="http://schemas.microsoft.com/office/powerpoint/2010/main" val="3133146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lnSpcReduction="10000"/>
          </a:bodyPr>
          <a:lstStyle/>
          <a:p>
            <a:pPr marL="0" indent="0">
              <a:buNone/>
            </a:pPr>
            <a:r>
              <a:rPr lang="es-ES" sz="3200" b="1" i="0" dirty="0">
                <a:solidFill>
                  <a:srgbClr val="FF0000"/>
                </a:solidFill>
                <a:effectLst/>
                <a:latin typeface="Open Sans" panose="020B0604020202020204" pitchFamily="34" charset="0"/>
              </a:rPr>
              <a:t> 4. Practicas de Gestión </a:t>
            </a:r>
          </a:p>
          <a:p>
            <a:r>
              <a:rPr lang="es-ES" sz="3000" i="0" dirty="0">
                <a:effectLst/>
              </a:rPr>
              <a:t>Una practica es un conjunto de recursos organizacionales diseñados para realizar un trabajo o lograr un objetivo</a:t>
            </a:r>
          </a:p>
          <a:p>
            <a:r>
              <a:rPr lang="es-ES" sz="3000" dirty="0"/>
              <a:t>Las practicas incluyen procedimientos y herramientas de trabajo, así como especialistas en cada tema relacionado con la practica.</a:t>
            </a:r>
          </a:p>
          <a:p>
            <a:r>
              <a:rPr lang="es-ES" sz="3000" i="0" dirty="0" err="1">
                <a:effectLst/>
              </a:rPr>
              <a:t>ITIL</a:t>
            </a:r>
            <a:r>
              <a:rPr lang="es-ES" sz="3000" i="0" dirty="0">
                <a:effectLst/>
              </a:rPr>
              <a:t> 4 incorpora 34 practicas de gestión:</a:t>
            </a:r>
          </a:p>
          <a:p>
            <a:pPr lvl="1"/>
            <a:r>
              <a:rPr lang="es-ES" sz="2600" dirty="0"/>
              <a:t>14 practicas generales de gestión</a:t>
            </a:r>
          </a:p>
          <a:p>
            <a:pPr lvl="1"/>
            <a:r>
              <a:rPr lang="es-ES" sz="2600" i="0" dirty="0">
                <a:effectLst/>
              </a:rPr>
              <a:t>17 practicas de gestión de servicios </a:t>
            </a:r>
          </a:p>
          <a:p>
            <a:pPr lvl="1"/>
            <a:r>
              <a:rPr lang="es-ES" sz="2600" dirty="0"/>
              <a:t>3 practicas de gestión técnica</a:t>
            </a:r>
            <a:endParaRPr lang="es-ES" sz="2600" i="0" dirty="0">
              <a:effectLst/>
            </a:endParaRPr>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645715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587597"/>
          </a:xfrm>
        </p:spPr>
        <p:txBody>
          <a:bodyPr>
            <a:normAutofit/>
          </a:bodyPr>
          <a:lstStyle/>
          <a:p>
            <a:pPr marL="0" indent="0">
              <a:buNone/>
            </a:pPr>
            <a:r>
              <a:rPr lang="es-ES" sz="3200" b="1" i="0" dirty="0">
                <a:solidFill>
                  <a:srgbClr val="FF0000"/>
                </a:solidFill>
                <a:effectLst/>
                <a:latin typeface="Open Sans" panose="020B0604020202020204" pitchFamily="34" charset="0"/>
              </a:rPr>
              <a:t> 4. Practicas de Gestión </a:t>
            </a:r>
          </a:p>
          <a:p>
            <a:pPr marL="457200" lvl="1"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graphicFrame>
        <p:nvGraphicFramePr>
          <p:cNvPr id="5" name="Tabla 4">
            <a:extLst>
              <a:ext uri="{FF2B5EF4-FFF2-40B4-BE49-F238E27FC236}">
                <a16:creationId xmlns:a16="http://schemas.microsoft.com/office/drawing/2014/main" id="{D7FEC656-1C19-4F2F-BDB8-8B20BBA26EDC}"/>
              </a:ext>
            </a:extLst>
          </p:cNvPr>
          <p:cNvGraphicFramePr>
            <a:graphicFrameLocks noGrp="1"/>
          </p:cNvGraphicFramePr>
          <p:nvPr>
            <p:extLst>
              <p:ext uri="{D42A27DB-BD31-4B8C-83A1-F6EECF244321}">
                <p14:modId xmlns:p14="http://schemas.microsoft.com/office/powerpoint/2010/main" val="4226249288"/>
              </p:ext>
            </p:extLst>
          </p:nvPr>
        </p:nvGraphicFramePr>
        <p:xfrm>
          <a:off x="1974297" y="2199860"/>
          <a:ext cx="7591733" cy="4468230"/>
        </p:xfrm>
        <a:graphic>
          <a:graphicData uri="http://schemas.openxmlformats.org/drawingml/2006/table">
            <a:tbl>
              <a:tblPr>
                <a:tableStyleId>{5C22544A-7EE6-4342-B048-85BDC9FD1C3A}</a:tableStyleId>
              </a:tblPr>
              <a:tblGrid>
                <a:gridCol w="2864545">
                  <a:extLst>
                    <a:ext uri="{9D8B030D-6E8A-4147-A177-3AD203B41FA5}">
                      <a16:colId xmlns:a16="http://schemas.microsoft.com/office/drawing/2014/main" val="2526387147"/>
                    </a:ext>
                  </a:extLst>
                </a:gridCol>
                <a:gridCol w="2468605">
                  <a:extLst>
                    <a:ext uri="{9D8B030D-6E8A-4147-A177-3AD203B41FA5}">
                      <a16:colId xmlns:a16="http://schemas.microsoft.com/office/drawing/2014/main" val="1790358078"/>
                    </a:ext>
                  </a:extLst>
                </a:gridCol>
                <a:gridCol w="2258583">
                  <a:extLst>
                    <a:ext uri="{9D8B030D-6E8A-4147-A177-3AD203B41FA5}">
                      <a16:colId xmlns:a16="http://schemas.microsoft.com/office/drawing/2014/main" val="1682337236"/>
                    </a:ext>
                  </a:extLst>
                </a:gridCol>
              </a:tblGrid>
              <a:tr h="212773">
                <a:tc>
                  <a:txBody>
                    <a:bodyPr/>
                    <a:lstStyle/>
                    <a:p>
                      <a:pPr algn="l" fontAlgn="b"/>
                      <a:r>
                        <a:rPr lang="es-EC" sz="1100" b="1" u="none" strike="noStrike" dirty="0">
                          <a:solidFill>
                            <a:schemeClr val="bg1"/>
                          </a:solidFill>
                          <a:effectLst/>
                        </a:rPr>
                        <a:t>Prácticas de Gestión General</a:t>
                      </a:r>
                      <a:endParaRPr lang="es-EC"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r>
                        <a:rPr lang="es-ES" sz="1100" b="1" u="none" strike="noStrike" dirty="0">
                          <a:solidFill>
                            <a:schemeClr val="bg1"/>
                          </a:solidFill>
                          <a:effectLst/>
                        </a:rPr>
                        <a:t>Prácticas de Gestión de Servicios</a:t>
                      </a:r>
                      <a:endParaRPr lang="es-ES"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r>
                        <a:rPr lang="es-EC" sz="1100" b="1" u="none" strike="noStrike" dirty="0">
                          <a:solidFill>
                            <a:schemeClr val="bg1"/>
                          </a:solidFill>
                          <a:effectLst/>
                        </a:rPr>
                        <a:t>Prácticas de Gestión Técnica</a:t>
                      </a:r>
                      <a:endParaRPr lang="es-EC"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extLst>
                  <a:ext uri="{0D108BD9-81ED-4DB2-BD59-A6C34878D82A}">
                    <a16:rowId xmlns:a16="http://schemas.microsoft.com/office/drawing/2014/main" val="2055968512"/>
                  </a:ext>
                </a:extLst>
              </a:tr>
              <a:tr h="212773">
                <a:tc>
                  <a:txBody>
                    <a:bodyPr/>
                    <a:lstStyle/>
                    <a:p>
                      <a:pPr algn="l" fontAlgn="b"/>
                      <a:r>
                        <a:rPr lang="es-EC" sz="1100" u="none" strike="noStrike">
                          <a:effectLst/>
                        </a:rPr>
                        <a:t>Administración de la Arquitectura</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Disponibilidad</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Implementción</a:t>
                      </a:r>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23541839"/>
                  </a:ext>
                </a:extLst>
              </a:tr>
              <a:tr h="425545">
                <a:tc>
                  <a:txBody>
                    <a:bodyPr/>
                    <a:lstStyle/>
                    <a:p>
                      <a:pPr algn="l" fontAlgn="b"/>
                      <a:r>
                        <a:rPr lang="es-EC" sz="1100" u="none" strike="noStrike">
                          <a:effectLst/>
                        </a:rPr>
                        <a:t>Mejora Continua</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Análisis de Negocios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Infraestructura y Plataformas</a:t>
                      </a:r>
                      <a:endParaRPr lang="es-E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5819954"/>
                  </a:ext>
                </a:extLst>
              </a:tr>
              <a:tr h="212773">
                <a:tc>
                  <a:txBody>
                    <a:bodyPr/>
                    <a:lstStyle/>
                    <a:p>
                      <a:pPr algn="l" fontAlgn="b"/>
                      <a:r>
                        <a:rPr lang="es-ES" sz="1100" u="none" strike="noStrike">
                          <a:effectLst/>
                        </a:rPr>
                        <a:t>Gestión de Seguridad de la Información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Capacidad y Desempeño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dirty="0">
                          <a:effectLst/>
                        </a:rPr>
                        <a:t>Desarrollo y Gestión de Software</a:t>
                      </a:r>
                      <a:endParaRPr lang="es-E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44892783"/>
                  </a:ext>
                </a:extLst>
              </a:tr>
              <a:tr h="212773">
                <a:tc>
                  <a:txBody>
                    <a:bodyPr/>
                    <a:lstStyle/>
                    <a:p>
                      <a:pPr algn="l" fontAlgn="b"/>
                      <a:r>
                        <a:rPr lang="es-EC" sz="1100" u="none" strike="noStrike">
                          <a:effectLst/>
                        </a:rPr>
                        <a:t>Gestión del Conocimiento</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Control de Cambios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88842875"/>
                  </a:ext>
                </a:extLst>
              </a:tr>
              <a:tr h="212773">
                <a:tc>
                  <a:txBody>
                    <a:bodyPr/>
                    <a:lstStyle/>
                    <a:p>
                      <a:pPr algn="l" fontAlgn="b"/>
                      <a:r>
                        <a:rPr lang="es-ES" sz="1100" u="none" strike="noStrike">
                          <a:effectLst/>
                        </a:rPr>
                        <a:t>Medición y Generación de Reportes</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Incidentes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93211892"/>
                  </a:ext>
                </a:extLst>
              </a:tr>
              <a:tr h="212773">
                <a:tc>
                  <a:txBody>
                    <a:bodyPr/>
                    <a:lstStyle/>
                    <a:p>
                      <a:pPr algn="l" fontAlgn="b"/>
                      <a:r>
                        <a:rPr lang="es-EC" sz="1100" u="none" strike="noStrike">
                          <a:effectLst/>
                        </a:rPr>
                        <a:t>Gestión de cambio Organizacional</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Activos de TI</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14211562"/>
                  </a:ext>
                </a:extLst>
              </a:tr>
              <a:tr h="212773">
                <a:tc>
                  <a:txBody>
                    <a:bodyPr/>
                    <a:lstStyle/>
                    <a:p>
                      <a:pPr algn="l" fontAlgn="b"/>
                      <a:r>
                        <a:rPr lang="es-EC" sz="1100" u="none" strike="noStrike">
                          <a:effectLst/>
                        </a:rPr>
                        <a:t>Gestión del Portafolio</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Eventos y Monitoreo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6292679"/>
                  </a:ext>
                </a:extLst>
              </a:tr>
              <a:tr h="212773">
                <a:tc>
                  <a:txBody>
                    <a:bodyPr/>
                    <a:lstStyle/>
                    <a:p>
                      <a:pPr algn="l" fontAlgn="b"/>
                      <a:r>
                        <a:rPr lang="es-EC" sz="1100" u="none" strike="noStrike">
                          <a:effectLst/>
                        </a:rPr>
                        <a:t>Gestión de Proyectos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Problemas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42169660"/>
                  </a:ext>
                </a:extLst>
              </a:tr>
              <a:tr h="212773">
                <a:tc>
                  <a:txBody>
                    <a:bodyPr/>
                    <a:lstStyle/>
                    <a:p>
                      <a:pPr algn="l" fontAlgn="b"/>
                      <a:r>
                        <a:rPr lang="es-EC" sz="1100" u="none" strike="noStrike">
                          <a:effectLst/>
                        </a:rPr>
                        <a:t>Gestión de Relaciones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Liberaciones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43163697"/>
                  </a:ext>
                </a:extLst>
              </a:tr>
              <a:tr h="212773">
                <a:tc>
                  <a:txBody>
                    <a:bodyPr/>
                    <a:lstStyle/>
                    <a:p>
                      <a:pPr algn="l" fontAlgn="b"/>
                      <a:r>
                        <a:rPr lang="es-EC" sz="1100" u="none" strike="noStrike">
                          <a:effectLst/>
                        </a:rPr>
                        <a:t>Gestión de Riesgos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del Catalogo de Servicios</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03939107"/>
                  </a:ext>
                </a:extLst>
              </a:tr>
              <a:tr h="425545">
                <a:tc>
                  <a:txBody>
                    <a:bodyPr/>
                    <a:lstStyle/>
                    <a:p>
                      <a:pPr algn="l" fontAlgn="b"/>
                      <a:r>
                        <a:rPr lang="es-EC" sz="1100" u="none" strike="noStrike">
                          <a:effectLst/>
                        </a:rPr>
                        <a:t>Gestión Financiera de Servicios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Configuración del Servicio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566439"/>
                  </a:ext>
                </a:extLst>
              </a:tr>
              <a:tr h="212773">
                <a:tc>
                  <a:txBody>
                    <a:bodyPr/>
                    <a:lstStyle/>
                    <a:p>
                      <a:pPr algn="l" fontAlgn="b"/>
                      <a:r>
                        <a:rPr lang="es-EC" sz="1100" u="none" strike="noStrike">
                          <a:effectLst/>
                        </a:rPr>
                        <a:t>Gestión Estratégica</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Continuidad del Servcio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09090992"/>
                  </a:ext>
                </a:extLst>
              </a:tr>
              <a:tr h="212773">
                <a:tc>
                  <a:txBody>
                    <a:bodyPr/>
                    <a:lstStyle/>
                    <a:p>
                      <a:pPr algn="l" fontAlgn="b"/>
                      <a:r>
                        <a:rPr lang="es-EC" sz="1100" u="none" strike="noStrike">
                          <a:effectLst/>
                        </a:rPr>
                        <a:t>Gestión de Proveedores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Gestión de Diseño</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51062818"/>
                  </a:ext>
                </a:extLst>
              </a:tr>
              <a:tr h="212773">
                <a:tc>
                  <a:txBody>
                    <a:bodyPr/>
                    <a:lstStyle/>
                    <a:p>
                      <a:pPr algn="l" fontAlgn="b"/>
                      <a:r>
                        <a:rPr lang="es-ES" sz="1100" u="none" strike="noStrike">
                          <a:effectLst/>
                        </a:rPr>
                        <a:t>Gestión de la Fuerza Laboral y del Talento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C" sz="1100" u="none" strike="noStrike">
                          <a:effectLst/>
                        </a:rPr>
                        <a:t>Mesa de Servicios</a:t>
                      </a:r>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63403081"/>
                  </a:ext>
                </a:extLst>
              </a:tr>
              <a:tr h="425545">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Acuerdos de Nivel de Servicio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37289884"/>
                  </a:ext>
                </a:extLst>
              </a:tr>
              <a:tr h="212773">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Gestión de Solicitudes de Servicio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00493879"/>
                  </a:ext>
                </a:extLst>
              </a:tr>
              <a:tr h="212773">
                <a:tc>
                  <a:txBody>
                    <a:bodyPr/>
                    <a:lstStyle/>
                    <a:p>
                      <a:pPr algn="l" fontAlgn="b"/>
                      <a:endParaRPr lang="es-EC"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Validación y Pruebas del Servicio</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EC"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70664242"/>
                  </a:ext>
                </a:extLst>
              </a:tr>
            </a:tbl>
          </a:graphicData>
        </a:graphic>
      </p:graphicFrame>
    </p:spTree>
    <p:extLst>
      <p:ext uri="{BB962C8B-B14F-4D97-AF65-F5344CB8AC3E}">
        <p14:creationId xmlns:p14="http://schemas.microsoft.com/office/powerpoint/2010/main" val="2903182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lnSpcReduction="10000"/>
          </a:bodyPr>
          <a:lstStyle/>
          <a:p>
            <a:pPr marL="0" indent="0">
              <a:buNone/>
            </a:pPr>
            <a:r>
              <a:rPr lang="es-ES" sz="3200" b="1" dirty="0">
                <a:solidFill>
                  <a:srgbClr val="FF0000"/>
                </a:solidFill>
                <a:latin typeface="Open Sans" panose="020B0604020202020204" pitchFamily="34" charset="0"/>
              </a:rPr>
              <a:t>5. </a:t>
            </a:r>
            <a:r>
              <a:rPr lang="es-ES" sz="3200" b="1" i="0" dirty="0">
                <a:solidFill>
                  <a:srgbClr val="FF0000"/>
                </a:solidFill>
                <a:effectLst/>
                <a:latin typeface="Open Sans" panose="020B0604020202020204" pitchFamily="34" charset="0"/>
              </a:rPr>
              <a:t>Mejora continua</a:t>
            </a:r>
          </a:p>
          <a:p>
            <a:r>
              <a:rPr lang="es-ES" sz="3000" i="0" dirty="0">
                <a:effectLst/>
              </a:rPr>
              <a:t>Tiene como propósito brindar mejores servicios y proveer mejores productos, así como a optimizar practicas y procesos. La mejora continua debe ser considerada como una tarea de carácter estratégico</a:t>
            </a:r>
            <a:r>
              <a:rPr lang="es-ES" sz="3000" dirty="0"/>
              <a:t>, es decir solo la alta dirección puede decidir en que momento se puede desarrollar un proceso de mejora, así como que personas se verán involucrados en este proceso.</a:t>
            </a:r>
          </a:p>
          <a:p>
            <a:r>
              <a:rPr lang="es-ES" sz="3000" i="0" dirty="0">
                <a:effectLst/>
              </a:rPr>
              <a:t>La mejora continua se puede aplicar a:</a:t>
            </a:r>
            <a:endParaRPr lang="es-ES" sz="2600" i="0" dirty="0">
              <a:effectLst/>
            </a:endParaRPr>
          </a:p>
          <a:p>
            <a:pPr lvl="1"/>
            <a:r>
              <a:rPr lang="es-EC" dirty="0"/>
              <a:t>Servicios brindados al cliente</a:t>
            </a:r>
          </a:p>
          <a:p>
            <a:pPr lvl="1"/>
            <a:r>
              <a:rPr lang="es-EC" dirty="0"/>
              <a:t>Practicas de gestión</a:t>
            </a:r>
          </a:p>
          <a:p>
            <a:pPr lvl="1"/>
            <a:r>
              <a:rPr lang="es-EC" dirty="0"/>
              <a:t>Tecnología y entrega de los servicios tecnológicos.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558343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dirty="0" err="1">
                <a:solidFill>
                  <a:srgbClr val="FF0000"/>
                </a:solidFill>
                <a:latin typeface="Open Sans" panose="020B0604020202020204" pitchFamily="34" charset="0"/>
              </a:rPr>
              <a:t>ITIL</a:t>
            </a:r>
            <a:r>
              <a:rPr lang="es-ES" sz="3200" b="1" dirty="0">
                <a:solidFill>
                  <a:srgbClr val="FF0000"/>
                </a:solidFill>
                <a:latin typeface="Open Sans" panose="020B0604020202020204" pitchFamily="34" charset="0"/>
              </a:rPr>
              <a:t> en el mundo actual</a:t>
            </a:r>
          </a:p>
          <a:p>
            <a:pPr marL="0" indent="0">
              <a:buNone/>
            </a:pPr>
            <a:endParaRPr lang="es-ES" sz="3200" b="1" i="0" dirty="0">
              <a:solidFill>
                <a:srgbClr val="FF0000"/>
              </a:solidFill>
              <a:effectLst/>
              <a:latin typeface="Open Sans" panose="020B0604020202020204" pitchFamily="34" charset="0"/>
            </a:endParaRPr>
          </a:p>
          <a:p>
            <a:pPr marL="0" indent="0">
              <a:buNone/>
            </a:pPr>
            <a:r>
              <a:rPr lang="es-EC" sz="3000" i="0" dirty="0" err="1">
                <a:effectLst/>
              </a:rPr>
              <a:t>ITIL</a:t>
            </a:r>
            <a:r>
              <a:rPr lang="es-EC" sz="3000" i="0" dirty="0">
                <a:effectLst/>
              </a:rPr>
              <a:t> 4 integra dos nuevos conceptos :</a:t>
            </a:r>
          </a:p>
          <a:p>
            <a:r>
              <a:rPr lang="es-EC" sz="3000" dirty="0"/>
              <a:t>Gestión de Servicios de Tecnologías de la información Ágil (</a:t>
            </a:r>
            <a:r>
              <a:rPr lang="es-EC" sz="3000" dirty="0" err="1"/>
              <a:t>ITSM</a:t>
            </a:r>
            <a:r>
              <a:rPr lang="es-EC" sz="3000" dirty="0"/>
              <a:t> Agile)</a:t>
            </a:r>
          </a:p>
          <a:p>
            <a:r>
              <a:rPr lang="es-EC" sz="3000" dirty="0"/>
              <a:t>Servicios de alta velocidad</a:t>
            </a:r>
          </a:p>
          <a:p>
            <a:pPr marL="0" indent="0">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401346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fontScale="92500" lnSpcReduction="20000"/>
          </a:bodyPr>
          <a:lstStyle/>
          <a:p>
            <a:pPr marL="0" indent="0">
              <a:buNone/>
            </a:pPr>
            <a:r>
              <a:rPr lang="es-ES" sz="3200" b="1" dirty="0" err="1">
                <a:solidFill>
                  <a:srgbClr val="FF0000"/>
                </a:solidFill>
                <a:latin typeface="Open Sans" panose="020B0604020202020204" pitchFamily="34" charset="0"/>
              </a:rPr>
              <a:t>ITIL</a:t>
            </a:r>
            <a:r>
              <a:rPr lang="es-ES" sz="3200" b="1" dirty="0">
                <a:solidFill>
                  <a:srgbClr val="FF0000"/>
                </a:solidFill>
                <a:latin typeface="Open Sans" panose="020B0604020202020204" pitchFamily="34" charset="0"/>
              </a:rPr>
              <a:t> en el mundo actual – </a:t>
            </a:r>
            <a:r>
              <a:rPr lang="es-ES" sz="3200" b="1" dirty="0" err="1">
                <a:solidFill>
                  <a:srgbClr val="FF0000"/>
                </a:solidFill>
                <a:latin typeface="Open Sans" panose="020B0604020202020204" pitchFamily="34" charset="0"/>
              </a:rPr>
              <a:t>ITSM</a:t>
            </a:r>
            <a:r>
              <a:rPr lang="es-ES" sz="3200" b="1" dirty="0">
                <a:solidFill>
                  <a:srgbClr val="FF0000"/>
                </a:solidFill>
                <a:latin typeface="Open Sans" panose="020B0604020202020204" pitchFamily="34" charset="0"/>
              </a:rPr>
              <a:t> Agile</a:t>
            </a:r>
          </a:p>
          <a:p>
            <a:pPr marL="0" indent="0">
              <a:buNone/>
            </a:pPr>
            <a:endParaRPr lang="es-ES" sz="3200" b="1" i="0" dirty="0">
              <a:solidFill>
                <a:srgbClr val="FF0000"/>
              </a:solidFill>
              <a:effectLst/>
              <a:latin typeface="Open Sans" panose="020B0604020202020204" pitchFamily="34" charset="0"/>
            </a:endParaRPr>
          </a:p>
          <a:p>
            <a:r>
              <a:rPr lang="es-EC" dirty="0"/>
              <a:t>En el mundo actual, se espera que las tecnologías de la información como su administración sean agiles.</a:t>
            </a:r>
          </a:p>
          <a:p>
            <a:r>
              <a:rPr lang="es-EC" dirty="0"/>
              <a:t>La agilidad incorporada en </a:t>
            </a:r>
            <a:r>
              <a:rPr lang="es-EC" dirty="0" err="1"/>
              <a:t>ITIL</a:t>
            </a:r>
            <a:r>
              <a:rPr lang="es-EC" dirty="0"/>
              <a:t> 4 no tienen ninguna relación con el manifiesto AGILE, publicado en el 2001 para el desarrollo de software. No se maneja como una agilidad fragmentada, es mas bien un enfoque mas holístico, mas general.</a:t>
            </a:r>
          </a:p>
          <a:p>
            <a:r>
              <a:rPr lang="es-EC" dirty="0"/>
              <a:t>En resumen: ser ágil es un principio que permite a las organizaciones prosperar en un entorno de constante cambio.</a:t>
            </a:r>
          </a:p>
          <a:p>
            <a:r>
              <a:rPr lang="es-EC" dirty="0"/>
              <a:t>Es decir una organización debe ser ágil para adaptarse a los cambios tecnológicos, así como mantener procesos agiles (contrataciones agiles, financiamientos agiles, adquisiciones agiles, </a:t>
            </a:r>
            <a:r>
              <a:rPr lang="es-EC" dirty="0" err="1"/>
              <a:t>etc</a:t>
            </a:r>
            <a:r>
              <a:rPr lang="es-EC" dirty="0"/>
              <a:t>)</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118297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dirty="0" err="1">
                <a:solidFill>
                  <a:srgbClr val="FF0000"/>
                </a:solidFill>
                <a:latin typeface="Open Sans" panose="020B0604020202020204" pitchFamily="34" charset="0"/>
              </a:rPr>
              <a:t>ITIL</a:t>
            </a:r>
            <a:r>
              <a:rPr lang="es-ES" sz="3200" b="1" dirty="0">
                <a:solidFill>
                  <a:srgbClr val="FF0000"/>
                </a:solidFill>
                <a:latin typeface="Open Sans" panose="020B0604020202020204" pitchFamily="34" charset="0"/>
              </a:rPr>
              <a:t> en el mundo actual – Servicios de alta velocidad</a:t>
            </a:r>
          </a:p>
          <a:p>
            <a:pPr marL="0" indent="0">
              <a:buNone/>
            </a:pPr>
            <a:r>
              <a:rPr lang="es-ES" sz="3200" dirty="0"/>
              <a:t>En la diferenciación e innovación empresarial, la velocidad de la comercialización es un factor clave. Si una empresa tarde demasiado en producir y comercializar un servicio, seguramente otro proveedor lo realizara antes.</a:t>
            </a:r>
          </a:p>
          <a:p>
            <a:pPr marL="0" indent="0">
              <a:buNone/>
            </a:pPr>
            <a:r>
              <a:rPr lang="es-ES" sz="3200" i="0" dirty="0">
                <a:effectLst/>
              </a:rPr>
              <a:t>Por este </a:t>
            </a:r>
            <a:r>
              <a:rPr lang="es-ES" sz="3200" dirty="0"/>
              <a:t>motivo las organizaciones ha empezado a exigir a sus proveedores de servicios de TI un tiempo de comercialización mas corto.</a:t>
            </a:r>
            <a:endParaRPr lang="es-ES" sz="3200" i="0" dirty="0">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867311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 evaluación del aprendizaje ante el actual escenario educativo a causa de  la pandemia - CETYS">
            <a:extLst>
              <a:ext uri="{FF2B5EF4-FFF2-40B4-BE49-F238E27FC236}">
                <a16:creationId xmlns:a16="http://schemas.microsoft.com/office/drawing/2014/main" id="{F5A5F19C-503B-45B1-A71D-9FFA416B0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521" y="1186484"/>
            <a:ext cx="7726018" cy="554455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El sistema de valor del servicio</a:t>
            </a:r>
            <a:br>
              <a:rPr lang="es-EC" sz="2800" dirty="0">
                <a:solidFill>
                  <a:schemeClr val="bg1"/>
                </a:solidFill>
              </a:rPr>
            </a:br>
            <a:r>
              <a:rPr lang="es-EC" sz="2000" dirty="0">
                <a:solidFill>
                  <a:schemeClr val="bg1"/>
                </a:solidFill>
              </a:rPr>
              <a:t>Fundamentos de </a:t>
            </a:r>
            <a:r>
              <a:rPr lang="es-EC" sz="2000" dirty="0" err="1">
                <a:solidFill>
                  <a:schemeClr val="bg1"/>
                </a:solidFill>
              </a:rPr>
              <a:t>ITIL</a:t>
            </a:r>
            <a:r>
              <a:rPr lang="es-EC" sz="2000" dirty="0">
                <a:solidFill>
                  <a:schemeClr val="bg1"/>
                </a:solidFill>
              </a:rPr>
              <a:t> 4</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a:solidFill>
                  <a:srgbClr val="FF0000"/>
                </a:solidFill>
                <a:latin typeface="Open Sans" panose="020B0604020202020204" pitchFamily="34" charset="0"/>
              </a:rPr>
              <a:t>AUTO-APRENDIZAJE</a:t>
            </a:r>
            <a:endParaRPr lang="es-ES" sz="3200" i="0" dirty="0">
              <a:effectLst/>
            </a:endParaRPr>
          </a:p>
        </p:txBody>
      </p:sp>
    </p:spTree>
    <p:extLst>
      <p:ext uri="{BB962C8B-B14F-4D97-AF65-F5344CB8AC3E}">
        <p14:creationId xmlns:p14="http://schemas.microsoft.com/office/powerpoint/2010/main" val="10876185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3608</TotalTime>
  <Words>1538</Words>
  <Application>Microsoft Office PowerPoint</Application>
  <PresentationFormat>Panorámica</PresentationFormat>
  <Paragraphs>166</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Calibri Light</vt:lpstr>
      <vt:lpstr>Open Sans</vt:lpstr>
      <vt:lpstr>Tema de Office</vt:lpstr>
      <vt:lpstr>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lpstr>El sistema de valor del servicio Fundamentos de ITIL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CarlosReyes</dc:creator>
  <cp:lastModifiedBy>CarlosReyes</cp:lastModifiedBy>
  <cp:revision>21</cp:revision>
  <dcterms:created xsi:type="dcterms:W3CDTF">2021-07-06T00:11:14Z</dcterms:created>
  <dcterms:modified xsi:type="dcterms:W3CDTF">2021-07-16T14:38:06Z</dcterms:modified>
</cp:coreProperties>
</file>