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73" r:id="rId3"/>
    <p:sldId id="270" r:id="rId4"/>
    <p:sldId id="271" r:id="rId5"/>
    <p:sldId id="272" r:id="rId6"/>
    <p:sldId id="308" r:id="rId7"/>
    <p:sldId id="274" r:id="rId8"/>
    <p:sldId id="317" r:id="rId9"/>
    <p:sldId id="276" r:id="rId10"/>
    <p:sldId id="318" r:id="rId11"/>
    <p:sldId id="319" r:id="rId12"/>
    <p:sldId id="321" r:id="rId13"/>
    <p:sldId id="277" r:id="rId14"/>
    <p:sldId id="307" r:id="rId15"/>
    <p:sldId id="309" r:id="rId16"/>
    <p:sldId id="278" r:id="rId17"/>
    <p:sldId id="279" r:id="rId18"/>
    <p:sldId id="316" r:id="rId19"/>
    <p:sldId id="280" r:id="rId20"/>
    <p:sldId id="322" r:id="rId21"/>
    <p:sldId id="310" r:id="rId22"/>
    <p:sldId id="281" r:id="rId23"/>
    <p:sldId id="282" r:id="rId24"/>
    <p:sldId id="283" r:id="rId25"/>
    <p:sldId id="311" r:id="rId26"/>
    <p:sldId id="284" r:id="rId27"/>
    <p:sldId id="285" r:id="rId28"/>
    <p:sldId id="286" r:id="rId29"/>
    <p:sldId id="287" r:id="rId30"/>
    <p:sldId id="288" r:id="rId31"/>
    <p:sldId id="289" r:id="rId32"/>
    <p:sldId id="312" r:id="rId33"/>
    <p:sldId id="290" r:id="rId34"/>
    <p:sldId id="291" r:id="rId35"/>
    <p:sldId id="292" r:id="rId36"/>
    <p:sldId id="293" r:id="rId37"/>
    <p:sldId id="313" r:id="rId38"/>
    <p:sldId id="294" r:id="rId39"/>
    <p:sldId id="295" r:id="rId40"/>
    <p:sldId id="296" r:id="rId41"/>
    <p:sldId id="314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15" r:id="rId53"/>
    <p:sldId id="323" r:id="rId54"/>
    <p:sldId id="324" r:id="rId55"/>
    <p:sldId id="325" r:id="rId56"/>
    <p:sldId id="326" r:id="rId57"/>
    <p:sldId id="328" r:id="rId58"/>
    <p:sldId id="327" r:id="rId59"/>
    <p:sldId id="329" r:id="rId60"/>
    <p:sldId id="330" r:id="rId61"/>
    <p:sldId id="331" r:id="rId62"/>
    <p:sldId id="332" r:id="rId63"/>
    <p:sldId id="333" r:id="rId64"/>
    <p:sldId id="334" r:id="rId65"/>
    <p:sldId id="335" r:id="rId66"/>
    <p:sldId id="338" r:id="rId67"/>
    <p:sldId id="336" r:id="rId68"/>
    <p:sldId id="337" r:id="rId69"/>
    <p:sldId id="339" r:id="rId70"/>
    <p:sldId id="340" r:id="rId71"/>
    <p:sldId id="341" r:id="rId72"/>
    <p:sldId id="342" r:id="rId73"/>
    <p:sldId id="343" r:id="rId74"/>
    <p:sldId id="344" r:id="rId75"/>
    <p:sldId id="345" r:id="rId76"/>
    <p:sldId id="346" r:id="rId77"/>
    <p:sldId id="347" r:id="rId78"/>
    <p:sldId id="348" r:id="rId79"/>
    <p:sldId id="349" r:id="rId80"/>
    <p:sldId id="350" r:id="rId81"/>
    <p:sldId id="351" r:id="rId82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C391B0-C241-4DAC-BECD-66D4CD700A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BFD3CE-BDED-4BED-A93E-424DD78EA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8E7386-34B5-477F-BC81-7ECD55E51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BD0A-AA3E-4E09-A836-376C890F28E1}" type="datetimeFigureOut">
              <a:rPr lang="es-EC" smtClean="0"/>
              <a:t>16/7/2021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B8E778-4D9E-4E25-801B-CAC1AD2F4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6FCB3C-7814-46CF-AB81-6B61AAFBC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B5BE-4567-4423-91AA-9FAB6F0E7FC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54310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FD8501-E789-40A7-A705-B05CAD75F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EF5597-874F-43AC-9028-A5AA5E35E6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277FC0-2A75-42DB-BDA9-FD9B2FC62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BD0A-AA3E-4E09-A836-376C890F28E1}" type="datetimeFigureOut">
              <a:rPr lang="es-EC" smtClean="0"/>
              <a:t>16/7/2021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2772CB-EDEC-47C2-8F0F-42C21AB00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EDC95C0-B4BB-4DF9-BB21-117205A6A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B5BE-4567-4423-91AA-9FAB6F0E7FC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25800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84F833-0221-4484-AD3F-728523825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699A1BA-B743-464E-9014-F0F8C73BD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2FEFF-FFC5-43B1-B8F6-CC2D0D471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BD0A-AA3E-4E09-A836-376C890F28E1}" type="datetimeFigureOut">
              <a:rPr lang="es-EC" smtClean="0"/>
              <a:t>16/7/2021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2D317B-5C7D-4968-8187-87142F19C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989A72-A84C-4F49-9BDD-117E91FEC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B5BE-4567-4423-91AA-9FAB6F0E7FC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5589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DA3AEC-E5E2-4421-9DEB-04A3243AA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364319-448A-41E8-91EA-E47E70991C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9BBF710-6E5E-4237-B3C7-B519706D93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1A0E8EF-7378-464D-8FA1-75B5AA4F7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BD0A-AA3E-4E09-A836-376C890F28E1}" type="datetimeFigureOut">
              <a:rPr lang="es-EC" smtClean="0"/>
              <a:t>16/7/2021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670C18-A6DD-47EC-808A-357E54DCA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607C5C-E0CF-45B5-BD98-6E5705D9D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B5BE-4567-4423-91AA-9FAB6F0E7FC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54172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EB0236-AABC-406B-BE08-82FAB6EDB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D00EEF-8718-4155-91E8-F65A98A89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A3A7504-2CBD-49D3-939E-9E9A7A1C01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1637D88-A687-416D-8308-5D1103034A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1BC11AF-260F-41E2-81DC-7DA457952D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476E3C8-DE12-4F68-8DB1-5004664DD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BD0A-AA3E-4E09-A836-376C890F28E1}" type="datetimeFigureOut">
              <a:rPr lang="es-EC" smtClean="0"/>
              <a:t>16/7/2021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E1ABE0A-CF54-44D4-B681-A950A9548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AE45CCE-FD17-4720-BEB8-33417472F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B5BE-4567-4423-91AA-9FAB6F0E7FC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14742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7A92F4-3C19-4E63-AF28-9628F9518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37C1315-2520-4BA3-B344-EE3BF67C3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BD0A-AA3E-4E09-A836-376C890F28E1}" type="datetimeFigureOut">
              <a:rPr lang="es-EC" smtClean="0"/>
              <a:t>16/7/2021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F40EE44-42C8-4BEC-893E-EC9F198A0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B34E6E9-9C77-404A-8F15-CD3B1343B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B5BE-4567-4423-91AA-9FAB6F0E7FC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90113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55A4C24-0538-4AEA-A2CB-4EADFD8D8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BD0A-AA3E-4E09-A836-376C890F28E1}" type="datetimeFigureOut">
              <a:rPr lang="es-EC" smtClean="0"/>
              <a:t>16/7/2021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FB8910B-249D-4B61-9FA6-5C5387E93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446850-EFEE-4F02-B9D5-BF665B3C2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B5BE-4567-4423-91AA-9FAB6F0E7FC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18088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AA6F81-3DFF-4225-8E14-3A4146F5C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6C5E3FE-863E-487A-8075-FDD76DD5D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9675455-1315-4F55-8185-D7FBC5BBD9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8CB719B-9E88-4F72-B17E-693EDBDCE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BD0A-AA3E-4E09-A836-376C890F28E1}" type="datetimeFigureOut">
              <a:rPr lang="es-EC" smtClean="0"/>
              <a:t>16/7/2021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838C447-0964-45DC-848C-80CE5E748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9A34E1E-CD4D-408E-B669-B27D46CFB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B5BE-4567-4423-91AA-9FAB6F0E7FC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13991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A27A33-BC50-404A-94D9-E83CC9421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263C07F-3518-495F-AC6C-2E6403B560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1A7C553-3FA6-4B7C-A525-13F4F48132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0AA467B-483F-446E-8EA1-4B9A1C14D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BD0A-AA3E-4E09-A836-376C890F28E1}" type="datetimeFigureOut">
              <a:rPr lang="es-EC" smtClean="0"/>
              <a:t>16/7/2021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775B8C2-24C6-4964-AF00-A7ACF62A0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D64D634-253E-43AC-A0CB-201206FEC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B5BE-4567-4423-91AA-9FAB6F0E7FC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61467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003748-60E5-4DD3-9662-BDAEA68D7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B65AA96-CE45-4EE3-BA29-2FFBE1EA83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DA4591-1F65-4C91-A6D7-410DD8C2E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BD0A-AA3E-4E09-A836-376C890F28E1}" type="datetimeFigureOut">
              <a:rPr lang="es-EC" smtClean="0"/>
              <a:t>16/7/2021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7043B7-B09B-4C25-880C-24F2738FF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AF3A82-CB7D-494A-96EC-0DA7EB3EC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B5BE-4567-4423-91AA-9FAB6F0E7FC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74558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21547B2-63B2-4601-97A3-5A7E520D9E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B02D5B2-775C-40BD-83CF-CEEA78CD0E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70D4E2-BF34-4ECB-A891-283CA8E38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1BD0A-AA3E-4E09-A836-376C890F28E1}" type="datetimeFigureOut">
              <a:rPr lang="es-EC" smtClean="0"/>
              <a:t>16/7/2021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2A2F78-5CD4-4136-93AB-28D052870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F92242-EBCD-46BD-98A2-9EE707B00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3B5BE-4567-4423-91AA-9FAB6F0E7FC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053043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9D02DDF-B9A7-43A8-AEC6-2F75BC5FE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787316-7F43-4C2A-B414-7A6F08EA79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7B8F0E-352A-46CF-AF88-697D9ADB00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01BD0A-AA3E-4E09-A836-376C890F28E1}" type="datetimeFigureOut">
              <a:rPr lang="es-EC" smtClean="0"/>
              <a:t>16/7/2021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E999A03-EAA4-4F8E-B2F5-C4F35CDA99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D21685-3DA6-4947-8FC4-76C1BF6BD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E3B5BE-4567-4423-91AA-9FAB6F0E7FC4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99587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B0B617-C257-4359-AFDC-0E5975183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865632"/>
            <a:ext cx="4368602" cy="1416578"/>
          </a:xfrm>
        </p:spPr>
        <p:txBody>
          <a:bodyPr anchor="b">
            <a:normAutofit/>
          </a:bodyPr>
          <a:lstStyle/>
          <a:p>
            <a:pPr algn="ctr"/>
            <a:r>
              <a:rPr lang="es-EC" sz="8900" dirty="0" err="1"/>
              <a:t>ITIL</a:t>
            </a:r>
            <a:r>
              <a:rPr lang="es-EC" sz="8900" dirty="0"/>
              <a:t> 4</a:t>
            </a:r>
            <a:endParaRPr lang="es-EC" sz="42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381CDC-C1E2-46D4-B108-EE574E07B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282210"/>
            <a:ext cx="4670097" cy="39113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C" sz="3600" b="1" dirty="0">
                <a:solidFill>
                  <a:srgbClr val="FF0000"/>
                </a:solidFill>
              </a:rPr>
              <a:t>Prácticas de Gestión General</a:t>
            </a:r>
          </a:p>
          <a:p>
            <a:endParaRPr lang="es-EC" sz="2200" dirty="0"/>
          </a:p>
          <a:p>
            <a:endParaRPr lang="es-EC" sz="2200" b="1" dirty="0"/>
          </a:p>
        </p:txBody>
      </p:sp>
      <p:pic>
        <p:nvPicPr>
          <p:cNvPr id="5" name="Imagen 4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491FAAA3-FD84-442A-9FAE-28B14D927F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66" r="41994" b="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8502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B0B617-C257-4359-AFDC-0E5975183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865632"/>
            <a:ext cx="4368602" cy="1416578"/>
          </a:xfrm>
        </p:spPr>
        <p:txBody>
          <a:bodyPr anchor="b">
            <a:normAutofit/>
          </a:bodyPr>
          <a:lstStyle/>
          <a:p>
            <a:pPr algn="ctr"/>
            <a:r>
              <a:rPr lang="es-EC" sz="8900" dirty="0" err="1"/>
              <a:t>ITIL</a:t>
            </a:r>
            <a:r>
              <a:rPr lang="es-EC" sz="8900" dirty="0"/>
              <a:t> 4</a:t>
            </a:r>
            <a:endParaRPr lang="es-EC" sz="42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381CDC-C1E2-46D4-B108-EE574E07B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282210"/>
            <a:ext cx="4670097" cy="39113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C" sz="3600" b="1" dirty="0">
                <a:solidFill>
                  <a:srgbClr val="FF0000"/>
                </a:solidFill>
              </a:rPr>
              <a:t>Prácticas de Gestión General</a:t>
            </a:r>
          </a:p>
          <a:p>
            <a:pPr marL="0" indent="0">
              <a:buNone/>
            </a:pPr>
            <a:endParaRPr lang="es-EC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s-EC" sz="3600" b="1" dirty="0">
                <a:solidFill>
                  <a:srgbClr val="FF0000"/>
                </a:solidFill>
              </a:rPr>
              <a:t>1. Gestión de la Disponibilidad</a:t>
            </a:r>
          </a:p>
          <a:p>
            <a:endParaRPr lang="es-EC" sz="2200" dirty="0"/>
          </a:p>
          <a:p>
            <a:endParaRPr lang="es-EC" sz="2200" b="1" dirty="0"/>
          </a:p>
        </p:txBody>
      </p:sp>
      <p:pic>
        <p:nvPicPr>
          <p:cNvPr id="5" name="Imagen 4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491FAAA3-FD84-442A-9FAE-28B14D927F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66" r="41994" b="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  <p:pic>
        <p:nvPicPr>
          <p:cNvPr id="2050" name="Picture 2" descr="Imágenes de Fondo Arquitectura | Vectores, fotos de stock y PSD gratuitos">
            <a:extLst>
              <a:ext uri="{FF2B5EF4-FFF2-40B4-BE49-F238E27FC236}">
                <a16:creationId xmlns:a16="http://schemas.microsoft.com/office/drawing/2014/main" id="{55C539FB-B9B6-4452-BF04-D6B4455FE5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9769" y="1"/>
            <a:ext cx="6878776" cy="6878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3684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 la Arquitectura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265"/>
            <a:ext cx="10515600" cy="3675352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Visión General</a:t>
            </a:r>
          </a:p>
          <a:p>
            <a:endParaRPr lang="es-ES" sz="24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pPr marL="457200" lvl="1" indent="0" algn="just">
              <a:buNone/>
            </a:pPr>
            <a:r>
              <a:rPr lang="es-EC" dirty="0"/>
              <a:t>El principal objetivo de la Gestión de la Arquitectura es proporcionar una comprensión de todos los elementos que conforman una organización y como estos se interrelacionan, lo que permite que la organización pueda alcanzar sus objetivos de manera efectiva</a:t>
            </a:r>
          </a:p>
          <a:p>
            <a:pPr marL="457200" lvl="1" indent="0" algn="just">
              <a:buNone/>
            </a:pPr>
            <a:endParaRPr lang="es-EC" sz="2800" dirty="0"/>
          </a:p>
          <a:p>
            <a:endParaRPr lang="es-EC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743965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 la Arquitectura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264"/>
            <a:ext cx="10515600" cy="4762031"/>
          </a:xfrm>
        </p:spPr>
        <p:txBody>
          <a:bodyPr>
            <a:normAutofit fontScale="92500"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Tipos de arquitectura</a:t>
            </a:r>
          </a:p>
          <a:p>
            <a:endParaRPr lang="es-ES" sz="24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pPr marL="457200" lvl="1" indent="0" algn="just">
              <a:buNone/>
            </a:pPr>
            <a:r>
              <a:rPr lang="es-EC" dirty="0"/>
              <a:t>Dentro de </a:t>
            </a:r>
            <a:r>
              <a:rPr lang="es-EC" dirty="0" err="1"/>
              <a:t>ITIL</a:t>
            </a:r>
            <a:r>
              <a:rPr lang="es-EC" dirty="0"/>
              <a:t> se manejan diferentes conceptos de arquitectura :</a:t>
            </a:r>
          </a:p>
          <a:p>
            <a:pPr lvl="1" algn="just"/>
            <a:r>
              <a:rPr lang="es-EC" b="1" dirty="0">
                <a:solidFill>
                  <a:srgbClr val="FF0000"/>
                </a:solidFill>
              </a:rPr>
              <a:t>Arquitectura Empresarial .- </a:t>
            </a:r>
            <a:r>
              <a:rPr lang="es-EC" dirty="0"/>
              <a:t>la cual especifica la alineación de las capacidades de la organización con las actividades necesarias para crear valor a los clientes.</a:t>
            </a:r>
          </a:p>
          <a:p>
            <a:pPr lvl="1" algn="just"/>
            <a:r>
              <a:rPr lang="es-EC" b="1" dirty="0">
                <a:solidFill>
                  <a:srgbClr val="FF0000"/>
                </a:solidFill>
              </a:rPr>
              <a:t>Arquitectura del servicio .- </a:t>
            </a:r>
            <a:r>
              <a:rPr lang="es-EC" dirty="0"/>
              <a:t>habla de un mapa de todos los servicios brindados con sus </a:t>
            </a:r>
            <a:r>
              <a:rPr lang="es-EC" dirty="0" err="1"/>
              <a:t>iteracciones</a:t>
            </a:r>
            <a:r>
              <a:rPr lang="es-EC" dirty="0"/>
              <a:t>, modelos usados y su dinámica propia.</a:t>
            </a:r>
          </a:p>
          <a:p>
            <a:pPr lvl="1" algn="just"/>
            <a:r>
              <a:rPr lang="es-EC" b="1" dirty="0">
                <a:solidFill>
                  <a:srgbClr val="FF0000"/>
                </a:solidFill>
              </a:rPr>
              <a:t>Arquitectura tecnológica .- </a:t>
            </a:r>
            <a:r>
              <a:rPr lang="es-EC" dirty="0"/>
              <a:t>es la infraestructura de software y hardware necesaria para respaldar todos los productos y servicios</a:t>
            </a:r>
          </a:p>
          <a:p>
            <a:pPr lvl="1" algn="just"/>
            <a:r>
              <a:rPr lang="es-EC" b="1" dirty="0">
                <a:solidFill>
                  <a:srgbClr val="FF0000"/>
                </a:solidFill>
              </a:rPr>
              <a:t>Arquitectura ambiental .- </a:t>
            </a:r>
            <a:r>
              <a:rPr lang="es-EC" dirty="0"/>
              <a:t>es la que gestiona los factores externos que afectan a la organización  y que impulsan los cambios.</a:t>
            </a:r>
          </a:p>
          <a:p>
            <a:pPr lvl="1" algn="just"/>
            <a:r>
              <a:rPr lang="es-EC" b="1" dirty="0">
                <a:solidFill>
                  <a:srgbClr val="FF0000"/>
                </a:solidFill>
              </a:rPr>
              <a:t>Arquitectura de sistemas, datos y aplicaciones .- </a:t>
            </a:r>
            <a:r>
              <a:rPr lang="es-EC" dirty="0"/>
              <a:t>como se administran y comparten los recursos de información en beneficio de la organización.</a:t>
            </a:r>
          </a:p>
          <a:p>
            <a:pPr marL="457200" lvl="1" indent="0" algn="just">
              <a:buNone/>
            </a:pPr>
            <a:endParaRPr lang="es-EC" dirty="0"/>
          </a:p>
          <a:p>
            <a:pPr marL="457200" lvl="1" indent="0" algn="just">
              <a:buNone/>
            </a:pPr>
            <a:endParaRPr lang="es-EC" sz="2800" dirty="0"/>
          </a:p>
          <a:p>
            <a:endParaRPr lang="es-EC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971552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 la Arquitectura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265"/>
            <a:ext cx="10515600" cy="1263458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Beneficios de aplicar la Gestió</a:t>
            </a:r>
            <a:r>
              <a:rPr lang="es-ES" sz="3200" b="1" dirty="0">
                <a:solidFill>
                  <a:srgbClr val="FF0000"/>
                </a:solidFill>
                <a:latin typeface="Open Sans" panose="020B0604020202020204" pitchFamily="34" charset="0"/>
              </a:rPr>
              <a:t>n de la Arquitectura</a:t>
            </a:r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endParaRPr lang="es-ES" sz="24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pPr marL="457200" lvl="1" indent="0" algn="just">
              <a:buNone/>
            </a:pPr>
            <a:endParaRPr lang="es-EC" dirty="0"/>
          </a:p>
          <a:p>
            <a:pPr marL="457200" lvl="1" indent="0" algn="just">
              <a:buNone/>
            </a:pPr>
            <a:endParaRPr lang="es-EC" sz="2800" dirty="0"/>
          </a:p>
          <a:p>
            <a:endParaRPr lang="es-EC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F0DC6D8-2807-4733-BEF5-1D82881EAEEE}"/>
              </a:ext>
            </a:extLst>
          </p:cNvPr>
          <p:cNvSpPr txBox="1"/>
          <p:nvPr/>
        </p:nvSpPr>
        <p:spPr>
          <a:xfrm>
            <a:off x="838200" y="2966615"/>
            <a:ext cx="447923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C" dirty="0"/>
              <a:t>Permitirá a una organización gestionar cambios complejos de forma estructurada y ágil.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C" dirty="0"/>
              <a:t>Se tiene el control sobre negocios, servicios, información, tecnología y medio ambiente.</a:t>
            </a:r>
          </a:p>
          <a:p>
            <a:endParaRPr lang="es-EC" dirty="0"/>
          </a:p>
        </p:txBody>
      </p:sp>
      <p:pic>
        <p:nvPicPr>
          <p:cNvPr id="1026" name="Picture 2" descr="3 sugerencias para ser positivo, en un espacio laboral negativo – Códigos  del Ser">
            <a:extLst>
              <a:ext uri="{FF2B5EF4-FFF2-40B4-BE49-F238E27FC236}">
                <a16:creationId xmlns:a16="http://schemas.microsoft.com/office/drawing/2014/main" id="{165CE9BC-5040-4D3E-A78C-DC8E39269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4160" y="471487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ETODOS ALTERNATIVOS DE SOLUCION DE CONFLICTOS : PORQUE VEMOS EL CONFLICTO  COMO NEGATIVO-COMO TRANSFORMAR ESTA VISION EN POSITIVO">
            <a:extLst>
              <a:ext uri="{FF2B5EF4-FFF2-40B4-BE49-F238E27FC236}">
                <a16:creationId xmlns:a16="http://schemas.microsoft.com/office/drawing/2014/main" id="{43072218-1BD5-4DC4-9A50-38E3E117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4054" y="2243994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43A5F841-4846-417A-B97E-93CC265195B8}"/>
              </a:ext>
            </a:extLst>
          </p:cNvPr>
          <p:cNvSpPr txBox="1"/>
          <p:nvPr/>
        </p:nvSpPr>
        <p:spPr>
          <a:xfrm>
            <a:off x="6283395" y="4387119"/>
            <a:ext cx="447923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C" dirty="0"/>
              <a:t>Contratos con terceros sin control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C" dirty="0"/>
              <a:t>Procesos en silos (aislados)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C" dirty="0"/>
              <a:t>Productos y servicios personalizados innecesarios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EC" dirty="0"/>
              <a:t>Panoramas complejos donde cualquier cambio es difícil de implementar e genera alto riesgo.	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s-EC" dirty="0"/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924641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 la Arquitectura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89A056B-1A38-4962-B948-FB43F2FD0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995" y="1082040"/>
            <a:ext cx="10039765" cy="567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357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B0B617-C257-4359-AFDC-0E5975183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865632"/>
            <a:ext cx="4368602" cy="1416578"/>
          </a:xfrm>
        </p:spPr>
        <p:txBody>
          <a:bodyPr anchor="b">
            <a:normAutofit/>
          </a:bodyPr>
          <a:lstStyle/>
          <a:p>
            <a:pPr algn="ctr"/>
            <a:r>
              <a:rPr lang="es-EC" sz="8900" dirty="0" err="1"/>
              <a:t>ITIL</a:t>
            </a:r>
            <a:r>
              <a:rPr lang="es-EC" sz="8900" dirty="0"/>
              <a:t> 4</a:t>
            </a:r>
            <a:endParaRPr lang="es-EC" sz="42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381CDC-C1E2-46D4-B108-EE574E07B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282210"/>
            <a:ext cx="4670097" cy="39113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C" sz="3600" b="1" dirty="0">
                <a:solidFill>
                  <a:srgbClr val="FF0000"/>
                </a:solidFill>
              </a:rPr>
              <a:t>Prácticas de Gestión General</a:t>
            </a:r>
          </a:p>
          <a:p>
            <a:pPr marL="0" indent="0">
              <a:buNone/>
            </a:pPr>
            <a:endParaRPr lang="es-EC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s-EC" sz="3600" b="1" dirty="0">
                <a:solidFill>
                  <a:srgbClr val="FF0000"/>
                </a:solidFill>
              </a:rPr>
              <a:t>2. Gestión de la Mejora Continua </a:t>
            </a:r>
          </a:p>
          <a:p>
            <a:endParaRPr lang="es-EC" sz="2200" dirty="0"/>
          </a:p>
          <a:p>
            <a:endParaRPr lang="es-EC" sz="2200" b="1" dirty="0"/>
          </a:p>
        </p:txBody>
      </p:sp>
      <p:pic>
        <p:nvPicPr>
          <p:cNvPr id="3076" name="Picture 4" descr="Mejora continua en las Pymes – Amazing Group">
            <a:extLst>
              <a:ext uri="{FF2B5EF4-FFF2-40B4-BE49-F238E27FC236}">
                <a16:creationId xmlns:a16="http://schemas.microsoft.com/office/drawing/2014/main" id="{4B2331F5-4CAD-4696-8599-93450B0144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8"/>
          <a:stretch/>
        </p:blipFill>
        <p:spPr bwMode="auto">
          <a:xfrm>
            <a:off x="5420139" y="664433"/>
            <a:ext cx="6771862" cy="5513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4937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 la Mejora Continua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264"/>
            <a:ext cx="10515600" cy="4042947"/>
          </a:xfrm>
        </p:spPr>
        <p:txBody>
          <a:bodyPr>
            <a:normAutofit fontScale="92500"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Visión General</a:t>
            </a:r>
          </a:p>
          <a:p>
            <a:endParaRPr lang="es-ES" sz="2400" b="1" i="0" dirty="0">
              <a:solidFill>
                <a:srgbClr val="FF0000"/>
              </a:solidFill>
              <a:effectLst/>
            </a:endParaRPr>
          </a:p>
          <a:p>
            <a:pPr lvl="1" algn="just"/>
            <a:r>
              <a:rPr lang="es-EC" sz="2800" dirty="0"/>
              <a:t>El principal objetivo de la Gestión de la Arquitectura es alinear las prácticas y servicios con las necesidades cambiantes del negocio a través de la identificación y la mejora continua de todos los elementos involucrados en la gestión efectiva de productos y servicios.</a:t>
            </a:r>
          </a:p>
          <a:p>
            <a:pPr lvl="1" algn="just"/>
            <a:endParaRPr lang="es-EC" sz="2800" dirty="0"/>
          </a:p>
          <a:p>
            <a:pPr lvl="1" algn="just"/>
            <a:r>
              <a:rPr lang="es-EC" sz="2800" dirty="0"/>
              <a:t>El modelo de Mejora continua puede aplicarse a cualquier tipo de mejora. Por ejemplo a cambios organizativos de alto nivel, así como servicios individuales y elementos de configuración </a:t>
            </a:r>
          </a:p>
          <a:p>
            <a:endParaRPr lang="es-EC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986985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 la Mejora Continua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4"/>
            <a:ext cx="10326858" cy="2445775"/>
          </a:xfrm>
        </p:spPr>
        <p:txBody>
          <a:bodyPr>
            <a:normAutofit lnSpcReduction="10000"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Visión General</a:t>
            </a:r>
          </a:p>
          <a:p>
            <a:endParaRPr lang="es-ES" sz="2400" b="1" i="0" dirty="0">
              <a:solidFill>
                <a:srgbClr val="FF0000"/>
              </a:solidFill>
              <a:effectLst/>
            </a:endParaRPr>
          </a:p>
          <a:p>
            <a:pPr lvl="1" algn="just"/>
            <a:r>
              <a:rPr lang="es-EC" sz="2800" dirty="0"/>
              <a:t>Es un modelo iterativo, es decir que divide el trabajo en partes manejables con objetivo separados que pueden lograrse de manera incremental.</a:t>
            </a:r>
          </a:p>
          <a:p>
            <a:pPr lvl="1" algn="just"/>
            <a:r>
              <a:rPr lang="es-EC" sz="2800" dirty="0"/>
              <a:t>En este modelo se utilizan 7 pasos para su ejecución:</a:t>
            </a:r>
          </a:p>
          <a:p>
            <a:pPr lvl="1" algn="just"/>
            <a:endParaRPr lang="es-EC" sz="2800" dirty="0"/>
          </a:p>
          <a:p>
            <a:endParaRPr lang="es-EC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8085658-554A-40FE-B624-A7B73F8DB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561" y="4058039"/>
            <a:ext cx="8634559" cy="237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344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 la Mejora Continua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4"/>
            <a:ext cx="10326858" cy="2445775"/>
          </a:xfrm>
        </p:spPr>
        <p:txBody>
          <a:bodyPr>
            <a:normAutofit fontScale="92500"/>
          </a:bodyPr>
          <a:lstStyle/>
          <a:p>
            <a:r>
              <a:rPr lang="es-ES" sz="26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1. Cual es la visión?</a:t>
            </a:r>
            <a:endParaRPr lang="es-ES" sz="2400" b="1" i="0" dirty="0">
              <a:solidFill>
                <a:srgbClr val="FF0000"/>
              </a:solidFill>
              <a:effectLst/>
            </a:endParaRPr>
          </a:p>
          <a:p>
            <a:pPr lvl="1" algn="just"/>
            <a:r>
              <a:rPr lang="es-EC" sz="2600" dirty="0"/>
              <a:t>Cada iniciativa de mejora debe soportar las metas y objetivos de la organización </a:t>
            </a:r>
          </a:p>
          <a:p>
            <a:pPr lvl="1" algn="just"/>
            <a:r>
              <a:rPr lang="es-EC" sz="2600" dirty="0"/>
              <a:t>El primer paso es definir la visión de la iniciativa</a:t>
            </a:r>
          </a:p>
          <a:p>
            <a:pPr lvl="1" algn="just"/>
            <a:r>
              <a:rPr lang="es-EC" sz="2600" dirty="0"/>
              <a:t>Provee un contexto para todas las decisiones subsecuentes</a:t>
            </a:r>
          </a:p>
          <a:p>
            <a:pPr lvl="1" algn="just"/>
            <a:r>
              <a:rPr lang="es-EC" sz="2600" dirty="0"/>
              <a:t>Asocia las acciones individuales con la decisión futura de la organización </a:t>
            </a:r>
          </a:p>
          <a:p>
            <a:pPr lvl="1" algn="just"/>
            <a:endParaRPr lang="es-EC" sz="2600" dirty="0"/>
          </a:p>
          <a:p>
            <a:endParaRPr lang="es-EC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0" name="Marcador de contenido 6">
            <a:extLst>
              <a:ext uri="{FF2B5EF4-FFF2-40B4-BE49-F238E27FC236}">
                <a16:creationId xmlns:a16="http://schemas.microsoft.com/office/drawing/2014/main" id="{61369F62-718E-457F-936B-1EED8BC9652D}"/>
              </a:ext>
            </a:extLst>
          </p:cNvPr>
          <p:cNvSpPr txBox="1">
            <a:spLocks/>
          </p:cNvSpPr>
          <p:nvPr/>
        </p:nvSpPr>
        <p:spPr>
          <a:xfrm>
            <a:off x="1020318" y="4058039"/>
            <a:ext cx="10326858" cy="2445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600" b="1" dirty="0">
                <a:solidFill>
                  <a:srgbClr val="FF0000"/>
                </a:solidFill>
                <a:latin typeface="Open Sans" panose="020B0604020202020204" pitchFamily="34" charset="0"/>
              </a:rPr>
              <a:t>2. Donde nos encontramos ahora?</a:t>
            </a:r>
            <a:endParaRPr lang="es-ES" sz="2400" b="1" dirty="0">
              <a:solidFill>
                <a:srgbClr val="FF0000"/>
              </a:solidFill>
            </a:endParaRPr>
          </a:p>
          <a:p>
            <a:pPr lvl="1" algn="just"/>
            <a:r>
              <a:rPr lang="es-EC" sz="2600" dirty="0"/>
              <a:t>El éxito depende en el entendimiento claro y preciso del punto de partida y el impacto</a:t>
            </a:r>
          </a:p>
          <a:p>
            <a:pPr lvl="1" algn="just"/>
            <a:r>
              <a:rPr lang="es-EC" sz="2600" dirty="0"/>
              <a:t>Un viaje de mejora del punto A al B necesita de una clara definición del punto A.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797646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 la Mejora Continua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4"/>
            <a:ext cx="10326858" cy="2445775"/>
          </a:xfrm>
        </p:spPr>
        <p:txBody>
          <a:bodyPr>
            <a:normAutofit/>
          </a:bodyPr>
          <a:lstStyle/>
          <a:p>
            <a:r>
              <a:rPr lang="es-ES" sz="2600" b="1" dirty="0">
                <a:solidFill>
                  <a:srgbClr val="FF0000"/>
                </a:solidFill>
                <a:latin typeface="Open Sans" panose="020B0604020202020204" pitchFamily="34" charset="0"/>
              </a:rPr>
              <a:t>3</a:t>
            </a:r>
            <a:r>
              <a:rPr lang="es-ES" sz="26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. Dónde queremos llegar?</a:t>
            </a:r>
            <a:endParaRPr lang="es-ES" sz="2400" b="1" i="0" dirty="0">
              <a:solidFill>
                <a:srgbClr val="FF0000"/>
              </a:solidFill>
              <a:effectLst/>
            </a:endParaRPr>
          </a:p>
          <a:p>
            <a:pPr lvl="1" algn="just"/>
            <a:r>
              <a:rPr lang="es-EC" sz="2600" dirty="0"/>
              <a:t>Un viaje de mejora del Punto A al B necesita de una clara definición del punto B</a:t>
            </a:r>
          </a:p>
          <a:p>
            <a:pPr lvl="1" algn="just"/>
            <a:r>
              <a:rPr lang="es-EC" sz="2600" dirty="0"/>
              <a:t>El viaje de mejora no puede ser mapeado si no es claro el destino a donde se quiere llegar.</a:t>
            </a:r>
          </a:p>
          <a:p>
            <a:pPr lvl="1" algn="just"/>
            <a:endParaRPr lang="es-EC" sz="2600" dirty="0"/>
          </a:p>
          <a:p>
            <a:endParaRPr lang="es-EC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0" name="Marcador de contenido 6">
            <a:extLst>
              <a:ext uri="{FF2B5EF4-FFF2-40B4-BE49-F238E27FC236}">
                <a16:creationId xmlns:a16="http://schemas.microsoft.com/office/drawing/2014/main" id="{61369F62-718E-457F-936B-1EED8BC9652D}"/>
              </a:ext>
            </a:extLst>
          </p:cNvPr>
          <p:cNvSpPr txBox="1">
            <a:spLocks/>
          </p:cNvSpPr>
          <p:nvPr/>
        </p:nvSpPr>
        <p:spPr>
          <a:xfrm>
            <a:off x="1020318" y="4058039"/>
            <a:ext cx="10326858" cy="2445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600" b="1" dirty="0">
                <a:solidFill>
                  <a:srgbClr val="FF0000"/>
                </a:solidFill>
                <a:latin typeface="Open Sans" panose="020B0604020202020204" pitchFamily="34" charset="0"/>
              </a:rPr>
              <a:t>4. Cómo llegamos </a:t>
            </a:r>
            <a:r>
              <a:rPr lang="es-ES" sz="2600" b="1" dirty="0" err="1">
                <a:solidFill>
                  <a:srgbClr val="FF0000"/>
                </a:solidFill>
                <a:latin typeface="Open Sans" panose="020B0604020202020204" pitchFamily="34" charset="0"/>
              </a:rPr>
              <a:t>alli</a:t>
            </a:r>
            <a:r>
              <a:rPr lang="es-ES" sz="2600" b="1" dirty="0">
                <a:solidFill>
                  <a:srgbClr val="FF0000"/>
                </a:solidFill>
                <a:latin typeface="Open Sans" panose="020B0604020202020204" pitchFamily="34" charset="0"/>
              </a:rPr>
              <a:t>??</a:t>
            </a:r>
            <a:endParaRPr lang="es-ES" sz="2400" b="1" dirty="0">
              <a:solidFill>
                <a:srgbClr val="FF0000"/>
              </a:solidFill>
            </a:endParaRPr>
          </a:p>
          <a:p>
            <a:pPr lvl="1" algn="just"/>
            <a:r>
              <a:rPr lang="es-EC" sz="2600" dirty="0"/>
              <a:t>De manera directa y sencilla para lograr una mejora simple</a:t>
            </a:r>
          </a:p>
          <a:p>
            <a:pPr lvl="1" algn="just"/>
            <a:r>
              <a:rPr lang="es-EC" sz="2600" dirty="0"/>
              <a:t>Si no es simple, diseñar experimentos para probar las opciones </a:t>
            </a:r>
          </a:p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979759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 la Mejora Continua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4"/>
            <a:ext cx="10326858" cy="2445775"/>
          </a:xfrm>
        </p:spPr>
        <p:txBody>
          <a:bodyPr>
            <a:normAutofit fontScale="92500" lnSpcReduction="10000"/>
          </a:bodyPr>
          <a:lstStyle/>
          <a:p>
            <a:r>
              <a:rPr lang="es-ES" sz="26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5. Tomar medidas</a:t>
            </a:r>
            <a:endParaRPr lang="es-ES" sz="2400" b="1" i="0" dirty="0">
              <a:solidFill>
                <a:srgbClr val="FF0000"/>
              </a:solidFill>
              <a:effectLst/>
            </a:endParaRPr>
          </a:p>
          <a:p>
            <a:pPr lvl="1" algn="just"/>
            <a:r>
              <a:rPr lang="es-EC" sz="2600" dirty="0"/>
              <a:t>El plan de mejora es puesto en práctica.</a:t>
            </a:r>
          </a:p>
          <a:p>
            <a:pPr lvl="1" algn="just"/>
            <a:r>
              <a:rPr lang="es-EC" sz="2600" dirty="0"/>
              <a:t>Esto puede incluir</a:t>
            </a:r>
          </a:p>
          <a:p>
            <a:pPr lvl="1" algn="just"/>
            <a:r>
              <a:rPr lang="es-EC" sz="2600" dirty="0"/>
              <a:t>Enfoque en forma de cascada, diseño experto detallado seguido de la construcción</a:t>
            </a:r>
          </a:p>
          <a:p>
            <a:pPr lvl="1" algn="just"/>
            <a:r>
              <a:rPr lang="es-EC" sz="2600" dirty="0"/>
              <a:t>Enfoque ágil, experimentando iteraciones, cambiando direcciones o incluso regresando a pasos previos</a:t>
            </a:r>
          </a:p>
          <a:p>
            <a:pPr lvl="1" algn="just"/>
            <a:endParaRPr lang="es-EC" sz="2600" dirty="0"/>
          </a:p>
          <a:p>
            <a:endParaRPr lang="es-EC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10" name="Marcador de contenido 6">
            <a:extLst>
              <a:ext uri="{FF2B5EF4-FFF2-40B4-BE49-F238E27FC236}">
                <a16:creationId xmlns:a16="http://schemas.microsoft.com/office/drawing/2014/main" id="{61369F62-718E-457F-936B-1EED8BC9652D}"/>
              </a:ext>
            </a:extLst>
          </p:cNvPr>
          <p:cNvSpPr txBox="1">
            <a:spLocks/>
          </p:cNvSpPr>
          <p:nvPr/>
        </p:nvSpPr>
        <p:spPr>
          <a:xfrm>
            <a:off x="1020318" y="4058039"/>
            <a:ext cx="10326858" cy="2445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400" b="1" dirty="0">
                <a:solidFill>
                  <a:srgbClr val="FF0000"/>
                </a:solidFill>
                <a:latin typeface="Open Sans" panose="020B0604020202020204" pitchFamily="34" charset="0"/>
              </a:rPr>
              <a:t>6. Hemos llegamos </a:t>
            </a:r>
            <a:r>
              <a:rPr lang="es-ES" sz="2400" b="1" dirty="0" err="1">
                <a:solidFill>
                  <a:srgbClr val="FF0000"/>
                </a:solidFill>
                <a:latin typeface="Open Sans" panose="020B0604020202020204" pitchFamily="34" charset="0"/>
              </a:rPr>
              <a:t>alli</a:t>
            </a:r>
            <a:r>
              <a:rPr lang="es-ES" sz="2400" b="1" dirty="0">
                <a:solidFill>
                  <a:srgbClr val="FF0000"/>
                </a:solidFill>
                <a:latin typeface="Open Sans" panose="020B0604020202020204" pitchFamily="34" charset="0"/>
              </a:rPr>
              <a:t>?</a:t>
            </a:r>
            <a:endParaRPr lang="es-ES" sz="2000" b="1" dirty="0">
              <a:solidFill>
                <a:srgbClr val="FF0000"/>
              </a:solidFill>
            </a:endParaRPr>
          </a:p>
          <a:p>
            <a:pPr lvl="1" algn="just"/>
            <a:r>
              <a:rPr lang="es-EC" dirty="0"/>
              <a:t>Con bastante frecuencia se asume que los beneficios esperados han sido alcanzados</a:t>
            </a:r>
          </a:p>
          <a:p>
            <a:pPr lvl="1" algn="just"/>
            <a:r>
              <a:rPr lang="es-EC" dirty="0"/>
              <a:t>El camino hacia la mejora esta lleno de obstáculos, por lo que el éxito debe ser validado. </a:t>
            </a:r>
          </a:p>
          <a:p>
            <a:endParaRPr lang="es-EC" sz="2400" dirty="0"/>
          </a:p>
        </p:txBody>
      </p:sp>
    </p:spTree>
    <p:extLst>
      <p:ext uri="{BB962C8B-B14F-4D97-AF65-F5344CB8AC3E}">
        <p14:creationId xmlns:p14="http://schemas.microsoft.com/office/powerpoint/2010/main" val="603892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 la Mejora Continua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4"/>
            <a:ext cx="10326858" cy="2445775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Resumen</a:t>
            </a:r>
          </a:p>
          <a:p>
            <a:endParaRPr lang="es-ES" sz="2400" b="1" i="0" dirty="0">
              <a:solidFill>
                <a:srgbClr val="FF0000"/>
              </a:solidFill>
              <a:effectLst/>
            </a:endParaRPr>
          </a:p>
          <a:p>
            <a:endParaRPr lang="es-EC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CE58A7F-2E89-450E-B5A0-2C0E6AAF1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" y="2222205"/>
            <a:ext cx="11499661" cy="3671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538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 la Mejora Continua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4"/>
            <a:ext cx="10326858" cy="5080084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Resumen</a:t>
            </a:r>
          </a:p>
          <a:p>
            <a:pPr marL="0" indent="0">
              <a:buNone/>
            </a:pPr>
            <a:r>
              <a:rPr lang="es-ES" sz="2400" b="1" dirty="0">
                <a:latin typeface="Open Sans" panose="020B0604020202020204" pitchFamily="34" charset="0"/>
              </a:rPr>
              <a:t>Las actividades claves que forman parte de las practicas de mejora continua incluyen:</a:t>
            </a:r>
          </a:p>
          <a:p>
            <a:pPr lvl="1"/>
            <a:r>
              <a:rPr lang="es-ES" sz="2000" b="1" i="0" dirty="0">
                <a:effectLst/>
                <a:latin typeface="Open Sans" panose="020B0604020202020204" pitchFamily="34" charset="0"/>
              </a:rPr>
              <a:t>Fomentar la mejora continua en toda la organización</a:t>
            </a:r>
          </a:p>
          <a:p>
            <a:pPr lvl="1"/>
            <a:r>
              <a:rPr lang="es-ES" sz="2000" b="1" dirty="0">
                <a:latin typeface="Open Sans" panose="020B0604020202020204" pitchFamily="34" charset="0"/>
              </a:rPr>
              <a:t>Definir quien será responsable por el seguimiento a las acciones de mejora.</a:t>
            </a:r>
          </a:p>
          <a:p>
            <a:pPr lvl="1"/>
            <a:r>
              <a:rPr lang="es-ES" sz="2000" b="1" i="0" dirty="0">
                <a:effectLst/>
                <a:latin typeface="Open Sans" panose="020B0604020202020204" pitchFamily="34" charset="0"/>
              </a:rPr>
              <a:t>Determinar las herramientas y métodos para aplicar la mejora continua</a:t>
            </a:r>
          </a:p>
          <a:p>
            <a:pPr lvl="1"/>
            <a:r>
              <a:rPr lang="es-ES" sz="2000" b="1" dirty="0">
                <a:latin typeface="Open Sans" panose="020B0604020202020204" pitchFamily="34" charset="0"/>
              </a:rPr>
              <a:t>Asegurar tiempo y presupuesto para la mejora continua</a:t>
            </a:r>
          </a:p>
          <a:p>
            <a:pPr lvl="1"/>
            <a:r>
              <a:rPr lang="es-ES" sz="2000" b="1" dirty="0">
                <a:latin typeface="Open Sans" panose="020B0604020202020204" pitchFamily="34" charset="0"/>
              </a:rPr>
              <a:t>Identificar y registrar oportunidades de mejora</a:t>
            </a:r>
          </a:p>
          <a:p>
            <a:pPr lvl="1"/>
            <a:r>
              <a:rPr lang="es-ES" sz="2000" b="1" dirty="0">
                <a:latin typeface="Open Sans" panose="020B0604020202020204" pitchFamily="34" charset="0"/>
              </a:rPr>
              <a:t>Evaluar y priorizar oportunidades de mejora</a:t>
            </a:r>
          </a:p>
          <a:p>
            <a:pPr lvl="1"/>
            <a:r>
              <a:rPr lang="es-ES" sz="2000" b="1" dirty="0">
                <a:latin typeface="Open Sans" panose="020B0604020202020204" pitchFamily="34" charset="0"/>
              </a:rPr>
              <a:t>Hacer casos de negocio para acciones de mejora</a:t>
            </a:r>
          </a:p>
          <a:p>
            <a:pPr lvl="1"/>
            <a:r>
              <a:rPr lang="es-ES" sz="2000" b="1" dirty="0">
                <a:latin typeface="Open Sans" panose="020B0604020202020204" pitchFamily="34" charset="0"/>
              </a:rPr>
              <a:t>Planificar e implementar las mejoras</a:t>
            </a:r>
          </a:p>
          <a:p>
            <a:pPr lvl="1"/>
            <a:r>
              <a:rPr lang="es-ES" sz="2000" b="1" dirty="0">
                <a:latin typeface="Open Sans" panose="020B0604020202020204" pitchFamily="34" charset="0"/>
              </a:rPr>
              <a:t>Medir y evaluar los resultados de la mejora</a:t>
            </a:r>
          </a:p>
          <a:p>
            <a:pPr lvl="1"/>
            <a:r>
              <a:rPr lang="es-ES" sz="2000" b="1" dirty="0">
                <a:latin typeface="Open Sans" panose="020B0604020202020204" pitchFamily="34" charset="0"/>
              </a:rPr>
              <a:t>Coordinar las acciones de mejora en toda la organización </a:t>
            </a:r>
          </a:p>
          <a:p>
            <a:pPr lvl="1"/>
            <a:endParaRPr lang="es-ES" sz="2000" b="1" i="0" dirty="0">
              <a:effectLst/>
              <a:latin typeface="Open Sans" panose="020B0604020202020204" pitchFamily="34" charset="0"/>
            </a:endParaRPr>
          </a:p>
          <a:p>
            <a:endParaRPr lang="es-ES" sz="2400" b="1" i="0" dirty="0">
              <a:solidFill>
                <a:srgbClr val="FF0000"/>
              </a:solidFill>
              <a:effectLst/>
            </a:endParaRPr>
          </a:p>
          <a:p>
            <a:endParaRPr lang="es-EC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56881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 la Mejora Continua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B46FA4D-EB14-400F-AA7B-6E874EEA2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96" y="1082040"/>
            <a:ext cx="10177007" cy="5639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691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B0B617-C257-4359-AFDC-0E5975183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865632"/>
            <a:ext cx="4368602" cy="1416578"/>
          </a:xfrm>
        </p:spPr>
        <p:txBody>
          <a:bodyPr anchor="b">
            <a:normAutofit/>
          </a:bodyPr>
          <a:lstStyle/>
          <a:p>
            <a:pPr algn="ctr"/>
            <a:r>
              <a:rPr lang="es-EC" sz="8900" dirty="0" err="1"/>
              <a:t>ITIL</a:t>
            </a:r>
            <a:r>
              <a:rPr lang="es-EC" sz="8900" dirty="0"/>
              <a:t> 4</a:t>
            </a:r>
            <a:endParaRPr lang="es-EC" sz="42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381CDC-C1E2-46D4-B108-EE574E07B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282210"/>
            <a:ext cx="4670097" cy="39113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C" sz="3600" b="1" dirty="0">
                <a:solidFill>
                  <a:srgbClr val="FF0000"/>
                </a:solidFill>
              </a:rPr>
              <a:t>Prácticas de Gestión General</a:t>
            </a:r>
          </a:p>
          <a:p>
            <a:pPr marL="0" indent="0">
              <a:buNone/>
            </a:pPr>
            <a:endParaRPr lang="es-EC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s-EC" sz="3600" b="1" dirty="0">
                <a:solidFill>
                  <a:srgbClr val="FF0000"/>
                </a:solidFill>
              </a:rPr>
              <a:t>3. Seguridad de la Información </a:t>
            </a:r>
          </a:p>
          <a:p>
            <a:endParaRPr lang="es-EC" sz="2200" dirty="0"/>
          </a:p>
          <a:p>
            <a:endParaRPr lang="es-EC" sz="2200" b="1" dirty="0"/>
          </a:p>
        </p:txBody>
      </p:sp>
      <p:pic>
        <p:nvPicPr>
          <p:cNvPr id="4098" name="Picture 2" descr="Las prácticas en la gestión de seguridad de la información ya están maduras">
            <a:extLst>
              <a:ext uri="{FF2B5EF4-FFF2-40B4-BE49-F238E27FC236}">
                <a16:creationId xmlns:a16="http://schemas.microsoft.com/office/drawing/2014/main" id="{1613A546-F204-40DF-9B62-60D0205C5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8846" y="1047750"/>
            <a:ext cx="68580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48133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Seguridad de la información 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4"/>
            <a:ext cx="10326858" cy="2445775"/>
          </a:xfrm>
        </p:spPr>
        <p:txBody>
          <a:bodyPr>
            <a:normAutofit fontScale="92500" lnSpcReduction="20000"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Generalidades</a:t>
            </a:r>
          </a:p>
          <a:p>
            <a:r>
              <a:rPr lang="es-ES" sz="24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</a:rPr>
              <a:t>El principal objetivo de Seguridad de la Información es el de proteger la información que necesita la organización para llevar a cabo su negocio.</a:t>
            </a:r>
          </a:p>
          <a:p>
            <a:r>
              <a:rPr lang="es-E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La organización deberá comprender y gestionar los riesgos para conseguir la confidencialidad, integridad y disponibilidad de la información </a:t>
            </a:r>
            <a:endParaRPr lang="es-ES" sz="2400" i="0" dirty="0">
              <a:solidFill>
                <a:schemeClr val="tx1">
                  <a:lumMod val="95000"/>
                  <a:lumOff val="5000"/>
                </a:schemeClr>
              </a:solidFill>
              <a:effectLst/>
            </a:endParaRPr>
          </a:p>
          <a:p>
            <a:r>
              <a:rPr lang="es-ES" sz="2400" b="1" i="0" dirty="0">
                <a:solidFill>
                  <a:srgbClr val="FF0000"/>
                </a:solidFill>
                <a:effectLst/>
              </a:rPr>
              <a:t>La seguridad se establece mediante  políticas, proceso, concienciación, análisis de riesgos, y controles qu</a:t>
            </a:r>
            <a:r>
              <a:rPr lang="es-ES" sz="2400" b="1" dirty="0">
                <a:solidFill>
                  <a:srgbClr val="FF0000"/>
                </a:solidFill>
              </a:rPr>
              <a:t>e deben mantener un equilibrio entre la Prevención, Detección y la Corrección </a:t>
            </a:r>
            <a:endParaRPr lang="es-ES" sz="2400" b="1" i="0" dirty="0">
              <a:solidFill>
                <a:srgbClr val="FF0000"/>
              </a:solidFill>
              <a:effectLst/>
            </a:endParaRPr>
          </a:p>
          <a:p>
            <a:endParaRPr lang="es-EC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5757433-972F-4FD7-9273-5CFA66E76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0" y="4058039"/>
            <a:ext cx="5143500" cy="208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1384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Seguridad de la información 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4"/>
            <a:ext cx="10326858" cy="3874136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Generalidades</a:t>
            </a:r>
          </a:p>
          <a:p>
            <a:endParaRPr lang="es-EC" dirty="0"/>
          </a:p>
          <a:p>
            <a:r>
              <a:rPr lang="es-EC" b="1" dirty="0">
                <a:solidFill>
                  <a:srgbClr val="FF0000"/>
                </a:solidFill>
              </a:rPr>
              <a:t>Prevención</a:t>
            </a:r>
            <a:r>
              <a:rPr lang="es-EC" dirty="0">
                <a:solidFill>
                  <a:srgbClr val="FF0000"/>
                </a:solidFill>
              </a:rPr>
              <a:t>.</a:t>
            </a:r>
            <a:r>
              <a:rPr lang="es-EC" dirty="0"/>
              <a:t> Asegurar que los incidentes de seguridad no ocurran</a:t>
            </a:r>
          </a:p>
          <a:p>
            <a:r>
              <a:rPr lang="es-EC" b="1" dirty="0">
                <a:solidFill>
                  <a:srgbClr val="FF0000"/>
                </a:solidFill>
              </a:rPr>
              <a:t>Detección</a:t>
            </a:r>
            <a:r>
              <a:rPr lang="es-EC" dirty="0">
                <a:solidFill>
                  <a:srgbClr val="FF0000"/>
                </a:solidFill>
              </a:rPr>
              <a:t>.</a:t>
            </a:r>
            <a:r>
              <a:rPr lang="es-EC" dirty="0"/>
              <a:t> Identificar de manera rápida y confiable los incidentes que no se pueden prevenir</a:t>
            </a:r>
          </a:p>
          <a:p>
            <a:r>
              <a:rPr lang="es-EC" b="1" dirty="0">
                <a:solidFill>
                  <a:srgbClr val="FF0000"/>
                </a:solidFill>
              </a:rPr>
              <a:t>Corrección. </a:t>
            </a:r>
            <a:r>
              <a:rPr lang="es-EC" dirty="0"/>
              <a:t>Recuperar la normalidad de los servicios una vez detectados los incidentes.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928131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Seguridad de la información 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4"/>
            <a:ext cx="10326858" cy="2445775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Gestión de </a:t>
            </a:r>
            <a:r>
              <a:rPr lang="es-ES" sz="3200" b="1" dirty="0">
                <a:solidFill>
                  <a:srgbClr val="FF0000"/>
                </a:solidFill>
                <a:latin typeface="Open Sans" panose="020B0604020202020204" pitchFamily="34" charset="0"/>
              </a:rPr>
              <a:t>la Seguridad de la I</a:t>
            </a:r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nformación</a:t>
            </a:r>
          </a:p>
          <a:p>
            <a:endParaRPr lang="es-EC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A00FA91-3DE8-4AC9-8D19-CC1CEACEA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87" y="2468838"/>
            <a:ext cx="10858013" cy="338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3614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Seguridad de la información 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4"/>
            <a:ext cx="10326858" cy="3980153"/>
          </a:xfrm>
        </p:spPr>
        <p:txBody>
          <a:bodyPr>
            <a:normAutofit fontScale="92500" lnSpcReduction="10000"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Gestión de </a:t>
            </a:r>
            <a:r>
              <a:rPr lang="es-ES" sz="3200" b="1" dirty="0">
                <a:solidFill>
                  <a:srgbClr val="FF0000"/>
                </a:solidFill>
                <a:latin typeface="Open Sans" panose="020B0604020202020204" pitchFamily="34" charset="0"/>
              </a:rPr>
              <a:t>la Seguridad de la I</a:t>
            </a:r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nformación</a:t>
            </a:r>
          </a:p>
          <a:p>
            <a:r>
              <a:rPr lang="es-ES" sz="2400" b="1" dirty="0">
                <a:latin typeface="Open Sans" panose="020B0604020202020204" pitchFamily="34" charset="0"/>
              </a:rPr>
              <a:t>La seguridad de la información requiere se establece mediante políticas, procesos, comportamientos, gestión de riesgos y controles, que deben mantener en equilibrio entre </a:t>
            </a:r>
            <a:r>
              <a:rPr lang="es-ES" sz="2400" b="1" dirty="0" err="1">
                <a:latin typeface="Open Sans" panose="020B0604020202020204" pitchFamily="34" charset="0"/>
              </a:rPr>
              <a:t>Prevencion</a:t>
            </a:r>
            <a:r>
              <a:rPr lang="es-ES" sz="2400" b="1" dirty="0">
                <a:latin typeface="Open Sans" panose="020B0604020202020204" pitchFamily="34" charset="0"/>
              </a:rPr>
              <a:t>, Detección y Corrección.</a:t>
            </a:r>
          </a:p>
          <a:p>
            <a:r>
              <a:rPr lang="es-ES" sz="2400" b="1" dirty="0">
                <a:latin typeface="Open Sans" panose="020B0604020202020204" pitchFamily="34" charset="0"/>
              </a:rPr>
              <a:t>La Seguridad de la información debe ser llevada alineada ala norma ISO 27001</a:t>
            </a:r>
          </a:p>
          <a:p>
            <a:r>
              <a:rPr lang="es-ES" sz="2400" b="1" dirty="0">
                <a:latin typeface="Open Sans" panose="020B0604020202020204" pitchFamily="34" charset="0"/>
              </a:rPr>
              <a:t>En gestión de riesgos se recomienda el uso de la norma ISO 31000</a:t>
            </a:r>
          </a:p>
          <a:p>
            <a:endParaRPr lang="es-ES" sz="2400" b="1" dirty="0">
              <a:latin typeface="Open Sans" panose="020B0604020202020204" pitchFamily="34" charset="0"/>
            </a:endParaRPr>
          </a:p>
          <a:p>
            <a:r>
              <a:rPr lang="es-ES" sz="2400" b="1" dirty="0">
                <a:latin typeface="Open Sans" panose="020B0604020202020204" pitchFamily="34" charset="0"/>
              </a:rPr>
              <a:t>(Identificar la Diferencia entre seguridad informática y seguridad de la Información).</a:t>
            </a:r>
          </a:p>
          <a:p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endParaRPr lang="es-EC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186845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Seguridad de la información 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4834E994-F00E-4658-B159-69DD378C4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546" y="1082040"/>
            <a:ext cx="10152573" cy="568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3408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B0B617-C257-4359-AFDC-0E5975183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865632"/>
            <a:ext cx="4368602" cy="1416578"/>
          </a:xfrm>
        </p:spPr>
        <p:txBody>
          <a:bodyPr anchor="b">
            <a:normAutofit/>
          </a:bodyPr>
          <a:lstStyle/>
          <a:p>
            <a:pPr algn="ctr"/>
            <a:r>
              <a:rPr lang="es-EC" sz="8900" dirty="0" err="1"/>
              <a:t>ITIL</a:t>
            </a:r>
            <a:r>
              <a:rPr lang="es-EC" sz="8900" dirty="0"/>
              <a:t> 4</a:t>
            </a:r>
            <a:endParaRPr lang="es-EC" sz="42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381CDC-C1E2-46D4-B108-EE574E07B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282210"/>
            <a:ext cx="4670097" cy="39113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C" sz="3600" b="1" dirty="0">
                <a:solidFill>
                  <a:srgbClr val="FF0000"/>
                </a:solidFill>
              </a:rPr>
              <a:t>Prácticas de Gestión General</a:t>
            </a:r>
          </a:p>
          <a:p>
            <a:pPr marL="0" indent="0">
              <a:buNone/>
            </a:pPr>
            <a:endParaRPr lang="es-EC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s-EC" sz="3600" b="1" dirty="0">
                <a:solidFill>
                  <a:srgbClr val="FF0000"/>
                </a:solidFill>
              </a:rPr>
              <a:t>4. Gestión del conocimiento</a:t>
            </a:r>
          </a:p>
          <a:p>
            <a:endParaRPr lang="es-EC" sz="2200" dirty="0"/>
          </a:p>
          <a:p>
            <a:endParaRPr lang="es-EC" sz="2200" b="1" dirty="0"/>
          </a:p>
        </p:txBody>
      </p:sp>
      <p:pic>
        <p:nvPicPr>
          <p:cNvPr id="5122" name="Picture 2" descr="La gestión del conocimiento: técnicas, herramientas y recursos (II)">
            <a:extLst>
              <a:ext uri="{FF2B5EF4-FFF2-40B4-BE49-F238E27FC236}">
                <a16:creationId xmlns:a16="http://schemas.microsoft.com/office/drawing/2014/main" id="{2A5D4E30-329F-49D2-8B06-C95AEF958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1186" y="482540"/>
            <a:ext cx="6150734" cy="589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6607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del Conocimiento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4"/>
            <a:ext cx="10326858" cy="4536745"/>
          </a:xfrm>
        </p:spPr>
        <p:txBody>
          <a:bodyPr>
            <a:normAutofit lnSpcReduction="10000"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Gestión de</a:t>
            </a:r>
            <a:r>
              <a:rPr lang="es-ES" sz="3200" b="1" dirty="0">
                <a:solidFill>
                  <a:srgbClr val="FF0000"/>
                </a:solidFill>
                <a:latin typeface="Open Sans" panose="020B0604020202020204" pitchFamily="34" charset="0"/>
              </a:rPr>
              <a:t>l Conocimiento </a:t>
            </a:r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r>
              <a:rPr lang="es-EC" dirty="0"/>
              <a:t>El conocimiento es uno de los activos mas importantes de la organización, es decir son las capacidades y experiencia de las personas al momento de gestionar los servicios.</a:t>
            </a:r>
          </a:p>
          <a:p>
            <a:r>
              <a:rPr lang="es-EC" dirty="0"/>
              <a:t>El objetivo mas importante de la practica de gestión del conocimiento es asegurarse que todo el conocimiento se encuentre disponible en el lugar y momento correcto para:</a:t>
            </a:r>
          </a:p>
          <a:p>
            <a:pPr lvl="1"/>
            <a:r>
              <a:rPr lang="es-EC" sz="2800" dirty="0"/>
              <a:t>Elevar la eficiencia del proveedor de servicios</a:t>
            </a:r>
          </a:p>
          <a:p>
            <a:pPr lvl="1"/>
            <a:r>
              <a:rPr lang="es-EC" sz="2800" dirty="0"/>
              <a:t>Mejorar la calidad al momento de la toma de decisiones </a:t>
            </a:r>
          </a:p>
          <a:p>
            <a:pPr lvl="1"/>
            <a:r>
              <a:rPr lang="es-EC" sz="2800" dirty="0"/>
              <a:t>Es uno de los activos mas preciados y con gran influencia en todo el proceso de gestión del servicio.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103364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del Conocimiento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5"/>
            <a:ext cx="5890693" cy="1555006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Gestión de</a:t>
            </a:r>
            <a:r>
              <a:rPr lang="es-ES" sz="3200" b="1" dirty="0">
                <a:solidFill>
                  <a:srgbClr val="FF0000"/>
                </a:solidFill>
                <a:latin typeface="Open Sans" panose="020B0604020202020204" pitchFamily="34" charset="0"/>
              </a:rPr>
              <a:t>l Conocimiento</a:t>
            </a:r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D87993C-58B9-4E5B-AF25-24E871A1F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914" y="2106681"/>
            <a:ext cx="9094304" cy="4232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0901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del Conocimiento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95CF493-7257-4FB0-AFEB-7F8354B77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722" y="1082040"/>
            <a:ext cx="10317397" cy="5807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8516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B0B617-C257-4359-AFDC-0E5975183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865632"/>
            <a:ext cx="4368602" cy="1416578"/>
          </a:xfrm>
        </p:spPr>
        <p:txBody>
          <a:bodyPr anchor="b">
            <a:normAutofit/>
          </a:bodyPr>
          <a:lstStyle/>
          <a:p>
            <a:pPr algn="ctr"/>
            <a:r>
              <a:rPr lang="es-EC" sz="8900" dirty="0" err="1"/>
              <a:t>ITIL</a:t>
            </a:r>
            <a:r>
              <a:rPr lang="es-EC" sz="8900" dirty="0"/>
              <a:t> 4</a:t>
            </a:r>
            <a:endParaRPr lang="es-EC" sz="42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381CDC-C1E2-46D4-B108-EE574E07B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282210"/>
            <a:ext cx="4581277" cy="39113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C" sz="3600" b="1" dirty="0">
                <a:solidFill>
                  <a:srgbClr val="FF0000"/>
                </a:solidFill>
              </a:rPr>
              <a:t>Prácticas de Gestión General</a:t>
            </a:r>
          </a:p>
          <a:p>
            <a:pPr marL="0" indent="0">
              <a:buNone/>
            </a:pPr>
            <a:endParaRPr lang="es-EC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s-EC" sz="3600" b="1" dirty="0">
                <a:solidFill>
                  <a:srgbClr val="FF0000"/>
                </a:solidFill>
              </a:rPr>
              <a:t>5. Medición y Reportes</a:t>
            </a:r>
          </a:p>
          <a:p>
            <a:endParaRPr lang="es-EC" sz="2200" dirty="0"/>
          </a:p>
          <a:p>
            <a:endParaRPr lang="es-EC" sz="2200" b="1" dirty="0"/>
          </a:p>
        </p:txBody>
      </p:sp>
      <p:pic>
        <p:nvPicPr>
          <p:cNvPr id="6146" name="Picture 2" descr="Las 6 métricas para medir los resultados de marketing">
            <a:extLst>
              <a:ext uri="{FF2B5EF4-FFF2-40B4-BE49-F238E27FC236}">
                <a16:creationId xmlns:a16="http://schemas.microsoft.com/office/drawing/2014/main" id="{57F5D392-7772-488D-8944-C2F5DE714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0382" y="1082438"/>
            <a:ext cx="6557679" cy="4909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27239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Medición y Reportes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4"/>
            <a:ext cx="10326858" cy="4536745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Objetivo y características</a:t>
            </a:r>
          </a:p>
          <a:p>
            <a:r>
              <a:rPr lang="es-EC" dirty="0"/>
              <a:t>El objetivo principal de la gestión de esta practica es apoyar a la toma de decisiones y a la </a:t>
            </a:r>
            <a:r>
              <a:rPr lang="es-EC" dirty="0">
                <a:solidFill>
                  <a:srgbClr val="FF0000"/>
                </a:solidFill>
              </a:rPr>
              <a:t>mejora continua</a:t>
            </a:r>
            <a:r>
              <a:rPr lang="es-EC" sz="2800" dirty="0"/>
              <a:t>.</a:t>
            </a:r>
          </a:p>
          <a:p>
            <a:r>
              <a:rPr lang="es-EC" dirty="0"/>
              <a:t>Otro objetivo de esta practica es recopilar datos importantes de objetos (productos, servicios, practicas, individuos y socios) gestionado y evaluar los datos en un contexto apropiado.</a:t>
            </a:r>
          </a:p>
          <a:p>
            <a:r>
              <a:rPr lang="es-EC" sz="2800" dirty="0"/>
              <a:t>O</a:t>
            </a:r>
            <a:r>
              <a:rPr lang="es-EC" dirty="0"/>
              <a:t>tro de los objetivos es proporcionar una visión de los resultados basados en los servicios, para lo cual es muy importante utilizar un paquete </a:t>
            </a:r>
            <a:r>
              <a:rPr lang="es-EC" dirty="0">
                <a:solidFill>
                  <a:srgbClr val="FF0000"/>
                </a:solidFill>
              </a:rPr>
              <a:t>equilibrado</a:t>
            </a:r>
            <a:r>
              <a:rPr lang="es-EC" dirty="0"/>
              <a:t> de métricas para evaluar los servicios</a:t>
            </a:r>
            <a:endParaRPr lang="es-EC" sz="28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4405821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Medición y Reportes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4"/>
            <a:ext cx="10326858" cy="4536745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Objetivo y características</a:t>
            </a:r>
          </a:p>
          <a:p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r>
              <a:rPr lang="es-EC" dirty="0"/>
              <a:t>Para poder medir un objetivo, se deben definir los </a:t>
            </a:r>
            <a:r>
              <a:rPr lang="es-EC" dirty="0">
                <a:solidFill>
                  <a:srgbClr val="FF0000"/>
                </a:solidFill>
              </a:rPr>
              <a:t>factores críticos de éxito</a:t>
            </a:r>
            <a:r>
              <a:rPr lang="es-EC" dirty="0"/>
              <a:t> (CSF) operacional.</a:t>
            </a:r>
          </a:p>
          <a:p>
            <a:r>
              <a:rPr lang="es-EC" sz="2800" dirty="0"/>
              <a:t>En base a estos CSF</a:t>
            </a:r>
            <a:r>
              <a:rPr lang="es-EC" dirty="0"/>
              <a:t> se pueden establecer un conjunto de indicadores de desempeño (KPI) relacionados, contra los cuales se puede medir el éxito. </a:t>
            </a:r>
            <a:endParaRPr lang="es-EC" sz="28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093908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Medición y Reportes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4"/>
            <a:ext cx="10326858" cy="2085093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Objetivo y características</a:t>
            </a:r>
          </a:p>
          <a:p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8A64B03-A7E0-470C-BFFF-71CE69B8E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944" y="2089662"/>
            <a:ext cx="10027856" cy="4275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6223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Medición y Reportes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4"/>
            <a:ext cx="10326858" cy="4536745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Medición y reportes y su relación con la mejora continua</a:t>
            </a:r>
          </a:p>
          <a:p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1606012-8D93-49BC-9AA6-C241243A7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76940"/>
            <a:ext cx="10402396" cy="323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7994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Medición y Reportes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4"/>
            <a:ext cx="10326858" cy="4536745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Medición y reportes y su relación con la mejora continua</a:t>
            </a:r>
          </a:p>
          <a:p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4102C31-34B6-4D21-9265-AAFAD3300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847" y="2807335"/>
            <a:ext cx="9827211" cy="3323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7355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Medición y Reportes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C643923-E313-454D-BF2C-A5FCFB8E1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578" y="1082039"/>
            <a:ext cx="10320752" cy="5796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2502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B0B617-C257-4359-AFDC-0E5975183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865632"/>
            <a:ext cx="4368602" cy="1416578"/>
          </a:xfrm>
        </p:spPr>
        <p:txBody>
          <a:bodyPr anchor="b">
            <a:normAutofit/>
          </a:bodyPr>
          <a:lstStyle/>
          <a:p>
            <a:pPr algn="ctr"/>
            <a:r>
              <a:rPr lang="es-EC" sz="8900" dirty="0" err="1"/>
              <a:t>ITIL</a:t>
            </a:r>
            <a:r>
              <a:rPr lang="es-EC" sz="8900" dirty="0"/>
              <a:t> 4</a:t>
            </a:r>
            <a:endParaRPr lang="es-EC" sz="42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381CDC-C1E2-46D4-B108-EE574E07B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282210"/>
            <a:ext cx="4621033" cy="39113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C" sz="3600" b="1" dirty="0">
                <a:solidFill>
                  <a:srgbClr val="FF0000"/>
                </a:solidFill>
              </a:rPr>
              <a:t>Prácticas de Gestión General</a:t>
            </a:r>
          </a:p>
          <a:p>
            <a:pPr marL="0" indent="0">
              <a:buNone/>
            </a:pPr>
            <a:endParaRPr lang="es-EC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s-EC" sz="3600" b="1" dirty="0">
                <a:solidFill>
                  <a:srgbClr val="FF0000"/>
                </a:solidFill>
              </a:rPr>
              <a:t>6. Cambio Organizacional</a:t>
            </a:r>
          </a:p>
          <a:p>
            <a:endParaRPr lang="es-EC" sz="2200" dirty="0"/>
          </a:p>
          <a:p>
            <a:endParaRPr lang="es-EC" sz="2200" b="1" dirty="0"/>
          </a:p>
        </p:txBody>
      </p:sp>
      <p:pic>
        <p:nvPicPr>
          <p:cNvPr id="1026" name="Picture 2" descr="el cambio organizacional se denomina a las estrategias organizacionales...">
            <a:extLst>
              <a:ext uri="{FF2B5EF4-FFF2-40B4-BE49-F238E27FC236}">
                <a16:creationId xmlns:a16="http://schemas.microsoft.com/office/drawing/2014/main" id="{035CC349-D1C9-4D04-9DA0-D900D2762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7619" y="1047750"/>
            <a:ext cx="476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24983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Cambio Organizacional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4"/>
            <a:ext cx="10326858" cy="4536745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Objetivo y características</a:t>
            </a:r>
          </a:p>
          <a:p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r>
              <a:rPr lang="es-EC" dirty="0"/>
              <a:t>El principal objetivo de la gestión del Cambio organizacional es garantizar que los cambios en una organización se implemente con Éxito, y que se logren beneficios duraderos al administrar los aspectos humanos de los cambios</a:t>
            </a:r>
          </a:p>
          <a:p>
            <a:r>
              <a:rPr lang="es-EC" sz="2800" dirty="0"/>
              <a:t>Las mejoras siempre requieren un cambio en la forma de trabajar, el comportamiento y hasta en la función qu</a:t>
            </a:r>
            <a:r>
              <a:rPr lang="es-EC" dirty="0"/>
              <a:t>e se desempeña.</a:t>
            </a:r>
            <a:endParaRPr lang="es-EC" sz="28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849904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Cambio Organizacional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5"/>
            <a:ext cx="10326858" cy="1289962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Objetivo y características</a:t>
            </a:r>
          </a:p>
          <a:p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5C763EF-7BF1-4E30-9253-21F5EFA79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598" y="2844716"/>
            <a:ext cx="10288965" cy="2879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4605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Cambio Organizacional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5"/>
            <a:ext cx="10326858" cy="1289962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Objetivo y características</a:t>
            </a:r>
          </a:p>
          <a:p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5569440-3034-4AA2-85B5-9300C7E962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780" y="2529309"/>
            <a:ext cx="10198020" cy="3288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2002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Cambio Organizacional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D522FA6-FD88-4C34-8A99-2CA8F072F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157" y="1082040"/>
            <a:ext cx="10372838" cy="5738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3125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B0B617-C257-4359-AFDC-0E5975183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865632"/>
            <a:ext cx="4368602" cy="1416578"/>
          </a:xfrm>
        </p:spPr>
        <p:txBody>
          <a:bodyPr anchor="b">
            <a:normAutofit/>
          </a:bodyPr>
          <a:lstStyle/>
          <a:p>
            <a:pPr algn="ctr"/>
            <a:r>
              <a:rPr lang="es-EC" sz="8900" dirty="0" err="1"/>
              <a:t>ITIL</a:t>
            </a:r>
            <a:r>
              <a:rPr lang="es-EC" sz="8900" dirty="0"/>
              <a:t> 4</a:t>
            </a:r>
            <a:endParaRPr lang="es-EC" sz="42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381CDC-C1E2-46D4-B108-EE574E07B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282210"/>
            <a:ext cx="4886077" cy="39113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C" sz="3600" b="1" dirty="0">
                <a:solidFill>
                  <a:srgbClr val="FF0000"/>
                </a:solidFill>
              </a:rPr>
              <a:t>Prácticas de Gestión General</a:t>
            </a:r>
          </a:p>
          <a:p>
            <a:pPr marL="0" indent="0">
              <a:buNone/>
            </a:pPr>
            <a:endParaRPr lang="es-EC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s-EC" sz="3600" b="1" dirty="0">
                <a:solidFill>
                  <a:srgbClr val="FF0000"/>
                </a:solidFill>
              </a:rPr>
              <a:t>7. Gestión del Portafolio</a:t>
            </a:r>
          </a:p>
          <a:p>
            <a:endParaRPr lang="es-EC" sz="2200" dirty="0"/>
          </a:p>
          <a:p>
            <a:endParaRPr lang="es-EC" sz="2200" b="1" dirty="0"/>
          </a:p>
        </p:txBody>
      </p:sp>
      <p:pic>
        <p:nvPicPr>
          <p:cNvPr id="1026" name="Picture 2" descr="el cambio organizacional se denomina a las estrategias organizacionales...">
            <a:extLst>
              <a:ext uri="{FF2B5EF4-FFF2-40B4-BE49-F238E27FC236}">
                <a16:creationId xmlns:a16="http://schemas.microsoft.com/office/drawing/2014/main" id="{035CC349-D1C9-4D04-9DA0-D900D2762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7619" y="1047750"/>
            <a:ext cx="476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21986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del Portafolio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4"/>
            <a:ext cx="10326858" cy="4536745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Objetivo y características</a:t>
            </a:r>
          </a:p>
          <a:p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r>
              <a:rPr lang="es-EC" dirty="0"/>
              <a:t>El principal objetivo de la gestión del Portafolio es asegurar que la organización cuenta con la combinación adecuada de los </a:t>
            </a:r>
            <a:r>
              <a:rPr lang="es-EC" dirty="0">
                <a:solidFill>
                  <a:srgbClr val="FF0000"/>
                </a:solidFill>
              </a:rPr>
              <a:t>programas, proyectos, productos y servicios</a:t>
            </a:r>
            <a:r>
              <a:rPr lang="es-EC" dirty="0"/>
              <a:t> para ejecutar la estrategia de la organización dentro de sus fondos y de sus recursos.</a:t>
            </a:r>
          </a:p>
          <a:p>
            <a:r>
              <a:rPr lang="es-EC" sz="2800" dirty="0"/>
              <a:t>La gestión del portafolio determina la forma en que los recursos se </a:t>
            </a:r>
            <a:r>
              <a:rPr lang="es-EC" sz="2800" dirty="0">
                <a:solidFill>
                  <a:srgbClr val="FF0000"/>
                </a:solidFill>
              </a:rPr>
              <a:t>asignan, implementan y administran </a:t>
            </a:r>
            <a:r>
              <a:rPr lang="es-EC" sz="2800" dirty="0"/>
              <a:t>en toda la organización </a:t>
            </a:r>
            <a:r>
              <a:rPr lang="es-EC" dirty="0"/>
              <a:t>.</a:t>
            </a:r>
            <a:endParaRPr lang="es-EC" sz="28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295302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del Portafolio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4"/>
            <a:ext cx="10326858" cy="4536745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Objetivo y características</a:t>
            </a:r>
          </a:p>
          <a:p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3D718E3-A571-49A2-B8DB-DDD426037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576" y="2767426"/>
            <a:ext cx="10184847" cy="338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9095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del Portafolio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0382589D-59F2-49AB-A3C3-5FE490B7D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431" y="1082040"/>
            <a:ext cx="10321155" cy="577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693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B0B617-C257-4359-AFDC-0E5975183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865632"/>
            <a:ext cx="4368602" cy="1416578"/>
          </a:xfrm>
        </p:spPr>
        <p:txBody>
          <a:bodyPr anchor="b">
            <a:normAutofit/>
          </a:bodyPr>
          <a:lstStyle/>
          <a:p>
            <a:pPr algn="ctr"/>
            <a:r>
              <a:rPr lang="es-EC" sz="8900" dirty="0" err="1"/>
              <a:t>ITIL</a:t>
            </a:r>
            <a:r>
              <a:rPr lang="es-EC" sz="8900" dirty="0"/>
              <a:t> 4</a:t>
            </a:r>
            <a:endParaRPr lang="es-EC" sz="42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381CDC-C1E2-46D4-B108-EE574E07B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282210"/>
            <a:ext cx="4965590" cy="39113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C" sz="3600" b="1" dirty="0">
                <a:solidFill>
                  <a:srgbClr val="FF0000"/>
                </a:solidFill>
              </a:rPr>
              <a:t>Prácticas de Gestión General</a:t>
            </a:r>
          </a:p>
          <a:p>
            <a:pPr marL="0" indent="0">
              <a:buNone/>
            </a:pPr>
            <a:endParaRPr lang="es-EC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s-EC" sz="3600" b="1" dirty="0">
                <a:solidFill>
                  <a:srgbClr val="FF0000"/>
                </a:solidFill>
              </a:rPr>
              <a:t>8. Gestión de Proyectos</a:t>
            </a:r>
          </a:p>
          <a:p>
            <a:endParaRPr lang="es-EC" sz="2200" dirty="0"/>
          </a:p>
          <a:p>
            <a:endParaRPr lang="es-EC" sz="2200" b="1" dirty="0"/>
          </a:p>
        </p:txBody>
      </p:sp>
      <p:pic>
        <p:nvPicPr>
          <p:cNvPr id="2050" name="Picture 2" descr="Gestión de Proyectos - Proagilist">
            <a:extLst>
              <a:ext uri="{FF2B5EF4-FFF2-40B4-BE49-F238E27FC236}">
                <a16:creationId xmlns:a16="http://schemas.microsoft.com/office/drawing/2014/main" id="{EF29A48E-C989-4697-85CE-30969A3E45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0129" y="962742"/>
            <a:ext cx="4671625" cy="4819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04952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 Proyectos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4"/>
            <a:ext cx="10326858" cy="4536745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Objetivo y características</a:t>
            </a:r>
          </a:p>
          <a:p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r>
              <a:rPr lang="es-EC" dirty="0"/>
              <a:t>El principal objetivo de la gestión de Proyectos es garantizar que todos los proyectos de la organización se entreguen con éxito.</a:t>
            </a:r>
          </a:p>
          <a:p>
            <a:r>
              <a:rPr lang="es-EC" sz="2800" dirty="0"/>
              <a:t>Otro de los objetivos de la gestión de </a:t>
            </a:r>
            <a:r>
              <a:rPr lang="es-EC" dirty="0"/>
              <a:t>Proyectos es el de p</a:t>
            </a:r>
            <a:r>
              <a:rPr lang="es-EC" sz="2800" dirty="0"/>
              <a:t>lanificar, delegar, monitorear y controlar todos los aspectos de un proyecto y manteniendo la motivación en las personas involucradas.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051134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 Proyectos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4"/>
            <a:ext cx="10326858" cy="4536745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Objetivo y características</a:t>
            </a:r>
          </a:p>
          <a:p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4434740-4313-4BAC-89B9-F1C65800A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126" y="2302565"/>
            <a:ext cx="9581243" cy="162007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EEDABB7-59AF-4871-941F-156B184BC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126" y="3955719"/>
            <a:ext cx="9517856" cy="1755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1310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 Proyectos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4"/>
            <a:ext cx="10326858" cy="4536745"/>
          </a:xfrm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rgbClr val="FF0000"/>
                </a:solidFill>
                <a:latin typeface="Open Sans" panose="020B0604020202020204" pitchFamily="34" charset="0"/>
              </a:rPr>
              <a:t>Comparativo tipos de proyectos</a:t>
            </a:r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23DC018-0E1B-4090-A4E7-DFEE3AC46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2300287"/>
            <a:ext cx="9516511" cy="4063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3204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 Proyectos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AD809B3-F13F-420A-9755-8A9EFB001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009" y="1161604"/>
            <a:ext cx="9699556" cy="5402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330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Gestión de relaciones con clientes empresa de negocios, negocios., empresa,  Servicio, Al por menor png | PNGWing">
            <a:extLst>
              <a:ext uri="{FF2B5EF4-FFF2-40B4-BE49-F238E27FC236}">
                <a16:creationId xmlns:a16="http://schemas.microsoft.com/office/drawing/2014/main" id="{2B02A1E0-AC03-4224-925F-4D9B2EB165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66" r="16704"/>
          <a:stretch/>
        </p:blipFill>
        <p:spPr bwMode="auto">
          <a:xfrm>
            <a:off x="5261113" y="664433"/>
            <a:ext cx="5978973" cy="550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EB0B617-C257-4359-AFDC-0E5975183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865632"/>
            <a:ext cx="4368602" cy="1416578"/>
          </a:xfrm>
        </p:spPr>
        <p:txBody>
          <a:bodyPr anchor="b">
            <a:normAutofit/>
          </a:bodyPr>
          <a:lstStyle/>
          <a:p>
            <a:pPr algn="ctr"/>
            <a:r>
              <a:rPr lang="es-EC" sz="8900" dirty="0" err="1"/>
              <a:t>ITIL</a:t>
            </a:r>
            <a:r>
              <a:rPr lang="es-EC" sz="8900" dirty="0"/>
              <a:t> 4</a:t>
            </a:r>
            <a:endParaRPr lang="es-EC" sz="42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381CDC-C1E2-46D4-B108-EE574E07B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282210"/>
            <a:ext cx="4621033" cy="39113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C" sz="3600" b="1" dirty="0">
                <a:solidFill>
                  <a:srgbClr val="FF0000"/>
                </a:solidFill>
              </a:rPr>
              <a:t>Prácticas de Gestión General</a:t>
            </a:r>
          </a:p>
          <a:p>
            <a:pPr marL="0" indent="0">
              <a:buNone/>
            </a:pPr>
            <a:endParaRPr lang="es-EC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s-EC" sz="3600" b="1" dirty="0">
                <a:solidFill>
                  <a:srgbClr val="FF0000"/>
                </a:solidFill>
              </a:rPr>
              <a:t>9. Gestión de Relaciones</a:t>
            </a:r>
          </a:p>
          <a:p>
            <a:endParaRPr lang="es-EC" sz="2200" dirty="0"/>
          </a:p>
          <a:p>
            <a:endParaRPr lang="es-EC" sz="2200" b="1" dirty="0"/>
          </a:p>
        </p:txBody>
      </p:sp>
    </p:spTree>
    <p:extLst>
      <p:ext uri="{BB962C8B-B14F-4D97-AF65-F5344CB8AC3E}">
        <p14:creationId xmlns:p14="http://schemas.microsoft.com/office/powerpoint/2010/main" val="18989584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 Relaciones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4"/>
            <a:ext cx="10326858" cy="4536745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Objetivo y características</a:t>
            </a:r>
          </a:p>
          <a:p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r>
              <a:rPr lang="es-EC" dirty="0"/>
              <a:t>El principal objetivo de esta practica de gestión es establecer y fomentar los vínculos entre la organización y sus partes interesadas a nivel estratégico y táctico.</a:t>
            </a:r>
          </a:p>
          <a:p>
            <a:r>
              <a:rPr lang="es-EC" sz="2800" dirty="0"/>
              <a:t>Se debe i</a:t>
            </a:r>
            <a:r>
              <a:rPr lang="es-EC" dirty="0"/>
              <a:t>ncluir la identificación, análisis, monitoreo y mejora continua de las relaciones con y entre las partes interesadas.</a:t>
            </a:r>
            <a:endParaRPr lang="es-EC" sz="28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77699428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 Relaciones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5"/>
            <a:ext cx="10326858" cy="1581510"/>
          </a:xfrm>
        </p:spPr>
        <p:txBody>
          <a:bodyPr>
            <a:normAutofit lnSpcReduction="10000"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Importancia</a:t>
            </a:r>
          </a:p>
          <a:p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r>
              <a:rPr lang="es-EC" dirty="0"/>
              <a:t>Esta practica de </a:t>
            </a:r>
            <a:r>
              <a:rPr lang="es-EC" dirty="0" err="1"/>
              <a:t>ITIL</a:t>
            </a:r>
            <a:r>
              <a:rPr lang="es-EC" dirty="0"/>
              <a:t> es importante por las siguientes razones:</a:t>
            </a:r>
            <a:endParaRPr lang="es-EC" sz="28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2C35145-81E7-4270-ABE2-12D1EED88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196" y="3193775"/>
            <a:ext cx="8896350" cy="3307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530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 Relaciones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5"/>
            <a:ext cx="10326858" cy="1082040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Aplicación </a:t>
            </a:r>
          </a:p>
          <a:p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335DD3B-7799-43BB-9B62-18276140D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942" y="2283460"/>
            <a:ext cx="9839178" cy="4074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4344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 Relaciones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582A99F-5996-42A8-B6F1-108A1A7D8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080" y="1082039"/>
            <a:ext cx="10257680" cy="5767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90447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B0B617-C257-4359-AFDC-0E5975183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865632"/>
            <a:ext cx="4368602" cy="1416578"/>
          </a:xfrm>
        </p:spPr>
        <p:txBody>
          <a:bodyPr anchor="b">
            <a:normAutofit/>
          </a:bodyPr>
          <a:lstStyle/>
          <a:p>
            <a:pPr algn="ctr"/>
            <a:r>
              <a:rPr lang="es-EC" sz="8900" dirty="0" err="1"/>
              <a:t>ITIL</a:t>
            </a:r>
            <a:r>
              <a:rPr lang="es-EC" sz="8900" dirty="0"/>
              <a:t> 4</a:t>
            </a:r>
            <a:endParaRPr lang="es-EC" sz="42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381CDC-C1E2-46D4-B108-EE574E07B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282210"/>
            <a:ext cx="4621033" cy="39113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C" sz="3600" b="1" dirty="0">
                <a:solidFill>
                  <a:srgbClr val="FF0000"/>
                </a:solidFill>
              </a:rPr>
              <a:t>Prácticas de Gestión General</a:t>
            </a:r>
          </a:p>
          <a:p>
            <a:pPr marL="0" indent="0">
              <a:buNone/>
            </a:pPr>
            <a:endParaRPr lang="es-EC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s-EC" sz="3600" b="1" dirty="0">
                <a:solidFill>
                  <a:srgbClr val="FF0000"/>
                </a:solidFill>
              </a:rPr>
              <a:t>10. Gestión de Riesgos</a:t>
            </a:r>
          </a:p>
          <a:p>
            <a:endParaRPr lang="es-EC" sz="2200" dirty="0"/>
          </a:p>
          <a:p>
            <a:endParaRPr lang="es-EC" sz="2200" b="1" dirty="0"/>
          </a:p>
        </p:txBody>
      </p:sp>
      <p:pic>
        <p:nvPicPr>
          <p:cNvPr id="5122" name="Picture 2" descr="Gestión de riesgos en proyectos de desarrollo | edX">
            <a:extLst>
              <a:ext uri="{FF2B5EF4-FFF2-40B4-BE49-F238E27FC236}">
                <a16:creationId xmlns:a16="http://schemas.microsoft.com/office/drawing/2014/main" id="{960C0CC4-4561-4ABB-A0AF-9152896AB4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05" r="8135" b="14232"/>
          <a:stretch/>
        </p:blipFill>
        <p:spPr bwMode="auto">
          <a:xfrm>
            <a:off x="5064954" y="1118850"/>
            <a:ext cx="6760033" cy="4156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22519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 Riesgos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4"/>
            <a:ext cx="10326858" cy="4536745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Objetivo y características</a:t>
            </a:r>
          </a:p>
          <a:p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r>
              <a:rPr lang="es-EC" dirty="0"/>
              <a:t>El principal objetivo de esta practica es el de Garantizar que la organización entienda y maneje los riesgos de manera efectiva.</a:t>
            </a:r>
          </a:p>
          <a:p>
            <a:r>
              <a:rPr lang="es-EC" sz="2800" dirty="0"/>
              <a:t>La gestión de riesgos es una parte integral de todas las actividades de una organización y por lo tanto es fundamental para el </a:t>
            </a:r>
            <a:r>
              <a:rPr lang="es-EC" sz="2800" dirty="0" err="1"/>
              <a:t>ITIL</a:t>
            </a:r>
            <a:r>
              <a:rPr lang="es-EC" sz="2800" dirty="0"/>
              <a:t> </a:t>
            </a:r>
            <a:r>
              <a:rPr lang="es-EC" sz="2800" dirty="0" err="1"/>
              <a:t>SVS</a:t>
            </a:r>
            <a:r>
              <a:rPr lang="es-EC" sz="2800" dirty="0"/>
              <a:t> de la organización 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3524149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 Riesgos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4"/>
            <a:ext cx="10326858" cy="4536745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Objetivo y características</a:t>
            </a:r>
          </a:p>
          <a:p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B1F0D8B-EBDD-4300-996E-0FE488B9F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236" y="2473961"/>
            <a:ext cx="10066742" cy="392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27776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 Riesgos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4"/>
            <a:ext cx="10326858" cy="4536745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Objetivo y características</a:t>
            </a:r>
          </a:p>
          <a:p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E449B1C-F1C8-4A62-A408-122A38225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587" y="2266148"/>
            <a:ext cx="9347299" cy="4293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7712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 Riesgos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4"/>
            <a:ext cx="10326858" cy="4536745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Objetivo y características</a:t>
            </a:r>
          </a:p>
          <a:p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5A9E404-C5B4-4504-A916-20489DFF9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5047" y="2302511"/>
            <a:ext cx="9825215" cy="397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65241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 Riesgos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C8E8892E-2329-450A-8377-20AB81AD8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82040"/>
            <a:ext cx="10364034" cy="577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1986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B0B617-C257-4359-AFDC-0E5975183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865632"/>
            <a:ext cx="4368602" cy="1416578"/>
          </a:xfrm>
        </p:spPr>
        <p:txBody>
          <a:bodyPr anchor="b">
            <a:normAutofit/>
          </a:bodyPr>
          <a:lstStyle/>
          <a:p>
            <a:pPr algn="ctr"/>
            <a:r>
              <a:rPr lang="es-EC" sz="8900" dirty="0" err="1"/>
              <a:t>ITIL</a:t>
            </a:r>
            <a:r>
              <a:rPr lang="es-EC" sz="8900" dirty="0"/>
              <a:t> 4</a:t>
            </a:r>
            <a:endParaRPr lang="es-EC" sz="42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381CDC-C1E2-46D4-B108-EE574E07B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282210"/>
            <a:ext cx="4621033" cy="39113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C" sz="3600" b="1" dirty="0">
                <a:solidFill>
                  <a:srgbClr val="FF0000"/>
                </a:solidFill>
              </a:rPr>
              <a:t>Prácticas de Gestión General</a:t>
            </a:r>
          </a:p>
          <a:p>
            <a:pPr marL="0" indent="0">
              <a:buNone/>
            </a:pPr>
            <a:endParaRPr lang="es-EC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s-EC" sz="3600" b="1" dirty="0">
                <a:solidFill>
                  <a:srgbClr val="FF0000"/>
                </a:solidFill>
              </a:rPr>
              <a:t>11. Gestión Financiera del Servicio</a:t>
            </a:r>
          </a:p>
          <a:p>
            <a:endParaRPr lang="es-EC" sz="2200" dirty="0"/>
          </a:p>
          <a:p>
            <a:endParaRPr lang="es-EC" sz="2200" b="1" dirty="0"/>
          </a:p>
        </p:txBody>
      </p:sp>
      <p:pic>
        <p:nvPicPr>
          <p:cNvPr id="6146" name="Picture 2" descr="Plaza Libre - GRAN SERVICIO DE IGUALAS CONTABLES">
            <a:extLst>
              <a:ext uri="{FF2B5EF4-FFF2-40B4-BE49-F238E27FC236}">
                <a16:creationId xmlns:a16="http://schemas.microsoft.com/office/drawing/2014/main" id="{72800628-8427-4556-8342-C742E92363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9233" y="1143000"/>
            <a:ext cx="60960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54776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Financiera del Servicio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4"/>
            <a:ext cx="10326858" cy="4536745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Objetivo y características</a:t>
            </a:r>
          </a:p>
          <a:p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r>
              <a:rPr lang="es-EC" dirty="0"/>
              <a:t>El principal objetivo de esta práctica es respaldar las estrategias y los planes para la gestión del servicio, asegurando que los recursos financieros y las inversiones de la organización se utilicen de manera efectiva.</a:t>
            </a:r>
            <a:endParaRPr lang="es-EC" sz="28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0234095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Financiera del Servicio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5"/>
            <a:ext cx="10326858" cy="958658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Objetivo</a:t>
            </a:r>
          </a:p>
          <a:p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AA03D44-3592-4816-BB76-7694D273F0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118" y="2338795"/>
            <a:ext cx="10090986" cy="4287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12258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Financiera del Servicio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4"/>
            <a:ext cx="10326858" cy="2223715"/>
          </a:xfrm>
        </p:spPr>
        <p:txBody>
          <a:bodyPr>
            <a:normAutofit fontScale="92500" lnSpcReduction="20000"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Conceptos</a:t>
            </a:r>
          </a:p>
          <a:p>
            <a:pPr lvl="1"/>
            <a:r>
              <a:rPr lang="es-ES" sz="2500" b="1" dirty="0">
                <a:latin typeface="Open Sans" panose="020B0604020202020204" pitchFamily="34" charset="0"/>
              </a:rPr>
              <a:t>Presupuesto</a:t>
            </a:r>
            <a:r>
              <a:rPr lang="es-ES" sz="2500" dirty="0">
                <a:latin typeface="Open Sans" panose="020B0604020202020204" pitchFamily="34" charset="0"/>
              </a:rPr>
              <a:t>. Predecir y controlar de manera adecuada las entradas y salidas del dinero</a:t>
            </a:r>
          </a:p>
          <a:p>
            <a:pPr lvl="1"/>
            <a:r>
              <a:rPr lang="es-ES" sz="2500" b="1" i="0" dirty="0">
                <a:effectLst/>
                <a:latin typeface="Open Sans" panose="020B0604020202020204" pitchFamily="34" charset="0"/>
              </a:rPr>
              <a:t>Contabilidad</a:t>
            </a:r>
            <a:r>
              <a:rPr lang="es-ES" sz="2500" i="0" dirty="0">
                <a:effectLst/>
                <a:latin typeface="Open Sans" panose="020B0604020202020204" pitchFamily="34" charset="0"/>
              </a:rPr>
              <a:t>. Se refiere a todos los procesos y procedimientos para dar seguimiento al proceso gastado</a:t>
            </a:r>
          </a:p>
          <a:p>
            <a:pPr lvl="1"/>
            <a:r>
              <a:rPr lang="es-ES" sz="2500" b="1" dirty="0">
                <a:latin typeface="Open Sans" panose="020B0604020202020204" pitchFamily="34" charset="0"/>
              </a:rPr>
              <a:t>Cobranza</a:t>
            </a:r>
            <a:r>
              <a:rPr lang="es-ES" sz="2500" dirty="0">
                <a:latin typeface="Open Sans" panose="020B0604020202020204" pitchFamily="34" charset="0"/>
              </a:rPr>
              <a:t>. Todos los procedimientos necesarios asociados a la recuperación de costos.</a:t>
            </a:r>
            <a:endParaRPr lang="es-ES" sz="2500" i="0" dirty="0">
              <a:effectLst/>
              <a:latin typeface="Open Sans" panose="020B0604020202020204" pitchFamily="34" charset="0"/>
            </a:endParaRPr>
          </a:p>
          <a:p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45BA94F-0BBF-4D7A-BBC1-790DA6EC0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485" y="3835980"/>
            <a:ext cx="7594323" cy="281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33904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Financiera del Servicio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EF5DF5C-C4D8-40EA-BA1E-C6F6963E3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894" y="1082040"/>
            <a:ext cx="10037544" cy="565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64323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B0B617-C257-4359-AFDC-0E5975183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865632"/>
            <a:ext cx="4368602" cy="1416578"/>
          </a:xfrm>
        </p:spPr>
        <p:txBody>
          <a:bodyPr anchor="b">
            <a:normAutofit/>
          </a:bodyPr>
          <a:lstStyle/>
          <a:p>
            <a:pPr algn="ctr"/>
            <a:r>
              <a:rPr lang="es-EC" sz="8900" dirty="0" err="1"/>
              <a:t>ITIL</a:t>
            </a:r>
            <a:r>
              <a:rPr lang="es-EC" sz="8900" dirty="0"/>
              <a:t> 4</a:t>
            </a:r>
            <a:endParaRPr lang="es-EC" sz="42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381CDC-C1E2-46D4-B108-EE574E07B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282210"/>
            <a:ext cx="4621033" cy="39113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C" sz="3600" b="1" dirty="0">
                <a:solidFill>
                  <a:srgbClr val="FF0000"/>
                </a:solidFill>
              </a:rPr>
              <a:t>Prácticas de Gestión General</a:t>
            </a:r>
          </a:p>
          <a:p>
            <a:pPr marL="0" indent="0">
              <a:buNone/>
            </a:pPr>
            <a:endParaRPr lang="es-EC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s-EC" sz="3600" b="1" dirty="0">
                <a:solidFill>
                  <a:srgbClr val="FF0000"/>
                </a:solidFill>
              </a:rPr>
              <a:t>12. Gestión de Proveedores</a:t>
            </a:r>
          </a:p>
          <a:p>
            <a:endParaRPr lang="es-EC" sz="2200" dirty="0"/>
          </a:p>
          <a:p>
            <a:endParaRPr lang="es-EC" sz="2200" b="1" dirty="0"/>
          </a:p>
        </p:txBody>
      </p:sp>
      <p:pic>
        <p:nvPicPr>
          <p:cNvPr id="7170" name="Picture 2" descr="Gestión de proveedores organización del sistema de gestión de la cadena de  suministro, negocios, Servicio, gente png | PNGEgg">
            <a:extLst>
              <a:ext uri="{FF2B5EF4-FFF2-40B4-BE49-F238E27FC236}">
                <a16:creationId xmlns:a16="http://schemas.microsoft.com/office/drawing/2014/main" id="{F0FA9D3F-52B4-4ADA-B6CB-C432AE382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8777" y="538824"/>
            <a:ext cx="5855042" cy="599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760901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 Proveedores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4"/>
            <a:ext cx="10326858" cy="4536745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Objetivo y características</a:t>
            </a:r>
          </a:p>
          <a:p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r>
              <a:rPr lang="es-EC" dirty="0"/>
              <a:t>El principal objetivo de esta práctica es garantizar que los proveedores de la organización y su desempeño se gestionen de manera adecuada para asegurar la provisión de productos y servicios de calidad</a:t>
            </a:r>
          </a:p>
          <a:p>
            <a:r>
              <a:rPr lang="es-EC" sz="2800" dirty="0"/>
              <a:t>Se debe</a:t>
            </a:r>
            <a:r>
              <a:rPr lang="es-EC" dirty="0"/>
              <a:t>n crear relaciones mas cercanas y de colaboración con proveedores claves para descubrir y obtener un nuevo valor y reducir el riesgo de fracaso</a:t>
            </a:r>
            <a:endParaRPr lang="es-EC" sz="28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3198344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 Proveedores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5"/>
            <a:ext cx="10326858" cy="1082040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Metas</a:t>
            </a:r>
          </a:p>
          <a:p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pPr marL="0" indent="0">
              <a:buNone/>
            </a:pPr>
            <a:endParaRPr lang="es-EC" sz="28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85762FC-DD70-46B6-B3EF-D9F078ECC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942" y="2578100"/>
            <a:ext cx="10542350" cy="375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26437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 Proveedores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5"/>
            <a:ext cx="10326858" cy="4841544"/>
          </a:xfrm>
        </p:spPr>
        <p:txBody>
          <a:bodyPr>
            <a:normAutofit fontScale="92500" lnSpcReduction="20000"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Metas</a:t>
            </a:r>
          </a:p>
          <a:p>
            <a:r>
              <a:rPr lang="es-ES" sz="2000" b="1" dirty="0">
                <a:latin typeface="Open Sans" panose="020B0604020202020204" pitchFamily="34" charset="0"/>
              </a:rPr>
              <a:t>Crear un único punto de visibilidad y control para garantizar la consistencia. </a:t>
            </a:r>
            <a:r>
              <a:rPr lang="es-ES" sz="2000" dirty="0">
                <a:latin typeface="Open Sans" panose="020B0604020202020204" pitchFamily="34" charset="0"/>
              </a:rPr>
              <a:t>Esto debe ser en todos los productos, servicios, componentes de servicios y procedimientos proporcionados u operados por proveedores internos y externos, incluidos los clientes que actúan como proveedores. Mantener información sobre la estrategia, política y gestión de contratos de los proveedores</a:t>
            </a:r>
          </a:p>
          <a:p>
            <a:r>
              <a:rPr lang="es-ES" sz="2000" b="1" i="0" dirty="0">
                <a:effectLst/>
                <a:latin typeface="Open Sans" panose="020B0604020202020204" pitchFamily="34" charset="0"/>
              </a:rPr>
              <a:t>Administración del desempeño del proveedor. </a:t>
            </a:r>
            <a:r>
              <a:rPr lang="es-ES" sz="2000" i="0" dirty="0">
                <a:effectLst/>
                <a:latin typeface="Open Sans" panose="020B0604020202020204" pitchFamily="34" charset="0"/>
              </a:rPr>
              <a:t>El desempeño del proveedor debe ser monitoreado para asegurar que cumpla con los términos, condiciones y objetivos de sus contratos y acuerdos, mientras se busca aumentar el valor del dinero obtenido de los proveedores y los productos/Servicios que ofrecen.</a:t>
            </a:r>
          </a:p>
          <a:p>
            <a:r>
              <a:rPr lang="es-ES" sz="2000" b="1" i="0" dirty="0">
                <a:effectLst/>
                <a:latin typeface="Open Sans" panose="020B0604020202020204" pitchFamily="34" charset="0"/>
              </a:rPr>
              <a:t>Negociar y acordar contratos y acuerdos</a:t>
            </a:r>
            <a:r>
              <a:rPr lang="es-ES" sz="2000" i="0" dirty="0">
                <a:effectLst/>
                <a:latin typeface="Open Sans" panose="020B0604020202020204" pitchFamily="34" charset="0"/>
              </a:rPr>
              <a:t>. Los acuerdos deben estar alineados con las necesidades comerciales y los objetivos del servicio. Es posible que los contratos con proveedores externos deban negociarse o acordarse a través de as funciones legales, de compras comerciales o de contratos de la organización. Para un proveedor interno deberá haber un acuerdo interno</a:t>
            </a:r>
          </a:p>
          <a:p>
            <a:r>
              <a:rPr kumimoji="0" lang="es-ES" sz="2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4020202020204" pitchFamily="34" charset="0"/>
                <a:ea typeface="+mn-ea"/>
                <a:cs typeface="+mn-cs"/>
              </a:rPr>
              <a:t>Gestión de relaciones y contratos con proveedores internos y externos</a:t>
            </a:r>
            <a:r>
              <a:rPr kumimoji="0" lang="es-E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 panose="020B0604020202020204" pitchFamily="34" charset="0"/>
                <a:ea typeface="+mn-ea"/>
                <a:cs typeface="+mn-cs"/>
              </a:rPr>
              <a:t>. Esto debe hacerse cuando se planifican, diseñan, construyen, organizan, realizan la transición y operan productos y servicios, trabajando estrechamente con la gestión de adquisiciones y desempeño.</a:t>
            </a:r>
            <a:endParaRPr lang="es-ES" sz="3200" i="0" dirty="0">
              <a:effectLst/>
              <a:latin typeface="Open Sans" panose="020B0604020202020204" pitchFamily="34" charset="0"/>
            </a:endParaRPr>
          </a:p>
          <a:p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pPr marL="0" indent="0">
              <a:buNone/>
            </a:pPr>
            <a:endParaRPr lang="es-EC" sz="28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3001202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 Proveedores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4"/>
            <a:ext cx="10326858" cy="2403145"/>
          </a:xfrm>
        </p:spPr>
        <p:txBody>
          <a:bodyPr>
            <a:normAutofit fontScale="92500" lnSpcReduction="20000"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Conceptos</a:t>
            </a:r>
          </a:p>
          <a:p>
            <a:pPr lvl="1"/>
            <a:r>
              <a:rPr lang="es-ES" sz="2500" b="1" dirty="0">
                <a:solidFill>
                  <a:srgbClr val="FF0000"/>
                </a:solidFill>
                <a:latin typeface="Open Sans" panose="020B0604020202020204" pitchFamily="34" charset="0"/>
              </a:rPr>
              <a:t>UC. Contrato de Apoyo.</a:t>
            </a:r>
            <a:r>
              <a:rPr lang="es-ES" sz="2500" dirty="0">
                <a:latin typeface="Open Sans" panose="020B0604020202020204" pitchFamily="34" charset="0"/>
              </a:rPr>
              <a:t> es un contrato entre el proveedor de servicios de tecnología de la información y un proveedor externo</a:t>
            </a:r>
          </a:p>
          <a:p>
            <a:pPr lvl="1"/>
            <a:r>
              <a:rPr lang="es-ES" sz="2500" b="1" i="0" dirty="0" err="1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SLA</a:t>
            </a:r>
            <a:r>
              <a:rPr lang="es-ES" sz="25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. Niveles de servicios.</a:t>
            </a:r>
            <a:r>
              <a:rPr lang="es-ES" sz="2500" i="0" dirty="0">
                <a:effectLst/>
                <a:latin typeface="Open Sans" panose="020B0604020202020204" pitchFamily="34" charset="0"/>
              </a:rPr>
              <a:t> Es un convenio redactado en términos comerciales que pueda ser entendido por cualquier persona. En un nivel de servicio el proveedor de servicio mantiene su rol de proveedor y no cambia su rol como con un contrato de apoyo. Dicho de otra manera un </a:t>
            </a:r>
            <a:r>
              <a:rPr lang="es-ES" sz="2500" i="0" dirty="0" err="1">
                <a:effectLst/>
                <a:latin typeface="Open Sans" panose="020B0604020202020204" pitchFamily="34" charset="0"/>
              </a:rPr>
              <a:t>SLA</a:t>
            </a:r>
            <a:r>
              <a:rPr lang="es-ES" sz="2500" i="0" dirty="0">
                <a:effectLst/>
                <a:latin typeface="Open Sans" panose="020B0604020202020204" pitchFamily="34" charset="0"/>
              </a:rPr>
              <a:t> se establece entre un proveedor y un cliente.</a:t>
            </a:r>
          </a:p>
          <a:p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pPr marL="0" indent="0">
              <a:buNone/>
            </a:pPr>
            <a:endParaRPr lang="es-EC" sz="28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F763DB0-F9A1-4D5E-ACC7-6FC5567EA2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619" y="4321865"/>
            <a:ext cx="7324725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86906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 Proveedores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4"/>
            <a:ext cx="10326858" cy="1082041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Tipos de contratación </a:t>
            </a:r>
          </a:p>
          <a:p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pPr marL="0" indent="0">
              <a:buNone/>
            </a:pPr>
            <a:endParaRPr lang="es-EC" sz="28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B9D47CA-63C0-45D6-94A3-394A4FB33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755" y="2542271"/>
            <a:ext cx="10970489" cy="3242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62698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 Proveedores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4"/>
            <a:ext cx="10326858" cy="1082041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Tipos de contratación </a:t>
            </a:r>
          </a:p>
          <a:p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pPr marL="0" indent="0">
              <a:buNone/>
            </a:pPr>
            <a:endParaRPr lang="es-EC" sz="28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2126857-6AB7-4E48-9695-48200E2DF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871" y="2516671"/>
            <a:ext cx="9535249" cy="3710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24938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 Proveedores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AE4DEFE-9337-4406-926D-262D5D673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226" y="1082040"/>
            <a:ext cx="10261203" cy="577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35070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B0B617-C257-4359-AFDC-0E5975183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865632"/>
            <a:ext cx="4368602" cy="1416578"/>
          </a:xfrm>
        </p:spPr>
        <p:txBody>
          <a:bodyPr anchor="b">
            <a:normAutofit/>
          </a:bodyPr>
          <a:lstStyle/>
          <a:p>
            <a:pPr algn="ctr"/>
            <a:r>
              <a:rPr lang="es-EC" sz="8900" dirty="0" err="1"/>
              <a:t>ITIL</a:t>
            </a:r>
            <a:r>
              <a:rPr lang="es-EC" sz="8900" dirty="0"/>
              <a:t> 4</a:t>
            </a:r>
            <a:endParaRPr lang="es-EC" sz="42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381CDC-C1E2-46D4-B108-EE574E07B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282210"/>
            <a:ext cx="4621033" cy="39113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C" sz="3600" b="1" dirty="0">
                <a:solidFill>
                  <a:srgbClr val="FF0000"/>
                </a:solidFill>
              </a:rPr>
              <a:t>Prácticas de Gestión General</a:t>
            </a:r>
          </a:p>
          <a:p>
            <a:pPr marL="0" indent="0">
              <a:buNone/>
            </a:pPr>
            <a:endParaRPr lang="es-EC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s-EC" sz="3600" b="1" dirty="0">
                <a:solidFill>
                  <a:srgbClr val="FF0000"/>
                </a:solidFill>
              </a:rPr>
              <a:t>13. Gestión de la Estrategia</a:t>
            </a:r>
          </a:p>
          <a:p>
            <a:endParaRPr lang="es-EC" sz="2200" dirty="0"/>
          </a:p>
          <a:p>
            <a:endParaRPr lang="es-EC" sz="2200" b="1" dirty="0"/>
          </a:p>
        </p:txBody>
      </p:sp>
      <p:pic>
        <p:nvPicPr>
          <p:cNvPr id="7170" name="Picture 2" descr="Gestión de proveedores organización del sistema de gestión de la cadena de  suministro, negocios, Servicio, gente png | PNGEgg">
            <a:extLst>
              <a:ext uri="{FF2B5EF4-FFF2-40B4-BE49-F238E27FC236}">
                <a16:creationId xmlns:a16="http://schemas.microsoft.com/office/drawing/2014/main" id="{F0FA9D3F-52B4-4ADA-B6CB-C432AE382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8777" y="538824"/>
            <a:ext cx="5855042" cy="5992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005519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 la Estrategia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4"/>
            <a:ext cx="10326858" cy="4536745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Objetivo y características</a:t>
            </a:r>
          </a:p>
          <a:p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r>
              <a:rPr lang="es-EC" dirty="0"/>
              <a:t>El principal objetivo de esta práctica es formular los objetivos de la organización y adoptar los cursos de acción y la asignación de recursos para alcanzar esos objetivos</a:t>
            </a:r>
          </a:p>
          <a:p>
            <a:r>
              <a:rPr lang="es-EC" sz="2800" dirty="0"/>
              <a:t>La </a:t>
            </a:r>
            <a:r>
              <a:rPr lang="es-EC" dirty="0"/>
              <a:t>gestión de la estrategia establece la dirección de la organización, enfoca el esfuerzo, define o aclara las prioridades de la organización y proporciona coherencia u orientación en respuesta al entorno.</a:t>
            </a:r>
            <a:endParaRPr lang="es-EC" sz="28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01604539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 la Estrategia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5"/>
            <a:ext cx="10326858" cy="1082040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Aspectos mas importantes</a:t>
            </a:r>
          </a:p>
          <a:p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A438E1F-1794-4DA7-AF98-8DAEB59DB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282" y="2543588"/>
            <a:ext cx="9632775" cy="3884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97753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 la Estrategia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5"/>
            <a:ext cx="10326858" cy="1082040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Beneficios de esta práctica de gestión</a:t>
            </a:r>
          </a:p>
          <a:p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C1DB87C-1FC5-4ED1-9F27-2C4E40692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322" y="2694305"/>
            <a:ext cx="10668128" cy="342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67996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 la Estrategia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548BEC8-0983-498A-968B-A174E62C2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598" y="1082040"/>
            <a:ext cx="10497752" cy="577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78511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B0B617-C257-4359-AFDC-0E5975183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865632"/>
            <a:ext cx="4368602" cy="1416578"/>
          </a:xfrm>
        </p:spPr>
        <p:txBody>
          <a:bodyPr anchor="b">
            <a:normAutofit/>
          </a:bodyPr>
          <a:lstStyle/>
          <a:p>
            <a:pPr algn="ctr"/>
            <a:r>
              <a:rPr lang="es-EC" sz="8900" dirty="0" err="1"/>
              <a:t>ITIL</a:t>
            </a:r>
            <a:r>
              <a:rPr lang="es-EC" sz="8900" dirty="0"/>
              <a:t> 4</a:t>
            </a:r>
            <a:endParaRPr lang="es-EC" sz="42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381CDC-C1E2-46D4-B108-EE574E07B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282210"/>
            <a:ext cx="4621033" cy="39113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C" sz="3600" b="1" dirty="0">
                <a:solidFill>
                  <a:srgbClr val="FF0000"/>
                </a:solidFill>
              </a:rPr>
              <a:t>Prácticas de Gestión General</a:t>
            </a:r>
          </a:p>
          <a:p>
            <a:pPr marL="0" indent="0">
              <a:buNone/>
            </a:pPr>
            <a:endParaRPr lang="es-EC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s-EC" sz="3600" b="1" dirty="0">
                <a:solidFill>
                  <a:srgbClr val="FF0000"/>
                </a:solidFill>
              </a:rPr>
              <a:t>14. Fuerza Laboral y Talento</a:t>
            </a:r>
          </a:p>
          <a:p>
            <a:endParaRPr lang="es-EC" sz="2200" dirty="0"/>
          </a:p>
          <a:p>
            <a:endParaRPr lang="es-EC" sz="2200" b="1" dirty="0"/>
          </a:p>
        </p:txBody>
      </p:sp>
      <p:pic>
        <p:nvPicPr>
          <p:cNvPr id="8194" name="Picture 2" descr="Gestión de Recursos Humanos | 10 ejemplos de éxito">
            <a:extLst>
              <a:ext uri="{FF2B5EF4-FFF2-40B4-BE49-F238E27FC236}">
                <a16:creationId xmlns:a16="http://schemas.microsoft.com/office/drawing/2014/main" id="{19D811C3-5746-4859-8090-B5075F90BA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66" r="28659"/>
          <a:stretch/>
        </p:blipFill>
        <p:spPr bwMode="auto">
          <a:xfrm>
            <a:off x="6260124" y="381000"/>
            <a:ext cx="5556738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972457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 la Fuerza laboral y Talento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4"/>
            <a:ext cx="10326858" cy="4536745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Objetivo y características</a:t>
            </a:r>
          </a:p>
          <a:p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  <a:p>
            <a:r>
              <a:rPr lang="es-EC" dirty="0"/>
              <a:t>El principal objetivo de esta práctica es garantizar que la organización tenga las personas adecuadas con las habilidades y conocimientos adecuados y en los roles </a:t>
            </a:r>
            <a:r>
              <a:rPr lang="es-EC"/>
              <a:t>correctos para </a:t>
            </a:r>
            <a:r>
              <a:rPr lang="es-EC" dirty="0"/>
              <a:t>respaldar sus objetivos comunes.</a:t>
            </a:r>
            <a:endParaRPr lang="es-EC" sz="2800" dirty="0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0658314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 la Fuerza laboral y Talento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7EF3D44-76BA-4704-9333-0F4F33014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43" y="1603513"/>
            <a:ext cx="10591922" cy="515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54492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 la Fuerza laboral y Talento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942" y="1612265"/>
            <a:ext cx="10326858" cy="1082040"/>
          </a:xfrm>
        </p:spPr>
        <p:txBody>
          <a:bodyPr>
            <a:normAutofit/>
          </a:bodyPr>
          <a:lstStyle/>
          <a:p>
            <a:r>
              <a:rPr lang="es-ES" sz="3200" b="1" i="0" dirty="0">
                <a:solidFill>
                  <a:srgbClr val="FF0000"/>
                </a:solidFill>
                <a:effectLst/>
                <a:latin typeface="Open Sans" panose="020B0604020202020204" pitchFamily="34" charset="0"/>
              </a:rPr>
              <a:t>Conceptos</a:t>
            </a:r>
          </a:p>
          <a:p>
            <a:endParaRPr lang="es-ES" sz="3200" b="1" i="0" dirty="0">
              <a:solidFill>
                <a:srgbClr val="FF0000"/>
              </a:solidFill>
              <a:effectLst/>
              <a:latin typeface="Open Sans" panose="020B0604020202020204" pitchFamily="34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06CAA69-2BDB-4D6D-A067-344A4E51F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964" y="2393392"/>
            <a:ext cx="10397912" cy="3540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56433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 </a:t>
            </a:r>
            <a:br>
              <a:rPr lang="es-EC" sz="2800" dirty="0">
                <a:solidFill>
                  <a:schemeClr val="bg1"/>
                </a:solidFill>
              </a:rPr>
            </a:br>
            <a:r>
              <a:rPr lang="es-EC" sz="2000" dirty="0">
                <a:solidFill>
                  <a:schemeClr val="bg1"/>
                </a:solidFill>
              </a:rPr>
              <a:t>Gestión de la Fuerza laboral y Talento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976F6323-03F3-4373-9E68-7D7F3D528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212" y="1082039"/>
            <a:ext cx="10273127" cy="5722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98338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a evaluación del aprendizaje ante el actual escenario educativo a causa de  la pandemia - CETYS">
            <a:extLst>
              <a:ext uri="{FF2B5EF4-FFF2-40B4-BE49-F238E27FC236}">
                <a16:creationId xmlns:a16="http://schemas.microsoft.com/office/drawing/2014/main" id="{F5A5F19C-503B-45B1-A71D-9FFA416B0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6521" y="1186484"/>
            <a:ext cx="7726018" cy="5544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CD6068A3-374C-4660-8879-24FA4F0A2364}"/>
              </a:ext>
            </a:extLst>
          </p:cNvPr>
          <p:cNvSpPr/>
          <p:nvPr/>
        </p:nvSpPr>
        <p:spPr>
          <a:xfrm>
            <a:off x="0" y="0"/>
            <a:ext cx="12192000" cy="1082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99AE3B-510C-4CE6-A45C-E9DE4345B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20" y="0"/>
            <a:ext cx="10515600" cy="1082040"/>
          </a:xfrm>
        </p:spPr>
        <p:txBody>
          <a:bodyPr>
            <a:normAutofit/>
          </a:bodyPr>
          <a:lstStyle/>
          <a:p>
            <a:r>
              <a:rPr lang="es-EC" sz="2800" b="1" dirty="0">
                <a:solidFill>
                  <a:schemeClr val="bg1"/>
                </a:solidFill>
              </a:rPr>
              <a:t>Prácticas de Gestión General</a:t>
            </a:r>
            <a:br>
              <a:rPr lang="es-EC" sz="2800" dirty="0">
                <a:solidFill>
                  <a:schemeClr val="bg1"/>
                </a:solidFill>
              </a:rPr>
            </a:br>
            <a:endParaRPr lang="es-EC" sz="2000" dirty="0">
              <a:solidFill>
                <a:schemeClr val="bg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B701E58C-E74C-4D04-9975-1368ACF8C4B9}"/>
              </a:ext>
            </a:extLst>
          </p:cNvPr>
          <p:cNvSpPr/>
          <p:nvPr/>
        </p:nvSpPr>
        <p:spPr>
          <a:xfrm>
            <a:off x="0" y="0"/>
            <a:ext cx="182880" cy="108204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A3CC7CDB-E227-40E4-9F41-61EA009B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2264"/>
            <a:ext cx="10333383" cy="44439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3200" b="1" dirty="0">
                <a:solidFill>
                  <a:srgbClr val="FF0000"/>
                </a:solidFill>
                <a:latin typeface="Open Sans" panose="020B0604020202020204" pitchFamily="34" charset="0"/>
              </a:rPr>
              <a:t>AUTO-APRENDIZAJE</a:t>
            </a:r>
            <a:endParaRPr lang="es-ES" sz="320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876185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4651</TotalTime>
  <Words>2777</Words>
  <Application>Microsoft Office PowerPoint</Application>
  <PresentationFormat>Panorámica</PresentationFormat>
  <Paragraphs>290</Paragraphs>
  <Slides>81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81</vt:i4>
      </vt:variant>
    </vt:vector>
  </HeadingPairs>
  <TitlesOfParts>
    <vt:vector size="86" baseType="lpstr">
      <vt:lpstr>Arial</vt:lpstr>
      <vt:lpstr>Calibri</vt:lpstr>
      <vt:lpstr>Calibri Light</vt:lpstr>
      <vt:lpstr>Open Sans</vt:lpstr>
      <vt:lpstr>Tema de Office</vt:lpstr>
      <vt:lpstr>ITIL 4</vt:lpstr>
      <vt:lpstr>ITIL 4</vt:lpstr>
      <vt:lpstr>Prácticas de Gestión General  Gestión de la Arquitectura</vt:lpstr>
      <vt:lpstr>Prácticas de Gestión General  Gestión de la Arquitectura</vt:lpstr>
      <vt:lpstr>Prácticas de Gestión General  Gestión de la Arquitectura</vt:lpstr>
      <vt:lpstr>Prácticas de Gestión General  Gestión de la Arquitectura</vt:lpstr>
      <vt:lpstr>ITIL 4</vt:lpstr>
      <vt:lpstr>Prácticas de Gestión General  Gestión de la Mejora Continua</vt:lpstr>
      <vt:lpstr>Prácticas de Gestión General  Gestión de la Mejora Continua</vt:lpstr>
      <vt:lpstr>Prácticas de Gestión General  Gestión de la Mejora Continua</vt:lpstr>
      <vt:lpstr>Prácticas de Gestión General  Gestión de la Mejora Continua</vt:lpstr>
      <vt:lpstr>Prácticas de Gestión General  Gestión de la Mejora Continua</vt:lpstr>
      <vt:lpstr>Prácticas de Gestión General  Gestión de la Mejora Continua</vt:lpstr>
      <vt:lpstr>Prácticas de Gestión General  Gestión de la Mejora Continua</vt:lpstr>
      <vt:lpstr>Prácticas de Gestión General  Gestión de la Mejora Continua</vt:lpstr>
      <vt:lpstr>ITIL 4</vt:lpstr>
      <vt:lpstr>Prácticas de Gestión General  Seguridad de la información </vt:lpstr>
      <vt:lpstr>Prácticas de Gestión General  Seguridad de la información </vt:lpstr>
      <vt:lpstr>Prácticas de Gestión General  Seguridad de la información </vt:lpstr>
      <vt:lpstr>Prácticas de Gestión General  Seguridad de la información </vt:lpstr>
      <vt:lpstr>Prácticas de Gestión General  Seguridad de la información </vt:lpstr>
      <vt:lpstr>ITIL 4</vt:lpstr>
      <vt:lpstr>Prácticas de Gestión General  Gestión del Conocimiento</vt:lpstr>
      <vt:lpstr>Prácticas de Gestión General  Gestión del Conocimiento</vt:lpstr>
      <vt:lpstr>Prácticas de Gestión General  Gestión del Conocimiento</vt:lpstr>
      <vt:lpstr>ITIL 4</vt:lpstr>
      <vt:lpstr>Prácticas de Gestión General  Medición y Reportes</vt:lpstr>
      <vt:lpstr>Prácticas de Gestión General  Medición y Reportes</vt:lpstr>
      <vt:lpstr>Prácticas de Gestión General  Medición y Reportes</vt:lpstr>
      <vt:lpstr>Prácticas de Gestión General  Medición y Reportes</vt:lpstr>
      <vt:lpstr>Prácticas de Gestión General  Medición y Reportes</vt:lpstr>
      <vt:lpstr>Prácticas de Gestión General  Medición y Reportes</vt:lpstr>
      <vt:lpstr>ITIL 4</vt:lpstr>
      <vt:lpstr>Prácticas de Gestión General  Cambio Organizacional</vt:lpstr>
      <vt:lpstr>Prácticas de Gestión General  Cambio Organizacional</vt:lpstr>
      <vt:lpstr>Prácticas de Gestión General  Cambio Organizacional</vt:lpstr>
      <vt:lpstr>Prácticas de Gestión General  Cambio Organizacional</vt:lpstr>
      <vt:lpstr>ITIL 4</vt:lpstr>
      <vt:lpstr>Prácticas de Gestión General  Gestión del Portafolio</vt:lpstr>
      <vt:lpstr>Prácticas de Gestión General  Gestión del Portafolio</vt:lpstr>
      <vt:lpstr>Prácticas de Gestión General  Gestión del Portafolio</vt:lpstr>
      <vt:lpstr>ITIL 4</vt:lpstr>
      <vt:lpstr>Prácticas de Gestión General  Gestión de Proyectos</vt:lpstr>
      <vt:lpstr>Prácticas de Gestión General  Gestión de Proyectos</vt:lpstr>
      <vt:lpstr>Prácticas de Gestión General  Gestión de Proyectos</vt:lpstr>
      <vt:lpstr>Prácticas de Gestión General  Gestión de Proyectos</vt:lpstr>
      <vt:lpstr>ITIL 4</vt:lpstr>
      <vt:lpstr>Prácticas de Gestión General  Gestión de Relaciones</vt:lpstr>
      <vt:lpstr>Prácticas de Gestión General  Gestión de Relaciones</vt:lpstr>
      <vt:lpstr>Prácticas de Gestión General  Gestión de Relaciones</vt:lpstr>
      <vt:lpstr>Prácticas de Gestión General  Gestión de Relaciones</vt:lpstr>
      <vt:lpstr>ITIL 4</vt:lpstr>
      <vt:lpstr>Prácticas de Gestión General  Gestión de Riesgos</vt:lpstr>
      <vt:lpstr>Prácticas de Gestión General  Gestión de Riesgos</vt:lpstr>
      <vt:lpstr>Prácticas de Gestión General  Gestión de Riesgos</vt:lpstr>
      <vt:lpstr>Prácticas de Gestión General  Gestión de Riesgos</vt:lpstr>
      <vt:lpstr>Prácticas de Gestión General  Gestión de Riesgos</vt:lpstr>
      <vt:lpstr>ITIL 4</vt:lpstr>
      <vt:lpstr>Prácticas de Gestión General  Gestión Financiera del Servicio</vt:lpstr>
      <vt:lpstr>Prácticas de Gestión General  Gestión Financiera del Servicio</vt:lpstr>
      <vt:lpstr>Prácticas de Gestión General  Gestión Financiera del Servicio</vt:lpstr>
      <vt:lpstr>Prácticas de Gestión General  Gestión Financiera del Servicio</vt:lpstr>
      <vt:lpstr>ITIL 4</vt:lpstr>
      <vt:lpstr>Prácticas de Gestión General  Gestión de Proveedores</vt:lpstr>
      <vt:lpstr>Prácticas de Gestión General  Gestión de Proveedores</vt:lpstr>
      <vt:lpstr>Prácticas de Gestión General  Gestión de Proveedores</vt:lpstr>
      <vt:lpstr>Prácticas de Gestión General  Gestión de Proveedores</vt:lpstr>
      <vt:lpstr>Prácticas de Gestión General  Gestión de Proveedores</vt:lpstr>
      <vt:lpstr>Prácticas de Gestión General  Gestión de Proveedores</vt:lpstr>
      <vt:lpstr>Prácticas de Gestión General  Gestión de Proveedores</vt:lpstr>
      <vt:lpstr>ITIL 4</vt:lpstr>
      <vt:lpstr>Prácticas de Gestión General  Gestión de la Estrategia</vt:lpstr>
      <vt:lpstr>Prácticas de Gestión General  Gestión de la Estrategia</vt:lpstr>
      <vt:lpstr>Prácticas de Gestión General  Gestión de la Estrategia</vt:lpstr>
      <vt:lpstr>Prácticas de Gestión General  Gestión de la Estrategia</vt:lpstr>
      <vt:lpstr>ITIL 4</vt:lpstr>
      <vt:lpstr>Prácticas de Gestión General  Gestión de la Fuerza laboral y Talento</vt:lpstr>
      <vt:lpstr>Prácticas de Gestión General  Gestión de la Fuerza laboral y Talento</vt:lpstr>
      <vt:lpstr>Prácticas de Gestión General  Gestión de la Fuerza laboral y Talento</vt:lpstr>
      <vt:lpstr>Prácticas de Gestión General  Gestión de la Fuerza laboral y Talento</vt:lpstr>
      <vt:lpstr>Prácticas de Gestión General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ITIL 4</dc:title>
  <dc:creator>CarlosReyes</dc:creator>
  <cp:lastModifiedBy>CarlosReyes</cp:lastModifiedBy>
  <cp:revision>52</cp:revision>
  <dcterms:created xsi:type="dcterms:W3CDTF">2021-07-06T13:09:57Z</dcterms:created>
  <dcterms:modified xsi:type="dcterms:W3CDTF">2021-07-16T14:38:32Z</dcterms:modified>
</cp:coreProperties>
</file>