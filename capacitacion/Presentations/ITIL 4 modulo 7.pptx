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3" r:id="rId3"/>
    <p:sldId id="270" r:id="rId4"/>
    <p:sldId id="274" r:id="rId5"/>
    <p:sldId id="275" r:id="rId6"/>
    <p:sldId id="276" r:id="rId7"/>
    <p:sldId id="277" r:id="rId8"/>
    <p:sldId id="278" r:id="rId9"/>
    <p:sldId id="279" r:id="rId10"/>
    <p:sldId id="281" r:id="rId11"/>
    <p:sldId id="282" r:id="rId12"/>
    <p:sldId id="280" r:id="rId13"/>
    <p:sldId id="283" r:id="rId14"/>
    <p:sldId id="284" r:id="rId15"/>
    <p:sldId id="285" r:id="rId16"/>
    <p:sldId id="286" r:id="rId17"/>
    <p:sldId id="287" r:id="rId18"/>
    <p:sldId id="288" r:id="rId19"/>
    <p:sldId id="289" r:id="rId20"/>
    <p:sldId id="290" r:id="rId21"/>
    <p:sldId id="428" r:id="rId22"/>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losReyes" initials="C" lastIdx="4" clrIdx="0">
    <p:extLst>
      <p:ext uri="{19B8F6BF-5375-455C-9EA6-DF929625EA0E}">
        <p15:presenceInfo xmlns:p15="http://schemas.microsoft.com/office/powerpoint/2012/main" userId="CarlosRey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8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7-15T10:14:13.415" idx="1">
    <p:pos x="6844" y="1396"/>
    <p:text>DML (Definitive Media Library)</p:text>
    <p:extLst>
      <p:ext uri="{C676402C-5697-4E1C-873F-D02D1690AC5C}">
        <p15:threadingInfo xmlns:p15="http://schemas.microsoft.com/office/powerpoint/2012/main" timeZoneBias="300"/>
      </p:ext>
    </p:extLst>
  </p:cm>
  <p:cm authorId="1" dt="2021-07-15T10:15:00.998" idx="2">
    <p:pos x="6844" y="1532"/>
    <p:text>DHS (Definitive Hardware Store)</p:text>
    <p:extLst>
      <p:ext uri="{C676402C-5697-4E1C-873F-D02D1690AC5C}">
        <p15:threadingInfo xmlns:p15="http://schemas.microsoft.com/office/powerpoint/2012/main" timeZoneBias="30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7-15T10:19:37.475" idx="3">
    <p:pos x="7604" y="1697"/>
    <p:text>Por fases: Los componentes nuevos o modificados se implementan solo en una parte del entorno de producción a la vez, por ejemplo, en los usuarios de una oficina o un país. Esta operación se repite tantas veces como sea necesario hasta que se completa la implementación</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7-15T10:54:37.346" idx="4">
    <p:pos x="2323" y="3333"/>
    <p:text>DML (Biblioteca definitiva de Medios y la Tienda definitiva de Hardware)</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CC0DA-241E-4D69-891B-D1EB9B99880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609B6E5A-C675-4CD7-B026-092AE7A0D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8284D6E4-F5B1-4D90-B157-03957049AF25}"/>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9E1A06FC-9D74-4F72-8AE4-571DB8F51C9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E544C49-CC6E-4C3E-8F3C-5F750193BF81}"/>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1637705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7603DD-901E-430E-9782-295C76BA6C0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914F10FC-E0F2-42E5-AA67-82286D6D518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9C8FBCBD-3DC1-4408-B967-B77B0B040ADF}"/>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265333BD-FF36-4E1E-AA1B-CB6FDD44AD33}"/>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34054125-4D7E-4DC0-B2CA-47465612FE4F}"/>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129682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B9E69-BF1D-4D22-AEFA-C9D8078C3CF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EA3DDB57-B789-4876-9088-D6CF3C1395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F315916-B52A-425F-8689-FB30941E7A84}"/>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D25BABAD-5817-4BEB-9ABC-D19F6E51735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8E2EE719-9A84-4801-8A09-1E9A9BB5FF6B}"/>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3340216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E2C5AA-1E97-41F1-9F4A-A4B28F13802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CF6E90F9-A5AA-46B6-8513-58535FEECC7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6710AFA7-A435-4FA6-90AE-3CC69969D2F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48B7D1B6-C07B-4F39-9550-4EFC3BCE6773}"/>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6" name="Marcador de pie de página 5">
            <a:extLst>
              <a:ext uri="{FF2B5EF4-FFF2-40B4-BE49-F238E27FC236}">
                <a16:creationId xmlns:a16="http://schemas.microsoft.com/office/drawing/2014/main" id="{FDA223B4-E349-4313-AE0B-1F058C9BF058}"/>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472A7FB4-0980-41E9-86DA-8C5340B30ACA}"/>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3746627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C319D-B467-4197-8702-0F4B9CB0E68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514D327C-19AF-46A2-B8D8-EBECD2BA1B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FCCDE5-ED85-40ED-8A7D-ADD22AB5133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A83AF28E-1D2F-4B65-9C8E-8023E9C8B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4D42BA9-ACEC-4322-B1E2-AD8A0D05B04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EFEF8B3F-9742-4B7D-B240-8DEA1E67BC35}"/>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8" name="Marcador de pie de página 7">
            <a:extLst>
              <a:ext uri="{FF2B5EF4-FFF2-40B4-BE49-F238E27FC236}">
                <a16:creationId xmlns:a16="http://schemas.microsoft.com/office/drawing/2014/main" id="{7FAFF466-6B36-4272-8CF3-5B329182BB76}"/>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AB2E5EC0-483F-49BF-8D47-AD6F0ED51692}"/>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4063689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5AFDD-6E7D-442B-8890-DDB9D3C1A31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6CE7B7C1-EC10-49D3-B677-160A1455747B}"/>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4" name="Marcador de pie de página 3">
            <a:extLst>
              <a:ext uri="{FF2B5EF4-FFF2-40B4-BE49-F238E27FC236}">
                <a16:creationId xmlns:a16="http://schemas.microsoft.com/office/drawing/2014/main" id="{4B57393D-7B86-4E9B-9C13-FA9E6DC61B1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BE0525EF-3B17-407D-9EA9-6CF8CB8A2677}"/>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127732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7763CBD-C4C0-4136-BD8A-364387F916CF}"/>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3" name="Marcador de pie de página 2">
            <a:extLst>
              <a:ext uri="{FF2B5EF4-FFF2-40B4-BE49-F238E27FC236}">
                <a16:creationId xmlns:a16="http://schemas.microsoft.com/office/drawing/2014/main" id="{E21CB252-B9BB-4636-87C1-53F7C1345E36}"/>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55C873D0-9464-4A22-8DA3-B4E3126E82E0}"/>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745079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168B75-56EB-4AAA-BCC5-D33D88144AB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91E42CC-596B-48FB-A705-CFA7573F45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F8AECCE5-4C4A-4EDB-8445-26FD892624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832047C-0BB2-4AA4-9C15-48E1FFAAE77E}"/>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6" name="Marcador de pie de página 5">
            <a:extLst>
              <a:ext uri="{FF2B5EF4-FFF2-40B4-BE49-F238E27FC236}">
                <a16:creationId xmlns:a16="http://schemas.microsoft.com/office/drawing/2014/main" id="{84763526-B423-4A41-84DC-7ED77021ABD1}"/>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B64C7435-102B-40AD-AB7F-AB790ECE4C4F}"/>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1627376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F7597-44BB-4393-B474-31BDE0847D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62F2F05E-873D-4C69-BE10-C9EE72313A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D3A38E40-1D0B-4980-A738-66FDD3814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A7AD4F-ACA5-4609-A328-3557979D1A43}"/>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6" name="Marcador de pie de página 5">
            <a:extLst>
              <a:ext uri="{FF2B5EF4-FFF2-40B4-BE49-F238E27FC236}">
                <a16:creationId xmlns:a16="http://schemas.microsoft.com/office/drawing/2014/main" id="{5590331D-ED71-476B-BEA9-F6EF51BE2584}"/>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1EDD2025-1BFD-4ECA-BC2B-D237014C138D}"/>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3282064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B13B7D-7DFD-494A-9A16-28107A01F809}"/>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FFC6E54B-BA82-43C8-8441-EEAA5C8BD7B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32219854-3293-4120-8781-6C3554423386}"/>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E4F58D75-EB18-45B3-9122-538C58F1EA4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3600C0CA-CA10-47F0-872E-F6C713C2870C}"/>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30529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012338-B0DA-4B4D-B9BC-5AF86A340A7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CE32C040-8145-4FFF-8450-451A48BCF6D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17E565A-DE15-4252-85BF-79CFC57B0037}"/>
              </a:ext>
            </a:extLst>
          </p:cNvPr>
          <p:cNvSpPr>
            <a:spLocks noGrp="1"/>
          </p:cNvSpPr>
          <p:nvPr>
            <p:ph type="dt" sz="half" idx="10"/>
          </p:nvPr>
        </p:nvSpPr>
        <p:spPr/>
        <p:txBody>
          <a:body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39549C62-9B38-46E1-9051-D02E23E6B31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297AFA0-04E6-4176-80E3-882DE91652DA}"/>
              </a:ext>
            </a:extLst>
          </p:cNvPr>
          <p:cNvSpPr>
            <a:spLocks noGrp="1"/>
          </p:cNvSpPr>
          <p:nvPr>
            <p:ph type="sldNum" sz="quarter" idx="12"/>
          </p:nvPr>
        </p:nvSpPr>
        <p:spPr/>
        <p:txBody>
          <a:bodyPr/>
          <a:lstStyle/>
          <a:p>
            <a:fld id="{92FA45CA-3E80-431C-882E-5A72EC57F5CD}" type="slidenum">
              <a:rPr lang="es-EC" smtClean="0"/>
              <a:t>‹Nº›</a:t>
            </a:fld>
            <a:endParaRPr lang="es-EC"/>
          </a:p>
        </p:txBody>
      </p:sp>
    </p:spTree>
    <p:extLst>
      <p:ext uri="{BB962C8B-B14F-4D97-AF65-F5344CB8AC3E}">
        <p14:creationId xmlns:p14="http://schemas.microsoft.com/office/powerpoint/2010/main" val="348451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41B69E-501B-413E-AF1D-EA626EAAB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2A250DB8-3679-4C1D-95EC-71DC1B679E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956C1929-F2D8-42AE-BDC7-601BF169C6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BE3F7-653E-4B15-98A6-63A68FF05B85}" type="datetimeFigureOut">
              <a:rPr lang="es-EC" smtClean="0"/>
              <a:t>15/7/2021</a:t>
            </a:fld>
            <a:endParaRPr lang="es-EC"/>
          </a:p>
        </p:txBody>
      </p:sp>
      <p:sp>
        <p:nvSpPr>
          <p:cNvPr id="5" name="Marcador de pie de página 4">
            <a:extLst>
              <a:ext uri="{FF2B5EF4-FFF2-40B4-BE49-F238E27FC236}">
                <a16:creationId xmlns:a16="http://schemas.microsoft.com/office/drawing/2014/main" id="{071114B7-D88E-4C8A-AD86-D74D6DA7B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37B230E1-DF25-4174-9E01-C4F170DF07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FA45CA-3E80-431C-882E-5A72EC57F5CD}" type="slidenum">
              <a:rPr lang="es-EC" smtClean="0"/>
              <a:t>‹Nº›</a:t>
            </a:fld>
            <a:endParaRPr lang="es-EC"/>
          </a:p>
        </p:txBody>
      </p:sp>
    </p:spTree>
    <p:extLst>
      <p:ext uri="{BB962C8B-B14F-4D97-AF65-F5344CB8AC3E}">
        <p14:creationId xmlns:p14="http://schemas.microsoft.com/office/powerpoint/2010/main" val="3356929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Técnica</a:t>
            </a:r>
          </a:p>
          <a:p>
            <a:endParaRPr lang="es-EC" sz="2200" dirty="0"/>
          </a:p>
          <a:p>
            <a:endParaRPr lang="es-EC" sz="2200" b="1" dirty="0"/>
          </a:p>
        </p:txBody>
      </p:sp>
      <p:pic>
        <p:nvPicPr>
          <p:cNvPr id="5" name="Imagen 4" descr="Interfaz de usuario gráfica&#10;&#10;Descripción generada automáticamente">
            <a:extLst>
              <a:ext uri="{FF2B5EF4-FFF2-40B4-BE49-F238E27FC236}">
                <a16:creationId xmlns:a16="http://schemas.microsoft.com/office/drawing/2014/main" id="{491FAAA3-FD84-442A-9FAE-28B14D927F60}"/>
              </a:ext>
            </a:extLst>
          </p:cNvPr>
          <p:cNvPicPr>
            <a:picLocks noChangeAspect="1"/>
          </p:cNvPicPr>
          <p:nvPr/>
        </p:nvPicPr>
        <p:blipFill rotWithShape="1">
          <a:blip r:embed="rId2">
            <a:extLst>
              <a:ext uri="{28A0092B-C50C-407E-A947-70E740481C1C}">
                <a14:useLocalDpi xmlns:a14="http://schemas.microsoft.com/office/drawing/2010/main" val="0"/>
              </a:ext>
            </a:extLst>
          </a:blip>
          <a:srcRect l="11866" r="4199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8502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Técnica</a:t>
            </a:r>
          </a:p>
          <a:p>
            <a:pPr marL="0" indent="0">
              <a:buNone/>
            </a:pPr>
            <a:endParaRPr lang="es-EC" sz="3600" b="1" dirty="0">
              <a:solidFill>
                <a:srgbClr val="FF0000"/>
              </a:solidFill>
            </a:endParaRPr>
          </a:p>
          <a:p>
            <a:pPr marL="0" indent="0">
              <a:buNone/>
            </a:pPr>
            <a:r>
              <a:rPr lang="es-EC" sz="3600" b="1" dirty="0">
                <a:solidFill>
                  <a:srgbClr val="FF0000"/>
                </a:solidFill>
              </a:rPr>
              <a:t>1. Implementaciones</a:t>
            </a:r>
          </a:p>
          <a:p>
            <a:endParaRPr lang="es-EC" sz="2200" dirty="0"/>
          </a:p>
          <a:p>
            <a:endParaRPr lang="es-EC" sz="2200" b="1" dirty="0"/>
          </a:p>
        </p:txBody>
      </p:sp>
      <p:pic>
        <p:nvPicPr>
          <p:cNvPr id="2050" name="Picture 2" descr="6 pasos para implementar una gestión de cambios de ITIL exitosa |  ManageEngine ServiceDesk Plus">
            <a:extLst>
              <a:ext uri="{FF2B5EF4-FFF2-40B4-BE49-F238E27FC236}">
                <a16:creationId xmlns:a16="http://schemas.microsoft.com/office/drawing/2014/main" id="{ED25ED16-20A9-4F87-A705-1A04B68CB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9430" y="865632"/>
            <a:ext cx="5455920" cy="499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68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Implementación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a:bodyPr>
          <a:lstStyle/>
          <a:p>
            <a:r>
              <a:rPr lang="es-ES" sz="3200" b="1" i="0" dirty="0">
                <a:solidFill>
                  <a:srgbClr val="FF0000"/>
                </a:solidFill>
                <a:effectLst/>
                <a:latin typeface="Open Sans" panose="020B0604020202020204" pitchFamily="34" charset="0"/>
              </a:rPr>
              <a:t>Objetivo </a:t>
            </a:r>
          </a:p>
          <a:p>
            <a:endParaRPr lang="es-ES" sz="2400" b="1" i="0" dirty="0">
              <a:solidFill>
                <a:srgbClr val="FF0000"/>
              </a:solidFill>
              <a:effectLst/>
              <a:latin typeface="Open Sans" panose="020B0604020202020204" pitchFamily="34" charset="0"/>
            </a:endParaRPr>
          </a:p>
          <a:p>
            <a:pPr lvl="1" algn="just"/>
            <a:r>
              <a:rPr lang="es-EC" dirty="0"/>
              <a:t>Su propósito es mover hardware, software, procesos, documentación o cualquier otro componente nuevo o modificado a entornos de producción. Solo esta practica puede mover componentes a un entorno de producción, Se suele confundir los términos liberar con implementar.</a:t>
            </a:r>
          </a:p>
          <a:p>
            <a:pPr lvl="1" algn="just"/>
            <a:r>
              <a:rPr lang="es-EC" dirty="0"/>
              <a:t>Trabaja estrechamente con la gestión de liberaciones y control de cambios, pero es una practica independiente.</a:t>
            </a:r>
          </a:p>
          <a:p>
            <a:pPr lvl="1" algn="just"/>
            <a:r>
              <a:rPr lang="es-EC" dirty="0"/>
              <a:t>A menudo la implementación de hardware se conoce con el termino aprovisionamiento (</a:t>
            </a:r>
            <a:r>
              <a:rPr lang="es-EC" dirty="0" err="1"/>
              <a:t>provisioning</a:t>
            </a:r>
            <a:r>
              <a:rPr lang="es-EC" dirty="0"/>
              <a:t>), pero en </a:t>
            </a:r>
            <a:r>
              <a:rPr lang="es-EC" dirty="0" err="1"/>
              <a:t>ITIL</a:t>
            </a:r>
            <a:r>
              <a:rPr lang="es-EC" dirty="0"/>
              <a:t> las implementaciones incluyen hardware y software</a:t>
            </a:r>
          </a:p>
          <a:p>
            <a:pPr marL="457200" lvl="1" indent="0" algn="just">
              <a:buNone/>
            </a:pPr>
            <a:endParaRPr lang="es-EC" dirty="0"/>
          </a:p>
          <a:p>
            <a:pPr marL="457200" lvl="1" indent="0" algn="just">
              <a:buNone/>
            </a:pPr>
            <a:endParaRPr lang="es-EC"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4396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Implementación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r>
              <a:rPr lang="es-ES" sz="3200" b="1" i="0" dirty="0">
                <a:solidFill>
                  <a:srgbClr val="FF0000"/>
                </a:solidFill>
                <a:effectLst/>
                <a:latin typeface="Open Sans" panose="020B0604020202020204" pitchFamily="34" charset="0"/>
              </a:rPr>
              <a:t>Conceptos claves </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a:p>
            <a:pPr marL="457200" lvl="1" indent="0" algn="just">
              <a:buNone/>
            </a:pPr>
            <a:endParaRPr lang="es-EC"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735AB159-F26B-4FB8-A5C4-51D4EC899681}"/>
              </a:ext>
            </a:extLst>
          </p:cNvPr>
          <p:cNvPicPr>
            <a:picLocks noChangeAspect="1"/>
          </p:cNvPicPr>
          <p:nvPr/>
        </p:nvPicPr>
        <p:blipFill>
          <a:blip r:embed="rId2"/>
          <a:stretch>
            <a:fillRect/>
          </a:stretch>
        </p:blipFill>
        <p:spPr>
          <a:xfrm>
            <a:off x="1128919" y="2216233"/>
            <a:ext cx="9736703" cy="3840010"/>
          </a:xfrm>
          <a:prstGeom prst="rect">
            <a:avLst/>
          </a:prstGeom>
        </p:spPr>
      </p:pic>
    </p:spTree>
    <p:extLst>
      <p:ext uri="{BB962C8B-B14F-4D97-AF65-F5344CB8AC3E}">
        <p14:creationId xmlns:p14="http://schemas.microsoft.com/office/powerpoint/2010/main" val="1270403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Implementación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r>
              <a:rPr lang="es-ES" sz="3200" b="1" i="0" dirty="0">
                <a:solidFill>
                  <a:srgbClr val="FF0000"/>
                </a:solidFill>
                <a:effectLst/>
                <a:latin typeface="Open Sans" panose="020B0604020202020204" pitchFamily="34" charset="0"/>
              </a:rPr>
              <a:t>Enfoque de las implementaciones</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a:p>
            <a:pPr marL="457200" lvl="1" indent="0" algn="just">
              <a:buNone/>
            </a:pPr>
            <a:endParaRPr lang="es-EC"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76A2F252-3F3C-490B-B1F0-E910297EF13A}"/>
              </a:ext>
            </a:extLst>
          </p:cNvPr>
          <p:cNvPicPr>
            <a:picLocks noChangeAspect="1"/>
          </p:cNvPicPr>
          <p:nvPr/>
        </p:nvPicPr>
        <p:blipFill>
          <a:blip r:embed="rId2"/>
          <a:stretch>
            <a:fillRect/>
          </a:stretch>
        </p:blipFill>
        <p:spPr>
          <a:xfrm>
            <a:off x="1090534" y="2694305"/>
            <a:ext cx="10981232" cy="3241800"/>
          </a:xfrm>
          <a:prstGeom prst="rect">
            <a:avLst/>
          </a:prstGeom>
        </p:spPr>
      </p:pic>
    </p:spTree>
    <p:extLst>
      <p:ext uri="{BB962C8B-B14F-4D97-AF65-F5344CB8AC3E}">
        <p14:creationId xmlns:p14="http://schemas.microsoft.com/office/powerpoint/2010/main" val="2434257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Implementación </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D3BF6863-B7AA-45C3-BD2F-4F2C2CCC2056}"/>
              </a:ext>
            </a:extLst>
          </p:cNvPr>
          <p:cNvPicPr>
            <a:picLocks noChangeAspect="1"/>
          </p:cNvPicPr>
          <p:nvPr/>
        </p:nvPicPr>
        <p:blipFill>
          <a:blip r:embed="rId2"/>
          <a:stretch>
            <a:fillRect/>
          </a:stretch>
        </p:blipFill>
        <p:spPr>
          <a:xfrm>
            <a:off x="1047671" y="1082040"/>
            <a:ext cx="10205195" cy="5771878"/>
          </a:xfrm>
          <a:prstGeom prst="rect">
            <a:avLst/>
          </a:prstGeom>
        </p:spPr>
      </p:pic>
    </p:spTree>
    <p:extLst>
      <p:ext uri="{BB962C8B-B14F-4D97-AF65-F5344CB8AC3E}">
        <p14:creationId xmlns:p14="http://schemas.microsoft.com/office/powerpoint/2010/main" val="1492809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Técnica</a:t>
            </a:r>
          </a:p>
          <a:p>
            <a:pPr marL="0" indent="0">
              <a:buNone/>
            </a:pPr>
            <a:endParaRPr lang="es-EC" sz="3600" b="1" dirty="0">
              <a:solidFill>
                <a:srgbClr val="FF0000"/>
              </a:solidFill>
            </a:endParaRPr>
          </a:p>
          <a:p>
            <a:pPr marL="0" indent="0">
              <a:buNone/>
            </a:pPr>
            <a:r>
              <a:rPr lang="es-EC" sz="3600" b="1" dirty="0">
                <a:solidFill>
                  <a:srgbClr val="FF0000"/>
                </a:solidFill>
              </a:rPr>
              <a:t>2. Infraestructura y plataformas</a:t>
            </a:r>
          </a:p>
          <a:p>
            <a:endParaRPr lang="es-EC" sz="2200" dirty="0"/>
          </a:p>
          <a:p>
            <a:endParaRPr lang="es-EC" sz="2200" b="1" dirty="0"/>
          </a:p>
        </p:txBody>
      </p:sp>
      <p:pic>
        <p:nvPicPr>
          <p:cNvPr id="4" name="Picture 2" descr="Plataformas de Infraestructura de TI Administra eficaz | icorp">
            <a:extLst>
              <a:ext uri="{FF2B5EF4-FFF2-40B4-BE49-F238E27FC236}">
                <a16:creationId xmlns:a16="http://schemas.microsoft.com/office/drawing/2014/main" id="{7A7E43F1-EED1-49BA-9867-24694CEC94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13" r="4705"/>
          <a:stretch/>
        </p:blipFill>
        <p:spPr bwMode="auto">
          <a:xfrm>
            <a:off x="4547327" y="865632"/>
            <a:ext cx="7644673" cy="5388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554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a:bodyPr>
          <a:lstStyle/>
          <a:p>
            <a:r>
              <a:rPr lang="es-ES" sz="3200" b="1" i="0" dirty="0">
                <a:solidFill>
                  <a:srgbClr val="FF0000"/>
                </a:solidFill>
                <a:effectLst/>
                <a:latin typeface="Open Sans" panose="020B0604020202020204" pitchFamily="34" charset="0"/>
              </a:rPr>
              <a:t>Objetivo </a:t>
            </a:r>
          </a:p>
          <a:p>
            <a:endParaRPr lang="es-ES" sz="2400" b="1" i="0" dirty="0">
              <a:solidFill>
                <a:srgbClr val="FF0000"/>
              </a:solidFill>
              <a:effectLst/>
              <a:latin typeface="Open Sans" panose="020B0604020202020204" pitchFamily="34" charset="0"/>
            </a:endParaRPr>
          </a:p>
          <a:p>
            <a:pPr lvl="1" algn="just"/>
            <a:r>
              <a:rPr lang="es-ES" b="0" i="0" dirty="0">
                <a:solidFill>
                  <a:srgbClr val="444340"/>
                </a:solidFill>
                <a:effectLst/>
                <a:latin typeface="Ubuntu"/>
              </a:rPr>
              <a:t>El propósito de la práctica de gestión de la infraestructura y la plataforma es supervisar y controlar la infraestructura y las plataformas utilizadas por una organización. Cuando se lleva a cabo correctamente, esta práctica permite el seguimiento de las soluciones tecnológicas disponibles para la organización, incluida la tecnología de los proveedores de servicios externos.</a:t>
            </a:r>
            <a:endParaRPr lang="es-EC" dirty="0"/>
          </a:p>
          <a:p>
            <a:pPr marL="457200" lvl="1" indent="0" algn="just">
              <a:buNone/>
            </a:pPr>
            <a:endParaRPr lang="es-EC"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608280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a:bodyPr>
          <a:lstStyle/>
          <a:p>
            <a:r>
              <a:rPr lang="es-ES" sz="3200" b="1" i="0" dirty="0">
                <a:solidFill>
                  <a:srgbClr val="FF0000"/>
                </a:solidFill>
                <a:effectLst/>
                <a:latin typeface="Open Sans" panose="020B0604020202020204" pitchFamily="34" charset="0"/>
              </a:rPr>
              <a:t>Definici</a:t>
            </a:r>
            <a:r>
              <a:rPr lang="es-ES" sz="3200" b="1" dirty="0">
                <a:solidFill>
                  <a:srgbClr val="FF0000"/>
                </a:solidFill>
                <a:latin typeface="Open Sans" panose="020B0604020202020204" pitchFamily="34" charset="0"/>
              </a:rPr>
              <a:t>ón </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pPr lvl="1" algn="just"/>
            <a:r>
              <a:rPr lang="es-ES" b="1" i="0" dirty="0">
                <a:solidFill>
                  <a:srgbClr val="444340"/>
                </a:solidFill>
                <a:effectLst/>
                <a:latin typeface="Ubuntu"/>
              </a:rPr>
              <a:t>La infraestructura de TI son los recursos tecnológicos físicos y / o virtuales, como servidores, almacenamiento, redes, hardware del cliente, middleware y software de sistemas operativos, que proporcionan los entornos necesarios para brindar servicios de TI. Esto incluye cualquier CI que un cliente utilice para acceder al servicio o consumir un producto. La infraestructura de TI puede ser administrada por el proveedor de servicios o por un proveedor externo como servicios dedicados, compartidos o en la nube. La gestión de la infraestructura y la plataforma también puede incluir los edificios e instalaciones que utiliza una organización para ejecutar su infraestructura de TI.</a:t>
            </a:r>
            <a:endParaRPr lang="es-EC"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75191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fontScale="85000" lnSpcReduction="20000"/>
          </a:bodyPr>
          <a:lstStyle/>
          <a:p>
            <a:pPr marL="0" indent="0">
              <a:buNone/>
            </a:pPr>
            <a:r>
              <a:rPr lang="es-ES" sz="3200" b="1" i="0" dirty="0">
                <a:solidFill>
                  <a:srgbClr val="FF0000"/>
                </a:solidFill>
                <a:effectLst/>
                <a:latin typeface="Open Sans" panose="020B0604020202020204" pitchFamily="34" charset="0"/>
              </a:rPr>
              <a:t>Modelos de servicios en la nube </a:t>
            </a:r>
          </a:p>
          <a:p>
            <a:endParaRPr lang="es-ES" sz="2400" b="1" i="0" dirty="0">
              <a:solidFill>
                <a:srgbClr val="FF0000"/>
              </a:solidFill>
              <a:effectLst/>
              <a:latin typeface="Open Sans" panose="020B0604020202020204" pitchFamily="34" charset="0"/>
            </a:endParaRPr>
          </a:p>
          <a:p>
            <a:pPr algn="l" fontAlgn="base"/>
            <a:r>
              <a:rPr lang="es-ES" b="0" i="0" dirty="0">
                <a:solidFill>
                  <a:srgbClr val="444340"/>
                </a:solidFill>
                <a:effectLst/>
                <a:latin typeface="Ubuntu"/>
              </a:rPr>
              <a:t>Los modelos de servicios en la nube incluyen:</a:t>
            </a:r>
          </a:p>
          <a:p>
            <a:pPr algn="l" fontAlgn="base">
              <a:buFont typeface="Arial" panose="020B0604020202020204" pitchFamily="34" charset="0"/>
              <a:buChar char="•"/>
            </a:pPr>
            <a:r>
              <a:rPr lang="es-ES" b="1" i="0" dirty="0">
                <a:solidFill>
                  <a:srgbClr val="444340"/>
                </a:solidFill>
                <a:effectLst/>
                <a:latin typeface="inherit"/>
              </a:rPr>
              <a:t>Software como servicio (SaaS).</a:t>
            </a:r>
            <a:r>
              <a:rPr lang="es-ES" b="0" i="0" dirty="0">
                <a:solidFill>
                  <a:srgbClr val="444340"/>
                </a:solidFill>
                <a:effectLst/>
                <a:latin typeface="inherit"/>
              </a:rPr>
              <a:t> El consumidor puede utilizar las aplicaciones que se ejecutan en la infraestructura de la nube sin tener que controlar o incluso administrar la infraestructura de la nube subyacente.</a:t>
            </a:r>
          </a:p>
          <a:p>
            <a:pPr algn="l" fontAlgn="base">
              <a:buFont typeface="Arial" panose="020B0604020202020204" pitchFamily="34" charset="0"/>
              <a:buChar char="•"/>
            </a:pPr>
            <a:r>
              <a:rPr lang="es-ES" b="1" i="0" dirty="0">
                <a:solidFill>
                  <a:srgbClr val="444340"/>
                </a:solidFill>
                <a:effectLst/>
                <a:latin typeface="inherit"/>
              </a:rPr>
              <a:t>Plataforma como servicio (PaaS).</a:t>
            </a:r>
            <a:r>
              <a:rPr lang="es-ES" b="0" i="0" dirty="0">
                <a:solidFill>
                  <a:srgbClr val="444340"/>
                </a:solidFill>
                <a:effectLst/>
                <a:latin typeface="inherit"/>
              </a:rPr>
              <a:t> El consumidor puede implementar en la nube aplicaciones adquiridas creadas utilizando lenguajes de programación, servicios, bibliotecas y / o herramientas compatibles con el proveedor sin tener que controlar o incluso administrar la infraestructura de nube subyacente. Tienen control sobre las aplicaciones implementadas y, a veces, los ajustes de configuración para la aplicación y el entorno de alojamiento.</a:t>
            </a:r>
          </a:p>
          <a:p>
            <a:pPr algn="l" fontAlgn="base">
              <a:buFont typeface="Arial" panose="020B0604020202020204" pitchFamily="34" charset="0"/>
              <a:buChar char="•"/>
            </a:pPr>
            <a:r>
              <a:rPr lang="es-ES" b="1" i="0" dirty="0">
                <a:solidFill>
                  <a:srgbClr val="444340"/>
                </a:solidFill>
                <a:effectLst/>
                <a:latin typeface="inherit"/>
              </a:rPr>
              <a:t>Infraestructura como servicio (IaaS). </a:t>
            </a:r>
            <a:r>
              <a:rPr lang="es-ES" b="0" i="0" dirty="0">
                <a:solidFill>
                  <a:srgbClr val="444340"/>
                </a:solidFill>
                <a:effectLst/>
                <a:latin typeface="inherit"/>
              </a:rPr>
              <a:t>El consumidor puede obtener procesamiento, almacenamiento y / o cualquier otro recurso informático sin tener que controlar la infraestructura subyacente.</a:t>
            </a: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073785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fontScale="92500" lnSpcReduction="10000"/>
          </a:bodyPr>
          <a:lstStyle/>
          <a:p>
            <a:pPr marL="0" indent="0">
              <a:buNone/>
            </a:pPr>
            <a:r>
              <a:rPr lang="es-ES" sz="2600" b="1" i="0" dirty="0">
                <a:solidFill>
                  <a:srgbClr val="FF0000"/>
                </a:solidFill>
                <a:effectLst/>
                <a:latin typeface="Open Sans" panose="020B0604020202020204" pitchFamily="34" charset="0"/>
              </a:rPr>
              <a:t>Modelos de implementación de servicios en la nube</a:t>
            </a:r>
          </a:p>
          <a:p>
            <a:pPr marL="0" indent="0" algn="l" fontAlgn="base">
              <a:buNone/>
            </a:pPr>
            <a:r>
              <a:rPr lang="es-ES" sz="1800" b="0" i="0" dirty="0">
                <a:solidFill>
                  <a:srgbClr val="444340"/>
                </a:solidFill>
                <a:effectLst/>
              </a:rPr>
              <a:t>Cada modelo de servicio se puede implementar de varias formas, ya sea de forma independiente o utilizando una combinación de las siguientes:</a:t>
            </a:r>
          </a:p>
          <a:p>
            <a:pPr algn="l" fontAlgn="base">
              <a:buFont typeface="Arial" panose="020B0604020202020204" pitchFamily="34" charset="0"/>
              <a:buChar char="•"/>
            </a:pPr>
            <a:r>
              <a:rPr lang="es-ES" sz="1800" b="1" i="0" dirty="0">
                <a:solidFill>
                  <a:srgbClr val="444340"/>
                </a:solidFill>
                <a:effectLst/>
              </a:rPr>
              <a:t>Nube privada</a:t>
            </a:r>
            <a:r>
              <a:rPr lang="es-ES" sz="1800" b="0" i="0" dirty="0">
                <a:solidFill>
                  <a:srgbClr val="444340"/>
                </a:solidFill>
                <a:effectLst/>
              </a:rPr>
              <a:t>. Este tipo de nube puede estar ubicada dentro de las instalaciones de la organización o fuera de ella. Es una infraestructura o plataforma en la nube para ser utilizada exclusivamente por una organización específica que, al mismo tiempo, puede tener uno o varios consumidores. Esta nube normalmente es administrada y propiedad de una organización, un proveedor o una combinación de ambos.</a:t>
            </a:r>
          </a:p>
          <a:p>
            <a:pPr algn="l" fontAlgn="base">
              <a:buFont typeface="Arial" panose="020B0604020202020204" pitchFamily="34" charset="0"/>
              <a:buChar char="•"/>
            </a:pPr>
            <a:r>
              <a:rPr lang="es-ES" sz="1800" b="1" i="0" dirty="0">
                <a:solidFill>
                  <a:srgbClr val="444340"/>
                </a:solidFill>
                <a:effectLst/>
              </a:rPr>
              <a:t>Nube pública</a:t>
            </a:r>
            <a:r>
              <a:rPr lang="es-ES" sz="1800" b="0" i="0" dirty="0">
                <a:solidFill>
                  <a:srgbClr val="444340"/>
                </a:solidFill>
                <a:effectLst/>
              </a:rPr>
              <a:t>. Este tipo de nube se encuentra en las instalaciones del proveedor de la nube. Está provisto para uso abierto y puede ser propiedad, administrado y operado por cualquier tipo de organización interesada en usarlo.</a:t>
            </a:r>
          </a:p>
          <a:p>
            <a:pPr algn="l" fontAlgn="base">
              <a:buFont typeface="Arial" panose="020B0604020202020204" pitchFamily="34" charset="0"/>
              <a:buChar char="•"/>
            </a:pPr>
            <a:r>
              <a:rPr lang="es-ES" sz="1800" b="1" i="0" dirty="0">
                <a:solidFill>
                  <a:srgbClr val="444340"/>
                </a:solidFill>
                <a:effectLst/>
              </a:rPr>
              <a:t>Nube de comunidad.</a:t>
            </a:r>
            <a:r>
              <a:rPr lang="es-ES" sz="1800" b="0" i="0" dirty="0">
                <a:solidFill>
                  <a:srgbClr val="444340"/>
                </a:solidFill>
                <a:effectLst/>
              </a:rPr>
              <a:t> Una nube de comunidad puede ser propiedad de una o más de las partes interesadas de la comunidad, administrarla y operarla, y puede existir dentro o fuera de las instalaciones de la organización. Este modelo de implementación en la nube consta de varios servicios en la nube que están destinados a respaldar y compartir una colección de clientes de servicios en la nube con los mismos requisitos y que tienen una relación entre ellos.</a:t>
            </a:r>
          </a:p>
          <a:p>
            <a:pPr algn="l" fontAlgn="base">
              <a:buFont typeface="Arial" panose="020B0604020202020204" pitchFamily="34" charset="0"/>
              <a:buChar char="•"/>
            </a:pPr>
            <a:r>
              <a:rPr lang="es-ES" sz="1800" b="1" i="0" dirty="0">
                <a:solidFill>
                  <a:srgbClr val="444340"/>
                </a:solidFill>
                <a:effectLst/>
              </a:rPr>
              <a:t>Nube híbrida</a:t>
            </a:r>
            <a:r>
              <a:rPr lang="es-ES" sz="1800" b="0" i="0" dirty="0">
                <a:solidFill>
                  <a:srgbClr val="444340"/>
                </a:solidFill>
                <a:effectLst/>
              </a:rPr>
              <a:t>. Esta infraestructura en la nube es una composición de dos o más infraestructuras en la nube distintas (privada, comunitaria o pública) que siguen siendo entidades únicas, pero están unidas por tecnología estandarizada o patentada que permite la portabilidad de datos y aplicaciones</a:t>
            </a:r>
          </a:p>
          <a:p>
            <a:pPr marL="457200" lvl="1" indent="0" algn="just">
              <a:buNone/>
            </a:pPr>
            <a:endParaRPr lang="es-EC" sz="1400" dirty="0"/>
          </a:p>
          <a:p>
            <a:endParaRPr lang="es-EC" sz="1400"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336175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a:bodyPr>
          <a:lstStyle/>
          <a:p>
            <a:r>
              <a:rPr lang="es-ES" sz="3200" b="1" i="0" dirty="0">
                <a:solidFill>
                  <a:srgbClr val="FF0000"/>
                </a:solidFill>
                <a:effectLst/>
                <a:latin typeface="Open Sans" panose="020B0604020202020204" pitchFamily="34" charset="0"/>
              </a:rPr>
              <a:t>Consideraciones</a:t>
            </a:r>
            <a:r>
              <a:rPr lang="es-ES" sz="3200" b="1" dirty="0">
                <a:solidFill>
                  <a:srgbClr val="FF0000"/>
                </a:solidFill>
                <a:latin typeface="Open Sans" panose="020B0604020202020204" pitchFamily="34" charset="0"/>
              </a:rPr>
              <a:t> </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pPr lvl="1" algn="just"/>
            <a:r>
              <a:rPr lang="es-ES" b="0" i="0" dirty="0">
                <a:solidFill>
                  <a:srgbClr val="444340"/>
                </a:solidFill>
                <a:effectLst/>
                <a:latin typeface="Ubuntu"/>
              </a:rPr>
              <a:t>La práctica de gestión de la infraestructura y la plataforma incluye la provisión de la tecnología necesaria para respaldar las actividades que crean valor para la organización y sus partes interesadas. Esto puede incluir estar listo para adoptar nuevas tecnologías como aprendizaje automático, </a:t>
            </a:r>
            <a:r>
              <a:rPr lang="es-ES" b="0" i="0" dirty="0" err="1">
                <a:solidFill>
                  <a:srgbClr val="444340"/>
                </a:solidFill>
                <a:effectLst/>
                <a:latin typeface="Ubuntu"/>
              </a:rPr>
              <a:t>chatbots</a:t>
            </a:r>
            <a:r>
              <a:rPr lang="es-ES" b="0" i="0" dirty="0">
                <a:solidFill>
                  <a:srgbClr val="444340"/>
                </a:solidFill>
                <a:effectLst/>
                <a:latin typeface="Ubuntu"/>
              </a:rPr>
              <a:t>, inteligencia artificial, administración de dispositivos móviles y administración de movilidad empresarial.</a:t>
            </a: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141702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Infraestructura y Plataformas </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C1A616F8-8AEE-46CA-8EE4-099F94641AB8}"/>
              </a:ext>
            </a:extLst>
          </p:cNvPr>
          <p:cNvPicPr>
            <a:picLocks noChangeAspect="1"/>
          </p:cNvPicPr>
          <p:nvPr/>
        </p:nvPicPr>
        <p:blipFill>
          <a:blip r:embed="rId2"/>
          <a:stretch>
            <a:fillRect/>
          </a:stretch>
        </p:blipFill>
        <p:spPr>
          <a:xfrm>
            <a:off x="728818" y="1082040"/>
            <a:ext cx="10304942" cy="5739325"/>
          </a:xfrm>
          <a:prstGeom prst="rect">
            <a:avLst/>
          </a:prstGeom>
        </p:spPr>
      </p:pic>
    </p:spTree>
    <p:extLst>
      <p:ext uri="{BB962C8B-B14F-4D97-AF65-F5344CB8AC3E}">
        <p14:creationId xmlns:p14="http://schemas.microsoft.com/office/powerpoint/2010/main" val="2962590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Técnica</a:t>
            </a:r>
          </a:p>
          <a:p>
            <a:pPr marL="0" indent="0">
              <a:buNone/>
            </a:pPr>
            <a:endParaRPr lang="es-EC" sz="3600" b="1" dirty="0">
              <a:solidFill>
                <a:srgbClr val="FF0000"/>
              </a:solidFill>
            </a:endParaRPr>
          </a:p>
          <a:p>
            <a:pPr marL="0" indent="0">
              <a:buNone/>
            </a:pPr>
            <a:r>
              <a:rPr lang="es-EC" sz="3600" b="1" dirty="0">
                <a:solidFill>
                  <a:srgbClr val="FF0000"/>
                </a:solidFill>
              </a:rPr>
              <a:t>3. Desarrollo y gestión de software</a:t>
            </a:r>
          </a:p>
          <a:p>
            <a:endParaRPr lang="es-EC" sz="2200" dirty="0"/>
          </a:p>
          <a:p>
            <a:endParaRPr lang="es-EC" sz="2200" b="1" dirty="0"/>
          </a:p>
        </p:txBody>
      </p:sp>
      <p:pic>
        <p:nvPicPr>
          <p:cNvPr id="3074" name="Picture 2" descr="Guía de desarrollo de software a medida - Evaluando Software">
            <a:extLst>
              <a:ext uri="{FF2B5EF4-FFF2-40B4-BE49-F238E27FC236}">
                <a16:creationId xmlns:a16="http://schemas.microsoft.com/office/drawing/2014/main" id="{C4614F99-F69B-4C6D-B0F8-FB28ECB234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724" r="21105"/>
          <a:stretch/>
        </p:blipFill>
        <p:spPr bwMode="auto">
          <a:xfrm>
            <a:off x="6033211" y="1543349"/>
            <a:ext cx="6158789" cy="4650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5353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09022"/>
          </a:xfrm>
        </p:spPr>
        <p:txBody>
          <a:bodyPr>
            <a:normAutofit/>
          </a:bodyPr>
          <a:lstStyle/>
          <a:p>
            <a:r>
              <a:rPr lang="es-ES" sz="3200" b="1" i="0" dirty="0">
                <a:solidFill>
                  <a:srgbClr val="FF0000"/>
                </a:solidFill>
                <a:effectLst/>
                <a:latin typeface="Open Sans" panose="020B0604020202020204" pitchFamily="34" charset="0"/>
              </a:rPr>
              <a:t>Objetivo </a:t>
            </a:r>
          </a:p>
          <a:p>
            <a:endParaRPr lang="es-ES" sz="2400" b="1" i="0" dirty="0">
              <a:solidFill>
                <a:srgbClr val="FF0000"/>
              </a:solidFill>
              <a:effectLst/>
              <a:latin typeface="Open Sans" panose="020B0604020202020204" pitchFamily="34" charset="0"/>
            </a:endParaRPr>
          </a:p>
          <a:p>
            <a:pPr lvl="1" algn="just"/>
            <a:r>
              <a:rPr lang="es-ES" sz="3200" b="0" i="0" dirty="0">
                <a:solidFill>
                  <a:srgbClr val="444340"/>
                </a:solidFill>
                <a:effectLst/>
                <a:latin typeface="Ubuntu"/>
              </a:rPr>
              <a:t>El propósito de la práctica de gestión y desarrollo de software es garantizar que las aplicaciones satisfagan las necesidades de las partes interesadas internas y externas, en términos de funcionalidad, confiabilidad, mantenibilidad, cumplimiento y auditabilidad.</a:t>
            </a:r>
            <a:endParaRPr lang="es-EC" sz="3200" dirty="0"/>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748969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85000" lnSpcReduction="10000"/>
          </a:bodyPr>
          <a:lstStyle/>
          <a:p>
            <a:pPr marL="0" indent="0">
              <a:buNone/>
            </a:pPr>
            <a:r>
              <a:rPr lang="es-ES" sz="3200" b="1" i="0" dirty="0">
                <a:solidFill>
                  <a:srgbClr val="FF0000"/>
                </a:solidFill>
                <a:effectLst/>
                <a:latin typeface="Open Sans" panose="020B0604020202020204" pitchFamily="34" charset="0"/>
              </a:rPr>
              <a:t>Definición  </a:t>
            </a:r>
          </a:p>
          <a:p>
            <a:endParaRPr lang="es-ES" sz="1100" b="1" i="0" dirty="0">
              <a:solidFill>
                <a:srgbClr val="FF0000"/>
              </a:solidFill>
              <a:effectLst/>
              <a:latin typeface="Open Sans" panose="020B0604020202020204" pitchFamily="34" charset="0"/>
            </a:endParaRPr>
          </a:p>
          <a:p>
            <a:pPr algn="l" fontAlgn="base"/>
            <a:r>
              <a:rPr lang="es-ES" sz="3000" b="0" i="0" dirty="0">
                <a:solidFill>
                  <a:srgbClr val="444340"/>
                </a:solidFill>
                <a:effectLst/>
                <a:latin typeface="Ubuntu"/>
              </a:rPr>
              <a:t>El término ”software” se puede utilizar para describir cualquier cosa, desde un solo programa (o conjunto de programas) hasta construcciones más grandes (como un sistema operativo, un entorno operativo o una base de datos) en las que varios programas de aplicación, procesos o flujos de trabajo más pequeños poder correr. Por lo tanto, el término incluye, pero no se limita a, aplicaciones de escritorio o aplicaciones móviles, software integrado (que controla máquinas y dispositivos) y sitios web.</a:t>
            </a:r>
          </a:p>
          <a:p>
            <a:pPr algn="l" fontAlgn="base"/>
            <a:r>
              <a:rPr lang="es-ES" sz="3000" b="0" i="0" dirty="0">
                <a:solidFill>
                  <a:srgbClr val="444340"/>
                </a:solidFill>
                <a:effectLst/>
                <a:latin typeface="Ubuntu"/>
              </a:rPr>
              <a:t>Las aplicaciones de software, ya sean desarrolladas internamente o por un socio o proveedor, son de importancia crítica en la entrega de valor al cliente en los servicios comerciales habilitados por la tecnología. Como resultado, el desarrollo y la administración de software es una práctica clave en todas las organizaciones de TI modernas, lo que garantiza que las aplicaciones sean adecuadas para su propósito y uso</a:t>
            </a:r>
            <a:r>
              <a:rPr lang="es-ES" sz="3900" b="0" i="0" dirty="0">
                <a:solidFill>
                  <a:srgbClr val="444340"/>
                </a:solidFill>
                <a:effectLst/>
                <a:latin typeface="Ubuntu"/>
              </a:rPr>
              <a:t>.</a:t>
            </a:r>
            <a:endParaRPr lang="es-EC" sz="35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89171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68180" y="1297471"/>
            <a:ext cx="11019020" cy="5448103"/>
          </a:xfrm>
        </p:spPr>
        <p:txBody>
          <a:bodyPr>
            <a:normAutofit lnSpcReduction="10000"/>
          </a:bodyPr>
          <a:lstStyle/>
          <a:p>
            <a:pPr marL="0" indent="0">
              <a:buNone/>
            </a:pPr>
            <a:r>
              <a:rPr lang="es-ES" sz="3200" b="1" i="0" dirty="0">
                <a:solidFill>
                  <a:srgbClr val="FF0000"/>
                </a:solidFill>
                <a:effectLst/>
                <a:latin typeface="Open Sans" panose="020B0604020202020204" pitchFamily="34" charset="0"/>
              </a:rPr>
              <a:t>Actividades de la practica de desarrollo y gestión de software  </a:t>
            </a:r>
          </a:p>
          <a:p>
            <a:endParaRPr lang="es-ES" sz="1100" b="1" i="0" dirty="0">
              <a:solidFill>
                <a:srgbClr val="FF0000"/>
              </a:solidFill>
              <a:effectLst/>
              <a:latin typeface="Open Sans" panose="020B0604020202020204" pitchFamily="34" charset="0"/>
            </a:endParaRPr>
          </a:p>
          <a:p>
            <a:pPr marL="0" indent="0" fontAlgn="base">
              <a:buNone/>
            </a:pPr>
            <a:r>
              <a:rPr lang="es-ES" sz="2200" b="0" i="0" dirty="0">
                <a:solidFill>
                  <a:srgbClr val="444340"/>
                </a:solidFill>
                <a:effectLst/>
              </a:rPr>
              <a:t>La práctica de gestión y desarrollo de software abarca actividades tales como:</a:t>
            </a:r>
          </a:p>
          <a:p>
            <a:pPr fontAlgn="base"/>
            <a:r>
              <a:rPr lang="es-ES" sz="2200" b="0" i="0" dirty="0">
                <a:solidFill>
                  <a:srgbClr val="444340"/>
                </a:solidFill>
                <a:effectLst/>
              </a:rPr>
              <a:t>Arquitectura de soluciones</a:t>
            </a:r>
          </a:p>
          <a:p>
            <a:pPr fontAlgn="base"/>
            <a:r>
              <a:rPr lang="es-ES" sz="2200" b="0" i="0" dirty="0">
                <a:solidFill>
                  <a:srgbClr val="444340"/>
                </a:solidFill>
                <a:effectLst/>
              </a:rPr>
              <a:t>diseño de soluciones (interfaz de usuario, CX, diseño de servicios, etc.)</a:t>
            </a:r>
          </a:p>
          <a:p>
            <a:pPr fontAlgn="base"/>
            <a:r>
              <a:rPr lang="es-ES" sz="2200" b="0" i="0" dirty="0">
                <a:solidFill>
                  <a:srgbClr val="444340"/>
                </a:solidFill>
                <a:effectLst/>
              </a:rPr>
              <a:t>desarrollo de software</a:t>
            </a:r>
          </a:p>
          <a:p>
            <a:pPr fontAlgn="base"/>
            <a:r>
              <a:rPr lang="es-ES" sz="2200" b="0" i="0" dirty="0">
                <a:solidFill>
                  <a:srgbClr val="444340"/>
                </a:solidFill>
                <a:effectLst/>
              </a:rPr>
              <a:t>pruebas de software (que pueden incluir varios componentes, como pruebas unitarias, pruebas de integración, pruebas de regresión, pruebas de seguridad de la información y pruebas de aceptación del usuario)</a:t>
            </a:r>
          </a:p>
          <a:p>
            <a:pPr fontAlgn="base"/>
            <a:r>
              <a:rPr lang="es-ES" sz="2200" b="0" i="0" dirty="0">
                <a:solidFill>
                  <a:srgbClr val="444340"/>
                </a:solidFill>
                <a:effectLst/>
              </a:rPr>
              <a:t>gestión de bibliotecas o repositorios de código para mantener la integridad de los artefactos(</a:t>
            </a:r>
            <a:r>
              <a:rPr lang="es-ES" sz="2200" b="0" i="0" dirty="0" err="1">
                <a:solidFill>
                  <a:srgbClr val="444340"/>
                </a:solidFill>
                <a:effectLst/>
              </a:rPr>
              <a:t>DML</a:t>
            </a:r>
            <a:r>
              <a:rPr lang="es-ES" sz="2200" b="0" i="0" dirty="0">
                <a:solidFill>
                  <a:srgbClr val="444340"/>
                </a:solidFill>
                <a:effectLst/>
              </a:rPr>
              <a:t>, </a:t>
            </a:r>
            <a:r>
              <a:rPr lang="es-ES" sz="2200" b="0" i="0" dirty="0" err="1">
                <a:solidFill>
                  <a:srgbClr val="444340"/>
                </a:solidFill>
                <a:effectLst/>
              </a:rPr>
              <a:t>DHS</a:t>
            </a:r>
            <a:r>
              <a:rPr lang="es-ES" sz="2200" b="0" i="0" dirty="0">
                <a:solidFill>
                  <a:srgbClr val="444340"/>
                </a:solidFill>
                <a:effectLst/>
              </a:rPr>
              <a:t>)</a:t>
            </a:r>
          </a:p>
          <a:p>
            <a:pPr fontAlgn="base"/>
            <a:r>
              <a:rPr lang="es-ES" sz="2200" b="0" i="0" dirty="0">
                <a:solidFill>
                  <a:srgbClr val="444340"/>
                </a:solidFill>
                <a:effectLst/>
              </a:rPr>
              <a:t>creación de paquetes, para el despliegue eficaz y eficiente de la aplicación</a:t>
            </a:r>
          </a:p>
          <a:p>
            <a:pPr fontAlgn="base"/>
            <a:r>
              <a:rPr lang="es-ES" sz="2200" b="0" i="0" dirty="0">
                <a:solidFill>
                  <a:srgbClr val="444340"/>
                </a:solidFill>
                <a:effectLst/>
              </a:rPr>
              <a:t>control de versiones, uso compartido y administración continua de bloques de código más pequeños.</a:t>
            </a:r>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79960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68180" y="1297471"/>
            <a:ext cx="11019020" cy="5448103"/>
          </a:xfrm>
        </p:spPr>
        <p:txBody>
          <a:bodyPr>
            <a:normAutofit/>
          </a:bodyPr>
          <a:lstStyle/>
          <a:p>
            <a:pPr marL="0" indent="0">
              <a:buNone/>
            </a:pPr>
            <a:r>
              <a:rPr lang="es-ES" sz="3200" b="1" i="0" dirty="0">
                <a:solidFill>
                  <a:srgbClr val="FF0000"/>
                </a:solidFill>
                <a:effectLst/>
                <a:latin typeface="Open Sans" panose="020B0604020202020204" pitchFamily="34" charset="0"/>
              </a:rPr>
              <a:t>Consideraciones</a:t>
            </a:r>
          </a:p>
          <a:p>
            <a:endParaRPr lang="es-ES" sz="1100" b="1" i="0" dirty="0">
              <a:solidFill>
                <a:srgbClr val="FF0000"/>
              </a:solidFill>
              <a:effectLst/>
              <a:latin typeface="Open Sans" panose="020B0604020202020204" pitchFamily="34" charset="0"/>
            </a:endParaRPr>
          </a:p>
          <a:p>
            <a:r>
              <a:rPr lang="es-ES" b="0" i="0" dirty="0">
                <a:solidFill>
                  <a:srgbClr val="444340"/>
                </a:solidFill>
                <a:effectLst/>
                <a:latin typeface="Ubuntu"/>
              </a:rPr>
              <a:t>La gestión de software es una práctica más amplia, que abarca las actividades en curso de diseño, prueba, operación y mejora de aplicaciones de software para que sigan facilitando la creación de valor. Los componentes de software se pueden evaluar continuamente mediante un ciclo de vida que rastrea el componente desde la ideación hasta la mejora continua y, finalmente el retiro.</a:t>
            </a: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353234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68180" y="1297471"/>
            <a:ext cx="11019020" cy="5448103"/>
          </a:xfrm>
        </p:spPr>
        <p:txBody>
          <a:bodyPr>
            <a:normAutofit/>
          </a:bodyPr>
          <a:lstStyle/>
          <a:p>
            <a:pPr marL="0" indent="0">
              <a:buNone/>
            </a:pPr>
            <a:r>
              <a:rPr lang="es-ES" sz="3200" b="1" i="0" dirty="0">
                <a:solidFill>
                  <a:srgbClr val="FF0000"/>
                </a:solidFill>
                <a:effectLst/>
                <a:latin typeface="Open Sans" panose="020B0604020202020204" pitchFamily="34" charset="0"/>
              </a:rPr>
              <a:t>Enfoques utilizados</a:t>
            </a:r>
          </a:p>
          <a:p>
            <a:endParaRPr lang="es-ES" sz="1100" b="1" i="0" dirty="0">
              <a:solidFill>
                <a:srgbClr val="FF0000"/>
              </a:solidFill>
              <a:effectLst/>
              <a:latin typeface="Open Sans" panose="020B0604020202020204" pitchFamily="34" charset="0"/>
            </a:endParaRPr>
          </a:p>
          <a:p>
            <a:r>
              <a:rPr lang="es-ES" b="0" i="0" dirty="0">
                <a:solidFill>
                  <a:srgbClr val="444340"/>
                </a:solidFill>
                <a:effectLst/>
                <a:latin typeface="Ubuntu"/>
              </a:rPr>
              <a:t>Los dos enfoques generalmente aceptados para el desarrollo de software se conocen como métodos en cascada y Agile.</a:t>
            </a: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098" name="Picture 2">
            <a:extLst>
              <a:ext uri="{FF2B5EF4-FFF2-40B4-BE49-F238E27FC236}">
                <a16:creationId xmlns:a16="http://schemas.microsoft.com/office/drawing/2014/main" id="{A8D3B2BD-EAB7-4412-8C34-38CBA278C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9982" y="3429000"/>
            <a:ext cx="387667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100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a:t>
            </a:r>
            <a:br>
              <a:rPr lang="es-EC" sz="2800" dirty="0">
                <a:solidFill>
                  <a:schemeClr val="bg1"/>
                </a:solidFill>
              </a:rPr>
            </a:br>
            <a:r>
              <a:rPr lang="es-EC" sz="2000" dirty="0">
                <a:solidFill>
                  <a:schemeClr val="bg1"/>
                </a:solidFill>
              </a:rPr>
              <a:t>Desarrollo y Gestión de Software</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592BB398-183E-4A1D-A923-E87D87C6DED9}"/>
              </a:ext>
            </a:extLst>
          </p:cNvPr>
          <p:cNvPicPr>
            <a:picLocks noChangeAspect="1"/>
          </p:cNvPicPr>
          <p:nvPr/>
        </p:nvPicPr>
        <p:blipFill>
          <a:blip r:embed="rId2"/>
          <a:stretch>
            <a:fillRect/>
          </a:stretch>
        </p:blipFill>
        <p:spPr>
          <a:xfrm>
            <a:off x="818759" y="1082040"/>
            <a:ext cx="10408873" cy="5808086"/>
          </a:xfrm>
          <a:prstGeom prst="rect">
            <a:avLst/>
          </a:prstGeom>
        </p:spPr>
      </p:pic>
    </p:spTree>
    <p:extLst>
      <p:ext uri="{BB962C8B-B14F-4D97-AF65-F5344CB8AC3E}">
        <p14:creationId xmlns:p14="http://schemas.microsoft.com/office/powerpoint/2010/main" val="1532150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 evaluación del aprendizaje ante el actual escenario educativo a causa de  la pandemia - CETYS">
            <a:extLst>
              <a:ext uri="{FF2B5EF4-FFF2-40B4-BE49-F238E27FC236}">
                <a16:creationId xmlns:a16="http://schemas.microsoft.com/office/drawing/2014/main" id="{F5A5F19C-503B-45B1-A71D-9FFA416B0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521" y="1186484"/>
            <a:ext cx="7726018" cy="554455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Técnicas</a:t>
            </a:r>
            <a:br>
              <a:rPr lang="es-EC" sz="2800" dirty="0">
                <a:solidFill>
                  <a:schemeClr val="bg1"/>
                </a:solidFill>
              </a:rPr>
            </a:br>
            <a:endParaRPr lang="es-EC" sz="2000" dirty="0">
              <a:solidFill>
                <a:schemeClr val="bg1"/>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dirty="0">
                <a:solidFill>
                  <a:srgbClr val="FF0000"/>
                </a:solidFill>
                <a:latin typeface="Open Sans" panose="020B0604020202020204" pitchFamily="34" charset="0"/>
              </a:rPr>
              <a:t>AUTO-APRENDIZAJE</a:t>
            </a:r>
            <a:endParaRPr lang="es-ES" sz="3200" i="0" dirty="0">
              <a:effectLst/>
            </a:endParaRPr>
          </a:p>
        </p:txBody>
      </p:sp>
    </p:spTree>
    <p:extLst>
      <p:ext uri="{BB962C8B-B14F-4D97-AF65-F5344CB8AC3E}">
        <p14:creationId xmlns:p14="http://schemas.microsoft.com/office/powerpoint/2010/main" val="10876185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1417</TotalTime>
  <Words>1349</Words>
  <Application>Microsoft Office PowerPoint</Application>
  <PresentationFormat>Panorámica</PresentationFormat>
  <Paragraphs>92</Paragraphs>
  <Slides>21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21</vt:i4>
      </vt:variant>
    </vt:vector>
  </HeadingPairs>
  <TitlesOfParts>
    <vt:vector size="28" baseType="lpstr">
      <vt:lpstr>Arial</vt:lpstr>
      <vt:lpstr>Calibri</vt:lpstr>
      <vt:lpstr>Calibri Light</vt:lpstr>
      <vt:lpstr>inherit</vt:lpstr>
      <vt:lpstr>Open Sans</vt:lpstr>
      <vt:lpstr>Ubuntu</vt:lpstr>
      <vt:lpstr>Tema de Office</vt:lpstr>
      <vt:lpstr>ITIL 4</vt:lpstr>
      <vt:lpstr>ITIL 4</vt:lpstr>
      <vt:lpstr>Prácticas de Gestión Técnica Implementación </vt:lpstr>
      <vt:lpstr>Prácticas de Gestión Técnica Implementación </vt:lpstr>
      <vt:lpstr>Prácticas de Gestión Técnica Implementación </vt:lpstr>
      <vt:lpstr>Prácticas de Gestión Técnica Implementación </vt:lpstr>
      <vt:lpstr>ITIL 4</vt:lpstr>
      <vt:lpstr>Prácticas de Gestión Técnica Infraestructura y Plataformas </vt:lpstr>
      <vt:lpstr>Prácticas de Gestión Técnica Infraestructura y Plataformas </vt:lpstr>
      <vt:lpstr>Prácticas de Gestión Técnica Infraestructura y Plataformas </vt:lpstr>
      <vt:lpstr>Prácticas de Gestión Técnica Infraestructura y Plataformas </vt:lpstr>
      <vt:lpstr>Prácticas de Gestión Técnica Infraestructura y Plataformas </vt:lpstr>
      <vt:lpstr>Prácticas de Gestión Técnica Infraestructura y Plataformas </vt:lpstr>
      <vt:lpstr>ITIL 4</vt:lpstr>
      <vt:lpstr>Prácticas de Gestión Técnica Desarrollo y Gestión de Software</vt:lpstr>
      <vt:lpstr>Prácticas de Gestión Técnica Desarrollo y Gestión de Software</vt:lpstr>
      <vt:lpstr>Prácticas de Gestión Técnica Desarrollo y Gestión de Software</vt:lpstr>
      <vt:lpstr>Prácticas de Gestión Técnica Desarrollo y Gestión de Software</vt:lpstr>
      <vt:lpstr>Prácticas de Gestión Técnica Desarrollo y Gestión de Software</vt:lpstr>
      <vt:lpstr>Prácticas de Gestión Técnica Desarrollo y Gestión de Software</vt:lpstr>
      <vt:lpstr>Prácticas de Gestión Técnicas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ITIL 4</dc:title>
  <dc:creator>CarlosReyes</dc:creator>
  <cp:lastModifiedBy>CarlosReyes</cp:lastModifiedBy>
  <cp:revision>10</cp:revision>
  <dcterms:created xsi:type="dcterms:W3CDTF">2021-07-15T15:02:35Z</dcterms:created>
  <dcterms:modified xsi:type="dcterms:W3CDTF">2021-07-16T14:40:09Z</dcterms:modified>
</cp:coreProperties>
</file>