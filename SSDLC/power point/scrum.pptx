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6" r:id="rId4"/>
    <p:sldId id="258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1" autoAdjust="0"/>
    <p:restoredTop sz="94660"/>
  </p:normalViewPr>
  <p:slideViewPr>
    <p:cSldViewPr snapToGrid="0">
      <p:cViewPr varScale="1">
        <p:scale>
          <a:sx n="45" d="100"/>
          <a:sy n="45" d="100"/>
        </p:scale>
        <p:origin x="5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59601-1BEE-44BF-874D-0AAA195EF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D93657-48F8-4EA6-81AE-E03E04186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58455D-2576-4734-A365-32DA238D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B9DF20-2FEB-4A82-8912-89D430EC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42F7FF-0167-44DA-8957-9D6722A4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171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A2775-88A2-45B5-A29B-C620CD10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8A668C-6CFD-49E8-970F-490DE94AE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75FFDF-3931-440A-9634-6D66FA7B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8E5AFA-9358-4E45-835D-39157A97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F4AE6C-7D41-4008-B7F0-C399B1F9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205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9F647-8361-49C4-AB06-86817B48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4EE008-3783-44EA-85B0-0B76F6734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0EDCB1-5173-4261-8002-FCA35CE1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774592-2A48-4599-BFE7-61DC3287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A6E099-03F1-4E6A-A3FD-3C466D07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2504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9EB9A-01B2-4987-967B-698F6AA1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87CB6E-EB28-45CD-997E-AF4FDBF22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23F383-6ED5-4262-A228-ECB504C54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0059B-441D-479E-BB39-14E00C1D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A462E9-3575-4204-A429-BB495828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67670E-FD5D-4557-A043-9B7325F15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4117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8CA32-B282-45AC-85AC-12D0D915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1FCE3D-AD10-4DC3-A5D8-0635A2EC9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0AB64D-B4A5-417C-9168-540E6F616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24C628-93ED-436C-AE2C-D6F627454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795DD7-EB8D-442F-B747-13FCC39A7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55A95B-54C6-4EF1-87D5-C7DC2FEB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CB97BE-0724-453C-8C20-6306B803C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3CC6E5C-6316-4FA4-87D8-4A776015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536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55418-FCAB-4955-87B4-7935DDA0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AE33A2-CA4A-4C4B-9D81-70DBCEE62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8B76A3-0F86-4189-A959-221D1CBD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78654C-8040-4DE9-AEB5-4D36A836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4473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3F367E9-1CD6-4581-B379-D9C9A6A4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6776D2-4660-4ED8-9206-07B8D1511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FA7407-A5ED-4828-8A0A-F2D4BE11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6015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3E627-8921-4C44-8622-D32C7CBF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82189D-3677-492C-9509-7673C355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353934-033A-4678-918C-DC9E330BE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A9F08C-6EBB-4EED-A692-0B1D2FE1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B1892F-A745-46E6-9557-577C385A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98531B-7956-4693-BED6-D359A2AB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59005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26FC0-D9AA-49F1-890B-51338791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E5CBFC-87B1-44B7-B2E8-13B498873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5F94B4-4450-404D-A92C-777699BCC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0F836E-0F7D-448B-9E7D-ADD15CA5C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96C786-3E46-4930-81BB-6CB30CFB9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AABB41-4723-4FD5-A579-9E0DF45F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6709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F5697-E7CB-4B20-8F12-5214DE69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E80844-D212-453E-8E2E-BCEC9DB0E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A81637-4C20-4630-AF83-A99467CE8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11238B-3694-41C9-9DA0-9DD97943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BAE281-8A76-43E8-8307-D6763433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5692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8457A2-DC44-4A9A-9622-10BA1C600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67AB29-FECE-4F87-9D86-6FAB347C4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B8C21A-A256-4C37-95C8-306F9EAD8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A52BF8-F4A5-4D0B-B3CA-C3D0ED4E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65D33B-5D3E-4B04-85F6-2EAD6489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74322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981CC89-41FA-45BC-B8AD-087E97EDA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D2E18F-EC9E-4AF7-8C7A-FED0ACFAA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0B6C1E-1B19-4293-8A41-A8E727D9A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EA6B7-0636-416F-9DED-B8913F1E10D5}" type="datetimeFigureOut">
              <a:rPr lang="es-EC" smtClean="0"/>
              <a:t>16/3/2021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8E222A-3BD0-458A-8366-9A94CA5DC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FC1FB3-9443-4925-9A70-1406671F7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C60C9-7B45-4387-A4B7-AEFECFB7A7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7205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todologia de Desarrollo de Software">
            <a:extLst>
              <a:ext uri="{FF2B5EF4-FFF2-40B4-BE49-F238E27FC236}">
                <a16:creationId xmlns:a16="http://schemas.microsoft.com/office/drawing/2014/main" id="{3B7547EF-B142-49A1-AD21-B46A611C7C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 trans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4790" cy="6744303"/>
          </a:xfrm>
          <a:prstGeom prst="rect">
            <a:avLst/>
          </a:prstGeom>
          <a:noFill/>
          <a:effectLst>
            <a:glow rad="127000">
              <a:schemeClr val="accent1">
                <a:alpha val="13000"/>
              </a:schemeClr>
            </a:glow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ECD515-C55D-4903-91A2-C7D5C8DB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972" y="2103437"/>
            <a:ext cx="10515600" cy="1325563"/>
          </a:xfrm>
        </p:spPr>
        <p:txBody>
          <a:bodyPr/>
          <a:lstStyle/>
          <a:p>
            <a:r>
              <a:rPr lang="es-EC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METODOLOGIA AGILE</a:t>
            </a:r>
            <a:br>
              <a:rPr lang="es-EC" b="1" dirty="0"/>
            </a:br>
            <a:endParaRPr lang="es-EC" b="1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3EDCEDC-9C75-4137-B054-0E68F75C9E23}"/>
              </a:ext>
            </a:extLst>
          </p:cNvPr>
          <p:cNvSpPr txBox="1">
            <a:spLocks/>
          </p:cNvSpPr>
          <p:nvPr/>
        </p:nvSpPr>
        <p:spPr>
          <a:xfrm>
            <a:off x="4534564" y="-284163"/>
            <a:ext cx="879157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b="1" dirty="0">
                <a:solidFill>
                  <a:schemeClr val="bg1"/>
                </a:solidFill>
              </a:rPr>
              <a:t>Ciclo de vida en el desarrollo de software	</a:t>
            </a:r>
          </a:p>
        </p:txBody>
      </p:sp>
    </p:spTree>
    <p:extLst>
      <p:ext uri="{BB962C8B-B14F-4D97-AF65-F5344CB8AC3E}">
        <p14:creationId xmlns:p14="http://schemas.microsoft.com/office/powerpoint/2010/main" val="465332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1F79C2-98D8-4BEB-9F04-31759408A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s-EC" sz="4000" dirty="0">
                <a:solidFill>
                  <a:srgbClr val="FFFFFF"/>
                </a:solidFill>
              </a:rPr>
              <a:t>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2FE5CF-FE9C-4E59-9386-4C2685C3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s-EC" sz="2000" dirty="0">
                <a:solidFill>
                  <a:srgbClr val="FFFFFF"/>
                </a:solidFill>
              </a:rPr>
              <a:t>	Manifiesto AGILE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745B2C-76FC-4ED8-8952-7E61C84C9144}"/>
              </a:ext>
            </a:extLst>
          </p:cNvPr>
          <p:cNvSpPr txBox="1"/>
          <p:nvPr/>
        </p:nvSpPr>
        <p:spPr>
          <a:xfrm>
            <a:off x="1203960" y="1822348"/>
            <a:ext cx="8519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C" sz="2400" b="1" i="0" u="none" strike="noStrike" baseline="0" dirty="0">
              <a:solidFill>
                <a:srgbClr val="F36322"/>
              </a:solidFill>
              <a:latin typeface="Lato-Bold"/>
            </a:endParaRPr>
          </a:p>
          <a:p>
            <a:pPr algn="l"/>
            <a:endParaRPr lang="es-EC" sz="2400" b="1" dirty="0">
              <a:solidFill>
                <a:srgbClr val="F36322"/>
              </a:solidFill>
              <a:latin typeface="Lato-Bold"/>
            </a:endParaRPr>
          </a:p>
          <a:p>
            <a:pPr algn="l"/>
            <a:r>
              <a:rPr lang="es-EC" sz="2400" b="1" i="0" u="none" strike="noStrike" baseline="0" dirty="0">
                <a:solidFill>
                  <a:srgbClr val="F36322"/>
                </a:solidFill>
                <a:latin typeface="Lato-Bold"/>
              </a:rPr>
              <a:t>¿Qué es Agilidad?</a:t>
            </a:r>
          </a:p>
          <a:p>
            <a:pPr algn="l"/>
            <a:endParaRPr lang="es-ES" sz="1800" b="0" i="1" u="none" strike="noStrike" baseline="0" dirty="0">
              <a:solidFill>
                <a:srgbClr val="000000"/>
              </a:solidFill>
              <a:latin typeface="Lato-Italic"/>
            </a:endParaRPr>
          </a:p>
          <a:p>
            <a:pPr algn="l"/>
            <a:r>
              <a:rPr lang="es-ES" sz="1800" b="0" i="1" u="none" strike="noStrike" baseline="0" dirty="0">
                <a:solidFill>
                  <a:srgbClr val="000000"/>
                </a:solidFill>
                <a:latin typeface="Lato-Italic"/>
              </a:rPr>
              <a:t>“Agilidad es la capacidad de crear y responder al cambio con el fin de obtener  ganancias en un </a:t>
            </a:r>
            <a:r>
              <a:rPr lang="es-EC" sz="1800" b="0" i="1" u="none" strike="noStrike" baseline="0" dirty="0">
                <a:solidFill>
                  <a:srgbClr val="000000"/>
                </a:solidFill>
                <a:latin typeface="Lato-Italic"/>
              </a:rPr>
              <a:t>entorno empresarial turbulento”.</a:t>
            </a:r>
          </a:p>
          <a:p>
            <a:pPr algn="l"/>
            <a:endParaRPr lang="es-ES" sz="1800" b="0" i="1" u="none" strike="noStrike" baseline="0" dirty="0">
              <a:solidFill>
                <a:srgbClr val="000000"/>
              </a:solidFill>
              <a:latin typeface="Lato-Italic"/>
            </a:endParaRPr>
          </a:p>
          <a:p>
            <a:pPr algn="l"/>
            <a:endParaRPr lang="es-ES" i="1" dirty="0">
              <a:solidFill>
                <a:srgbClr val="000000"/>
              </a:solidFill>
              <a:latin typeface="Lato-Italic"/>
            </a:endParaRPr>
          </a:p>
          <a:p>
            <a:pPr algn="l"/>
            <a:r>
              <a:rPr lang="es-ES" sz="1800" b="0" i="1" u="none" strike="noStrike" baseline="0" dirty="0">
                <a:solidFill>
                  <a:srgbClr val="000000"/>
                </a:solidFill>
                <a:latin typeface="Lato-Italic"/>
              </a:rPr>
              <a:t>“La agilidad es la capacidad de equilibrar la flexibilidad y </a:t>
            </a:r>
            <a:r>
              <a:rPr lang="es-EC" sz="1800" b="0" i="1" u="none" strike="noStrike" baseline="0" dirty="0">
                <a:solidFill>
                  <a:srgbClr val="000000"/>
                </a:solidFill>
                <a:latin typeface="Lato-Italic"/>
              </a:rPr>
              <a:t>estabilidad”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72665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1F79C2-98D8-4BEB-9F04-31759408A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s-EC" sz="4000" dirty="0">
                <a:solidFill>
                  <a:srgbClr val="FFFFFF"/>
                </a:solidFill>
              </a:rPr>
              <a:t>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2FE5CF-FE9C-4E59-9386-4C2685C3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s-EC" sz="2000" dirty="0">
                <a:solidFill>
                  <a:srgbClr val="FFFFFF"/>
                </a:solidFill>
              </a:rPr>
              <a:t>	Manifiesto AGILE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622139-207C-47CB-B2EC-B905D8C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440" y="1655276"/>
            <a:ext cx="7523645" cy="531432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4BBE16C-DB50-4390-B13D-7343E2357AFB}"/>
              </a:ext>
            </a:extLst>
          </p:cNvPr>
          <p:cNvSpPr txBox="1"/>
          <p:nvPr/>
        </p:nvSpPr>
        <p:spPr>
          <a:xfrm>
            <a:off x="699713" y="2120949"/>
            <a:ext cx="513720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>
                <a:solidFill>
                  <a:srgbClr val="000000"/>
                </a:solidFill>
                <a:latin typeface="Lato-Bold"/>
              </a:rPr>
              <a:t>Aspectos o Pilares del Manifiesto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A los individuos y su interacción, por encima de los procesos y las herramientas.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software que funciona, por encima de la documentación detallada.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La colaboración con el cliente, por encima de la negociación contractual.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La respuesta al cambio, por encima del seguimiento de un plan.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7832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1F79C2-98D8-4BEB-9F04-31759408A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s-EC" sz="4000" dirty="0">
                <a:solidFill>
                  <a:srgbClr val="FFFFFF"/>
                </a:solidFill>
              </a:rPr>
              <a:t>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2FE5CF-FE9C-4E59-9386-4C2685C3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s-EC" sz="2000" dirty="0">
                <a:solidFill>
                  <a:srgbClr val="FFFFFF"/>
                </a:solidFill>
              </a:rPr>
              <a:t>	Definición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6CA9BFD-E3C5-49FA-B1E0-16C5E477A4B2}"/>
              </a:ext>
            </a:extLst>
          </p:cNvPr>
          <p:cNvSpPr txBox="1"/>
          <p:nvPr/>
        </p:nvSpPr>
        <p:spPr>
          <a:xfrm>
            <a:off x="1432560" y="2090172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2400" b="1" i="0" u="none" strike="noStrike" baseline="0" dirty="0">
                <a:solidFill>
                  <a:srgbClr val="F36322"/>
                </a:solidFill>
                <a:latin typeface="Lato-Bold"/>
              </a:rPr>
              <a:t>¿Qué es Scrum?</a:t>
            </a:r>
          </a:p>
          <a:p>
            <a:pPr algn="l"/>
            <a:endParaRPr lang="es-EC" sz="2400" b="1" i="0" u="none" strike="noStrike" baseline="0" dirty="0">
              <a:solidFill>
                <a:srgbClr val="F36322"/>
              </a:solidFill>
              <a:latin typeface="Lato-Bold"/>
            </a:endParaRP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Scrum es un marco de trabajo de adaptación iterativa e incremental, rápido, flexible y eficaz diseñado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para ofrecer un valor significativo de forma rápida en todo el proyecto.</a:t>
            </a:r>
          </a:p>
          <a:p>
            <a:pPr algn="l"/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Scrum es:</a:t>
            </a:r>
          </a:p>
          <a:p>
            <a:pPr algn="l"/>
            <a:r>
              <a:rPr lang="es-EC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Ligero.</a:t>
            </a:r>
          </a:p>
          <a:p>
            <a:pPr algn="l"/>
            <a:r>
              <a:rPr lang="es-EC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Fácil de entender.</a:t>
            </a:r>
          </a:p>
          <a:p>
            <a:pPr algn="l"/>
            <a:r>
              <a:rPr lang="es-EC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Extremadamente difícil de llegar a dominar.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82569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1F79C2-98D8-4BEB-9F04-31759408A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s-EC" sz="4000" dirty="0">
                <a:solidFill>
                  <a:srgbClr val="FFFFFF"/>
                </a:solidFill>
              </a:rPr>
              <a:t>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2FE5CF-FE9C-4E59-9386-4C2685C3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s-EC" sz="2000" dirty="0">
                <a:solidFill>
                  <a:srgbClr val="FFFFFF"/>
                </a:solidFill>
              </a:rPr>
              <a:t>	Esencia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69A5B26-860E-4607-8EE2-E7B92148628B}"/>
              </a:ext>
            </a:extLst>
          </p:cNvPr>
          <p:cNvSpPr txBox="1"/>
          <p:nvPr/>
        </p:nvSpPr>
        <p:spPr>
          <a:xfrm>
            <a:off x="365760" y="1822348"/>
            <a:ext cx="466344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2400" b="1" i="0" u="none" strike="noStrike" baseline="0" dirty="0">
                <a:solidFill>
                  <a:srgbClr val="F36322"/>
                </a:solidFill>
                <a:latin typeface="Lato-Bold"/>
              </a:rPr>
              <a:t>La Esencia de Scrum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La esencia de Scrum es un pequeño equipo de personas. El equipo individual es altamente flexible y adaptativo. Estas fortalezas continúan operando en un equipo, en varios, en muchos y en redes de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equipos que desarrollan, liberan, operan y mantienen el trabajo y los productos de trabajo de miles de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personas.</a:t>
            </a:r>
          </a:p>
          <a:p>
            <a:pPr algn="l"/>
            <a:endParaRPr lang="es-EC" sz="1800" b="0" i="0" u="none" strike="noStrike" baseline="0" dirty="0">
              <a:solidFill>
                <a:srgbClr val="000000"/>
              </a:solidFill>
              <a:latin typeface="Lato-Regular"/>
            </a:endParaRP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Cuando las palabras “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develop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” y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development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” se usan en la Guía de Scrum se esta haciendo referencia a trabajo complejo, tales como estos identificados anteriormente.</a:t>
            </a:r>
            <a:endParaRPr lang="es-EC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364B093-B105-4B9C-A49A-81E2ABF3A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186" y="1574310"/>
            <a:ext cx="652462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0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1F79C2-98D8-4BEB-9F04-31759408A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s-EC" sz="4000" dirty="0">
                <a:solidFill>
                  <a:srgbClr val="FFFFFF"/>
                </a:solidFill>
              </a:rPr>
              <a:t>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2FE5CF-FE9C-4E59-9386-4C2685C3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s-EC" sz="2000" dirty="0">
                <a:solidFill>
                  <a:srgbClr val="FFFFFF"/>
                </a:solidFill>
              </a:rPr>
              <a:t>	</a:t>
            </a:r>
            <a:r>
              <a:rPr lang="es-EC" sz="2000" dirty="0" err="1">
                <a:solidFill>
                  <a:srgbClr val="FFFFFF"/>
                </a:solidFill>
              </a:rPr>
              <a:t>Team</a:t>
            </a:r>
            <a:endParaRPr lang="es-EC" sz="2000" dirty="0">
              <a:solidFill>
                <a:srgbClr val="FFFFFF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D9263E9-2552-45F4-92C3-F8A0136DDE40}"/>
              </a:ext>
            </a:extLst>
          </p:cNvPr>
          <p:cNvSpPr txBox="1"/>
          <p:nvPr/>
        </p:nvSpPr>
        <p:spPr>
          <a:xfrm>
            <a:off x="699713" y="1822348"/>
            <a:ext cx="9724447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2400" b="1" i="0" u="none" strike="noStrike" baseline="0" dirty="0">
                <a:solidFill>
                  <a:srgbClr val="F36322"/>
                </a:solidFill>
                <a:latin typeface="Lato-Bold"/>
              </a:rPr>
              <a:t>Scrum </a:t>
            </a:r>
            <a:r>
              <a:rPr lang="es-EC" sz="2400" b="1" i="0" u="none" strike="noStrike" baseline="0" dirty="0" err="1">
                <a:solidFill>
                  <a:srgbClr val="F36322"/>
                </a:solidFill>
                <a:latin typeface="Lato-Bold"/>
              </a:rPr>
              <a:t>Team</a:t>
            </a:r>
            <a:endParaRPr lang="es-EC" sz="2400" b="1" i="0" u="none" strike="noStrike" baseline="0" dirty="0">
              <a:solidFill>
                <a:srgbClr val="F36322"/>
              </a:solidFill>
              <a:latin typeface="Lato-Bold"/>
            </a:endParaRP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Scrum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consiste en un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Product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Owner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,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el </a:t>
            </a:r>
            <a:r>
              <a:rPr lang="es-EC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Development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 </a:t>
            </a:r>
            <a:r>
              <a:rPr lang="es-EC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 y un Scrum Master.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Scrum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son autoorganizados y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multifuncionales.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modelo de equipo en Scrum está diseñado para optimizar la flexibilidad, la creatividad y la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productividad.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Scrum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ha demostrado ser cada vez más efectivo para todos los usos anteriores y cualquier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trabajo complejo.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Scrum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entregan productos de forma iterativa e incremental, maximizando las oportunidades de obtener retroalimentación. Las entregas incrementales del producto “Done” aseguran que siempre estará disponible una versión potencialmente útil y funcional del producto.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20395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1F79C2-98D8-4BEB-9F04-31759408A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s-EC" sz="4000" dirty="0">
                <a:solidFill>
                  <a:srgbClr val="FFFFFF"/>
                </a:solidFill>
              </a:rPr>
              <a:t>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2FE5CF-FE9C-4E59-9386-4C2685C3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s-EC" sz="2000" dirty="0">
                <a:solidFill>
                  <a:srgbClr val="FFFFFF"/>
                </a:solidFill>
              </a:rPr>
              <a:t>	</a:t>
            </a:r>
            <a:r>
              <a:rPr lang="es-EC" sz="2000" dirty="0" err="1">
                <a:solidFill>
                  <a:srgbClr val="FFFFFF"/>
                </a:solidFill>
              </a:rPr>
              <a:t>Team</a:t>
            </a:r>
            <a:endParaRPr lang="es-EC" sz="2000" dirty="0">
              <a:solidFill>
                <a:srgbClr val="FFFFFF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5A91178-07D2-4D86-B2F2-8D0068D092C0}"/>
              </a:ext>
            </a:extLst>
          </p:cNvPr>
          <p:cNvSpPr txBox="1"/>
          <p:nvPr/>
        </p:nvSpPr>
        <p:spPr>
          <a:xfrm>
            <a:off x="1016428" y="1715869"/>
            <a:ext cx="100020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2400" b="1" i="0" u="none" strike="noStrike" baseline="0" dirty="0" err="1">
                <a:solidFill>
                  <a:srgbClr val="F36322"/>
                </a:solidFill>
                <a:latin typeface="Lato-Bold"/>
              </a:rPr>
              <a:t>Product</a:t>
            </a:r>
            <a:r>
              <a:rPr lang="es-EC" sz="2400" b="1" i="0" u="none" strike="noStrike" baseline="0" dirty="0">
                <a:solidFill>
                  <a:srgbClr val="F36322"/>
                </a:solidFill>
                <a:latin typeface="Lato-Bold"/>
              </a:rPr>
              <a:t> </a:t>
            </a:r>
            <a:r>
              <a:rPr lang="es-EC" sz="2400" b="1" i="0" u="none" strike="noStrike" baseline="0" dirty="0" err="1">
                <a:solidFill>
                  <a:srgbClr val="F36322"/>
                </a:solidFill>
                <a:latin typeface="Lato-Bold"/>
              </a:rPr>
              <a:t>Owner</a:t>
            </a:r>
            <a:endParaRPr lang="es-EC" sz="2400" b="1" i="0" u="none" strike="noStrike" baseline="0" dirty="0">
              <a:solidFill>
                <a:srgbClr val="F36322"/>
              </a:solidFill>
              <a:latin typeface="Lato-Bold"/>
            </a:endParaRP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Product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Owner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(PO) representa la voz del cliente, y es el encargado de maximizar el valor del</a:t>
            </a:r>
          </a:p>
          <a:p>
            <a:pPr algn="l"/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producto.</a:t>
            </a:r>
            <a:endParaRPr lang="es-EC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32CE665-836D-4380-BC0E-531A2C213ECC}"/>
              </a:ext>
            </a:extLst>
          </p:cNvPr>
          <p:cNvSpPr txBox="1"/>
          <p:nvPr/>
        </p:nvSpPr>
        <p:spPr>
          <a:xfrm>
            <a:off x="1016428" y="2805364"/>
            <a:ext cx="1038309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2400" b="1" i="0" u="none" strike="noStrike" baseline="0" dirty="0">
                <a:solidFill>
                  <a:srgbClr val="F36322"/>
                </a:solidFill>
                <a:latin typeface="Lato-Bold"/>
              </a:rPr>
              <a:t>Scrum Master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Scrum Master es responsable de promover y apoyar Scrum como se define en la Guía de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Scrum.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Los Scrum Masters hacen esto ayudando a todos a entender la teoría, prácticas, reglas y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valores de Scrum.</a:t>
            </a:r>
          </a:p>
          <a:p>
            <a:pPr algn="l"/>
            <a:r>
              <a:rPr lang="es-ES" sz="1100" b="0" i="0" u="none" strike="noStrike" baseline="0" dirty="0">
                <a:solidFill>
                  <a:srgbClr val="F36322"/>
                </a:solidFill>
                <a:latin typeface="Lato-Regular"/>
              </a:rPr>
              <a:t>●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Scrum Master es un líder que está al servicio del Scrum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. El Scrum Master ayuda a las 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personas externas al Scrum </a:t>
            </a:r>
            <a:r>
              <a:rPr lang="es-EC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r>
              <a:rPr lang="es-EC" sz="1800" b="0" i="0" u="none" strike="noStrike" baseline="0" dirty="0">
                <a:solidFill>
                  <a:srgbClr val="000000"/>
                </a:solidFill>
                <a:latin typeface="Lato-Regular"/>
              </a:rPr>
              <a:t> a entender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qué interacciones con el Scrum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pueden ser útiles y cuáles no.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B21ADC3-96CA-409B-B19E-024FDAC00132}"/>
              </a:ext>
            </a:extLst>
          </p:cNvPr>
          <p:cNvSpPr txBox="1"/>
          <p:nvPr/>
        </p:nvSpPr>
        <p:spPr>
          <a:xfrm>
            <a:off x="1016428" y="4966004"/>
            <a:ext cx="103830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2400" b="1" i="0" u="none" strike="noStrike" baseline="0" dirty="0" err="1">
                <a:solidFill>
                  <a:srgbClr val="F36322"/>
                </a:solidFill>
                <a:latin typeface="Lato-Bold"/>
              </a:rPr>
              <a:t>Development</a:t>
            </a:r>
            <a:r>
              <a:rPr lang="es-EC" sz="2400" b="1" i="0" u="none" strike="noStrike" baseline="0" dirty="0">
                <a:solidFill>
                  <a:srgbClr val="F36322"/>
                </a:solidFill>
                <a:latin typeface="Lato-Bold"/>
              </a:rPr>
              <a:t> </a:t>
            </a:r>
            <a:r>
              <a:rPr lang="es-EC" sz="2400" b="1" i="0" u="none" strike="noStrike" baseline="0" dirty="0" err="1">
                <a:solidFill>
                  <a:srgbClr val="F36322"/>
                </a:solidFill>
                <a:latin typeface="Lato-Bold"/>
              </a:rPr>
              <a:t>Team</a:t>
            </a:r>
            <a:endParaRPr lang="es-EC" sz="2400" b="1" i="0" u="none" strike="noStrike" baseline="0" dirty="0">
              <a:solidFill>
                <a:srgbClr val="F36322"/>
              </a:solidFill>
              <a:latin typeface="Lato-Bold"/>
            </a:endParaRP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El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Development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consiste en los profesionales que realizan el trabajo de entregar un Incremento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de producto “ Done” que potencialmente se pueda poner en producción al final de cada Sprint. Un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Incremento “Done” es obligatorio en el Sprint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Review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. Solo los miembros del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Development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Lato-Regular"/>
              </a:rPr>
              <a:t>Team</a:t>
            </a:r>
            <a:endParaRPr lang="es-ES" sz="1800" b="0" i="0" u="none" strike="noStrike" baseline="0" dirty="0">
              <a:solidFill>
                <a:srgbClr val="000000"/>
              </a:solidFill>
              <a:latin typeface="Lato-Regular"/>
            </a:endParaRPr>
          </a:p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Lato-Regular"/>
              </a:rPr>
              <a:t>participan en la creación del Incremento. 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9707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1F79C2-98D8-4BEB-9F04-31759408A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s-EC" sz="4000" dirty="0">
                <a:solidFill>
                  <a:srgbClr val="FFFFFF"/>
                </a:solidFill>
              </a:rPr>
              <a:t>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2FE5CF-FE9C-4E59-9386-4C2685C3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s-EC" sz="2000" dirty="0">
                <a:solidFill>
                  <a:srgbClr val="FFFFFF"/>
                </a:solidFill>
              </a:rPr>
              <a:t>	Elementos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0782289-AA49-41EA-9C40-EDEC702E3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090" y="1705222"/>
            <a:ext cx="52959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908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567</Words>
  <Application>Microsoft Office PowerPoint</Application>
  <PresentationFormat>Panorámica</PresentationFormat>
  <Paragraphs>60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Lato-Bold</vt:lpstr>
      <vt:lpstr>Lato-Italic</vt:lpstr>
      <vt:lpstr>Lato-Regular</vt:lpstr>
      <vt:lpstr>Tema de Office</vt:lpstr>
      <vt:lpstr>METODOLOGIA AGILE </vt:lpstr>
      <vt:lpstr>SCRUM</vt:lpstr>
      <vt:lpstr>SCRUM</vt:lpstr>
      <vt:lpstr>SCRUM</vt:lpstr>
      <vt:lpstr>SCRUM</vt:lpstr>
      <vt:lpstr>SCRUM</vt:lpstr>
      <vt:lpstr>SCRUM</vt:lpstr>
      <vt:lpstr>SCRUM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</dc:title>
  <dc:creator>CarlosReyes</dc:creator>
  <cp:lastModifiedBy>CarlosReyes</cp:lastModifiedBy>
  <cp:revision>8</cp:revision>
  <dcterms:created xsi:type="dcterms:W3CDTF">2021-03-16T17:35:18Z</dcterms:created>
  <dcterms:modified xsi:type="dcterms:W3CDTF">2021-03-16T19:41:44Z</dcterms:modified>
</cp:coreProperties>
</file>