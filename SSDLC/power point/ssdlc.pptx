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1" r:id="rId15"/>
    <p:sldId id="272" r:id="rId16"/>
    <p:sldId id="273" r:id="rId17"/>
    <p:sldId id="274" r:id="rId18"/>
    <p:sldId id="275" r:id="rId19"/>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1" autoAdjust="0"/>
    <p:restoredTop sz="94660"/>
  </p:normalViewPr>
  <p:slideViewPr>
    <p:cSldViewPr snapToGrid="0">
      <p:cViewPr varScale="1">
        <p:scale>
          <a:sx n="54" d="100"/>
          <a:sy n="54" d="100"/>
        </p:scale>
        <p:origin x="90"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9F1E2E-3DD2-469E-9821-246E5A004C7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632B6B19-E7A2-46EC-BB1F-347F55057C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B8356883-15D2-40AF-8F34-D7309BF9D335}"/>
              </a:ext>
            </a:extLst>
          </p:cNvPr>
          <p:cNvSpPr>
            <a:spLocks noGrp="1"/>
          </p:cNvSpPr>
          <p:nvPr>
            <p:ph type="dt" sz="half" idx="10"/>
          </p:nvPr>
        </p:nvSpPr>
        <p:spPr/>
        <p:txBody>
          <a:bodyPr/>
          <a:lstStyle/>
          <a:p>
            <a:fld id="{38BC4630-F929-432C-84D0-9ECFB92AA97A}" type="datetimeFigureOut">
              <a:rPr lang="es-EC" smtClean="0"/>
              <a:t>22/3/2021</a:t>
            </a:fld>
            <a:endParaRPr lang="es-EC"/>
          </a:p>
        </p:txBody>
      </p:sp>
      <p:sp>
        <p:nvSpPr>
          <p:cNvPr id="5" name="Marcador de pie de página 4">
            <a:extLst>
              <a:ext uri="{FF2B5EF4-FFF2-40B4-BE49-F238E27FC236}">
                <a16:creationId xmlns:a16="http://schemas.microsoft.com/office/drawing/2014/main" id="{D6390460-D718-49FE-8244-A2E41C4A5DF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FD90C4E6-CE8D-48E9-830E-F86617076E08}"/>
              </a:ext>
            </a:extLst>
          </p:cNvPr>
          <p:cNvSpPr>
            <a:spLocks noGrp="1"/>
          </p:cNvSpPr>
          <p:nvPr>
            <p:ph type="sldNum" sz="quarter" idx="12"/>
          </p:nvPr>
        </p:nvSpPr>
        <p:spPr/>
        <p:txBody>
          <a:bodyPr/>
          <a:lstStyle/>
          <a:p>
            <a:fld id="{C253E672-8F13-4150-8426-FA64D2442571}" type="slidenum">
              <a:rPr lang="es-EC" smtClean="0"/>
              <a:t>‹Nº›</a:t>
            </a:fld>
            <a:endParaRPr lang="es-EC"/>
          </a:p>
        </p:txBody>
      </p:sp>
    </p:spTree>
    <p:extLst>
      <p:ext uri="{BB962C8B-B14F-4D97-AF65-F5344CB8AC3E}">
        <p14:creationId xmlns:p14="http://schemas.microsoft.com/office/powerpoint/2010/main" val="92391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361878-8081-4F6F-9BB8-DE37E02CF831}"/>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F3AAFC67-5FDC-4356-8446-B79DB894C2F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74AA3D63-3DB3-4080-937F-86E11A2E7D24}"/>
              </a:ext>
            </a:extLst>
          </p:cNvPr>
          <p:cNvSpPr>
            <a:spLocks noGrp="1"/>
          </p:cNvSpPr>
          <p:nvPr>
            <p:ph type="dt" sz="half" idx="10"/>
          </p:nvPr>
        </p:nvSpPr>
        <p:spPr/>
        <p:txBody>
          <a:bodyPr/>
          <a:lstStyle/>
          <a:p>
            <a:fld id="{38BC4630-F929-432C-84D0-9ECFB92AA97A}" type="datetimeFigureOut">
              <a:rPr lang="es-EC" smtClean="0"/>
              <a:t>22/3/2021</a:t>
            </a:fld>
            <a:endParaRPr lang="es-EC"/>
          </a:p>
        </p:txBody>
      </p:sp>
      <p:sp>
        <p:nvSpPr>
          <p:cNvPr id="5" name="Marcador de pie de página 4">
            <a:extLst>
              <a:ext uri="{FF2B5EF4-FFF2-40B4-BE49-F238E27FC236}">
                <a16:creationId xmlns:a16="http://schemas.microsoft.com/office/drawing/2014/main" id="{F05D56E8-8FD0-4D40-BAA9-8948050D43EB}"/>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52455087-F853-42C0-A056-4A8E2B8EC8E8}"/>
              </a:ext>
            </a:extLst>
          </p:cNvPr>
          <p:cNvSpPr>
            <a:spLocks noGrp="1"/>
          </p:cNvSpPr>
          <p:nvPr>
            <p:ph type="sldNum" sz="quarter" idx="12"/>
          </p:nvPr>
        </p:nvSpPr>
        <p:spPr/>
        <p:txBody>
          <a:bodyPr/>
          <a:lstStyle/>
          <a:p>
            <a:fld id="{C253E672-8F13-4150-8426-FA64D2442571}" type="slidenum">
              <a:rPr lang="es-EC" smtClean="0"/>
              <a:t>‹Nº›</a:t>
            </a:fld>
            <a:endParaRPr lang="es-EC"/>
          </a:p>
        </p:txBody>
      </p:sp>
    </p:spTree>
    <p:extLst>
      <p:ext uri="{BB962C8B-B14F-4D97-AF65-F5344CB8AC3E}">
        <p14:creationId xmlns:p14="http://schemas.microsoft.com/office/powerpoint/2010/main" val="1022989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485EBA-16A6-4ECF-B9A7-8E2E65A225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9748B315-382B-489F-B70A-ABAF2CC135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8DE96B0-7CD6-403A-B599-06F2F4B2FC4A}"/>
              </a:ext>
            </a:extLst>
          </p:cNvPr>
          <p:cNvSpPr>
            <a:spLocks noGrp="1"/>
          </p:cNvSpPr>
          <p:nvPr>
            <p:ph type="dt" sz="half" idx="10"/>
          </p:nvPr>
        </p:nvSpPr>
        <p:spPr/>
        <p:txBody>
          <a:bodyPr/>
          <a:lstStyle/>
          <a:p>
            <a:fld id="{38BC4630-F929-432C-84D0-9ECFB92AA97A}" type="datetimeFigureOut">
              <a:rPr lang="es-EC" smtClean="0"/>
              <a:t>22/3/2021</a:t>
            </a:fld>
            <a:endParaRPr lang="es-EC"/>
          </a:p>
        </p:txBody>
      </p:sp>
      <p:sp>
        <p:nvSpPr>
          <p:cNvPr id="5" name="Marcador de pie de página 4">
            <a:extLst>
              <a:ext uri="{FF2B5EF4-FFF2-40B4-BE49-F238E27FC236}">
                <a16:creationId xmlns:a16="http://schemas.microsoft.com/office/drawing/2014/main" id="{83EA16DE-79D6-4776-9998-5800AB4931FC}"/>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FB30DF72-0BAD-4C4E-A747-D02F1CEB4C5D}"/>
              </a:ext>
            </a:extLst>
          </p:cNvPr>
          <p:cNvSpPr>
            <a:spLocks noGrp="1"/>
          </p:cNvSpPr>
          <p:nvPr>
            <p:ph type="sldNum" sz="quarter" idx="12"/>
          </p:nvPr>
        </p:nvSpPr>
        <p:spPr/>
        <p:txBody>
          <a:bodyPr/>
          <a:lstStyle/>
          <a:p>
            <a:fld id="{C253E672-8F13-4150-8426-FA64D2442571}" type="slidenum">
              <a:rPr lang="es-EC" smtClean="0"/>
              <a:t>‹Nº›</a:t>
            </a:fld>
            <a:endParaRPr lang="es-EC"/>
          </a:p>
        </p:txBody>
      </p:sp>
    </p:spTree>
    <p:extLst>
      <p:ext uri="{BB962C8B-B14F-4D97-AF65-F5344CB8AC3E}">
        <p14:creationId xmlns:p14="http://schemas.microsoft.com/office/powerpoint/2010/main" val="13367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5F9D66-E9AF-4181-B1CC-3503F139F930}"/>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3E16623E-512B-4713-97D6-2FA71652D25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7CC9DA57-3A71-4106-8DE2-2A4973D897B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15EFDA34-1201-4BF2-B709-6523D46B45B3}"/>
              </a:ext>
            </a:extLst>
          </p:cNvPr>
          <p:cNvSpPr>
            <a:spLocks noGrp="1"/>
          </p:cNvSpPr>
          <p:nvPr>
            <p:ph type="dt" sz="half" idx="10"/>
          </p:nvPr>
        </p:nvSpPr>
        <p:spPr/>
        <p:txBody>
          <a:bodyPr/>
          <a:lstStyle/>
          <a:p>
            <a:fld id="{38BC4630-F929-432C-84D0-9ECFB92AA97A}" type="datetimeFigureOut">
              <a:rPr lang="es-EC" smtClean="0"/>
              <a:t>22/3/2021</a:t>
            </a:fld>
            <a:endParaRPr lang="es-EC"/>
          </a:p>
        </p:txBody>
      </p:sp>
      <p:sp>
        <p:nvSpPr>
          <p:cNvPr id="6" name="Marcador de pie de página 5">
            <a:extLst>
              <a:ext uri="{FF2B5EF4-FFF2-40B4-BE49-F238E27FC236}">
                <a16:creationId xmlns:a16="http://schemas.microsoft.com/office/drawing/2014/main" id="{DCAD538F-3FAC-405F-AB30-5D6CFDED65A0}"/>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BB249188-FAC0-4023-9B3F-9BBAFDCD1A4B}"/>
              </a:ext>
            </a:extLst>
          </p:cNvPr>
          <p:cNvSpPr>
            <a:spLocks noGrp="1"/>
          </p:cNvSpPr>
          <p:nvPr>
            <p:ph type="sldNum" sz="quarter" idx="12"/>
          </p:nvPr>
        </p:nvSpPr>
        <p:spPr/>
        <p:txBody>
          <a:bodyPr/>
          <a:lstStyle/>
          <a:p>
            <a:fld id="{C253E672-8F13-4150-8426-FA64D2442571}" type="slidenum">
              <a:rPr lang="es-EC" smtClean="0"/>
              <a:t>‹Nº›</a:t>
            </a:fld>
            <a:endParaRPr lang="es-EC"/>
          </a:p>
        </p:txBody>
      </p:sp>
    </p:spTree>
    <p:extLst>
      <p:ext uri="{BB962C8B-B14F-4D97-AF65-F5344CB8AC3E}">
        <p14:creationId xmlns:p14="http://schemas.microsoft.com/office/powerpoint/2010/main" val="642241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A5C9CE-0162-4CF8-A044-6C67585AA9B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BB518139-5B68-40E1-A7A0-6A8429B77B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C7A8A24-63E8-4EF3-B0DF-31718893606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AEE275BE-FA8F-4D46-BDB4-6B6F68E10D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4F69851-6AE3-40DA-8A4A-5D98481D289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BFB89B3-15C5-4069-B9B4-B5DF938D42A9}"/>
              </a:ext>
            </a:extLst>
          </p:cNvPr>
          <p:cNvSpPr>
            <a:spLocks noGrp="1"/>
          </p:cNvSpPr>
          <p:nvPr>
            <p:ph type="dt" sz="half" idx="10"/>
          </p:nvPr>
        </p:nvSpPr>
        <p:spPr/>
        <p:txBody>
          <a:bodyPr/>
          <a:lstStyle/>
          <a:p>
            <a:fld id="{38BC4630-F929-432C-84D0-9ECFB92AA97A}" type="datetimeFigureOut">
              <a:rPr lang="es-EC" smtClean="0"/>
              <a:t>22/3/2021</a:t>
            </a:fld>
            <a:endParaRPr lang="es-EC"/>
          </a:p>
        </p:txBody>
      </p:sp>
      <p:sp>
        <p:nvSpPr>
          <p:cNvPr id="8" name="Marcador de pie de página 7">
            <a:extLst>
              <a:ext uri="{FF2B5EF4-FFF2-40B4-BE49-F238E27FC236}">
                <a16:creationId xmlns:a16="http://schemas.microsoft.com/office/drawing/2014/main" id="{742850B7-6CD2-4CD3-843D-234CD1AB4696}"/>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949D6801-873D-44D0-8B3C-9E687AABCF8E}"/>
              </a:ext>
            </a:extLst>
          </p:cNvPr>
          <p:cNvSpPr>
            <a:spLocks noGrp="1"/>
          </p:cNvSpPr>
          <p:nvPr>
            <p:ph type="sldNum" sz="quarter" idx="12"/>
          </p:nvPr>
        </p:nvSpPr>
        <p:spPr/>
        <p:txBody>
          <a:bodyPr/>
          <a:lstStyle/>
          <a:p>
            <a:fld id="{C253E672-8F13-4150-8426-FA64D2442571}" type="slidenum">
              <a:rPr lang="es-EC" smtClean="0"/>
              <a:t>‹Nº›</a:t>
            </a:fld>
            <a:endParaRPr lang="es-EC"/>
          </a:p>
        </p:txBody>
      </p:sp>
    </p:spTree>
    <p:extLst>
      <p:ext uri="{BB962C8B-B14F-4D97-AF65-F5344CB8AC3E}">
        <p14:creationId xmlns:p14="http://schemas.microsoft.com/office/powerpoint/2010/main" val="3007041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845FA5-9910-4F97-9F04-B1A86107910D}"/>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D0388E08-E587-4C6C-8772-155D119F67D4}"/>
              </a:ext>
            </a:extLst>
          </p:cNvPr>
          <p:cNvSpPr>
            <a:spLocks noGrp="1"/>
          </p:cNvSpPr>
          <p:nvPr>
            <p:ph type="dt" sz="half" idx="10"/>
          </p:nvPr>
        </p:nvSpPr>
        <p:spPr/>
        <p:txBody>
          <a:bodyPr/>
          <a:lstStyle/>
          <a:p>
            <a:fld id="{38BC4630-F929-432C-84D0-9ECFB92AA97A}" type="datetimeFigureOut">
              <a:rPr lang="es-EC" smtClean="0"/>
              <a:t>22/3/2021</a:t>
            </a:fld>
            <a:endParaRPr lang="es-EC"/>
          </a:p>
        </p:txBody>
      </p:sp>
      <p:sp>
        <p:nvSpPr>
          <p:cNvPr id="4" name="Marcador de pie de página 3">
            <a:extLst>
              <a:ext uri="{FF2B5EF4-FFF2-40B4-BE49-F238E27FC236}">
                <a16:creationId xmlns:a16="http://schemas.microsoft.com/office/drawing/2014/main" id="{FE6D431F-D8F3-48D7-A3E5-F7018879D007}"/>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D021E685-4DFF-4EEF-9DB2-B7B8481732F0}"/>
              </a:ext>
            </a:extLst>
          </p:cNvPr>
          <p:cNvSpPr>
            <a:spLocks noGrp="1"/>
          </p:cNvSpPr>
          <p:nvPr>
            <p:ph type="sldNum" sz="quarter" idx="12"/>
          </p:nvPr>
        </p:nvSpPr>
        <p:spPr/>
        <p:txBody>
          <a:bodyPr/>
          <a:lstStyle/>
          <a:p>
            <a:fld id="{C253E672-8F13-4150-8426-FA64D2442571}" type="slidenum">
              <a:rPr lang="es-EC" smtClean="0"/>
              <a:t>‹Nº›</a:t>
            </a:fld>
            <a:endParaRPr lang="es-EC"/>
          </a:p>
        </p:txBody>
      </p:sp>
    </p:spTree>
    <p:extLst>
      <p:ext uri="{BB962C8B-B14F-4D97-AF65-F5344CB8AC3E}">
        <p14:creationId xmlns:p14="http://schemas.microsoft.com/office/powerpoint/2010/main" val="104812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9D8FDA3-E4BD-41F3-924C-D55A1C973B48}"/>
              </a:ext>
            </a:extLst>
          </p:cNvPr>
          <p:cNvSpPr>
            <a:spLocks noGrp="1"/>
          </p:cNvSpPr>
          <p:nvPr>
            <p:ph type="dt" sz="half" idx="10"/>
          </p:nvPr>
        </p:nvSpPr>
        <p:spPr/>
        <p:txBody>
          <a:bodyPr/>
          <a:lstStyle/>
          <a:p>
            <a:fld id="{38BC4630-F929-432C-84D0-9ECFB92AA97A}" type="datetimeFigureOut">
              <a:rPr lang="es-EC" smtClean="0"/>
              <a:t>22/3/2021</a:t>
            </a:fld>
            <a:endParaRPr lang="es-EC"/>
          </a:p>
        </p:txBody>
      </p:sp>
      <p:sp>
        <p:nvSpPr>
          <p:cNvPr id="3" name="Marcador de pie de página 2">
            <a:extLst>
              <a:ext uri="{FF2B5EF4-FFF2-40B4-BE49-F238E27FC236}">
                <a16:creationId xmlns:a16="http://schemas.microsoft.com/office/drawing/2014/main" id="{A9480875-52DA-4126-89EE-7BD5B7C8FE45}"/>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8BD9ED18-F01A-4B8B-9F2B-377BD79B8FD9}"/>
              </a:ext>
            </a:extLst>
          </p:cNvPr>
          <p:cNvSpPr>
            <a:spLocks noGrp="1"/>
          </p:cNvSpPr>
          <p:nvPr>
            <p:ph type="sldNum" sz="quarter" idx="12"/>
          </p:nvPr>
        </p:nvSpPr>
        <p:spPr/>
        <p:txBody>
          <a:bodyPr/>
          <a:lstStyle/>
          <a:p>
            <a:fld id="{C253E672-8F13-4150-8426-FA64D2442571}" type="slidenum">
              <a:rPr lang="es-EC" smtClean="0"/>
              <a:t>‹Nº›</a:t>
            </a:fld>
            <a:endParaRPr lang="es-EC"/>
          </a:p>
        </p:txBody>
      </p:sp>
    </p:spTree>
    <p:extLst>
      <p:ext uri="{BB962C8B-B14F-4D97-AF65-F5344CB8AC3E}">
        <p14:creationId xmlns:p14="http://schemas.microsoft.com/office/powerpoint/2010/main" val="3347773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9A62FC-1D8E-451B-9140-AEFDF7242D4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FB7758AD-699D-49CD-8BA0-BFB45F750A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8EA1649-F1C0-4A02-8896-F0874F2318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B9FAA8-DE41-4DC3-AB3A-73AF70A1E770}"/>
              </a:ext>
            </a:extLst>
          </p:cNvPr>
          <p:cNvSpPr>
            <a:spLocks noGrp="1"/>
          </p:cNvSpPr>
          <p:nvPr>
            <p:ph type="dt" sz="half" idx="10"/>
          </p:nvPr>
        </p:nvSpPr>
        <p:spPr/>
        <p:txBody>
          <a:bodyPr/>
          <a:lstStyle/>
          <a:p>
            <a:fld id="{38BC4630-F929-432C-84D0-9ECFB92AA97A}" type="datetimeFigureOut">
              <a:rPr lang="es-EC" smtClean="0"/>
              <a:t>22/3/2021</a:t>
            </a:fld>
            <a:endParaRPr lang="es-EC"/>
          </a:p>
        </p:txBody>
      </p:sp>
      <p:sp>
        <p:nvSpPr>
          <p:cNvPr id="6" name="Marcador de pie de página 5">
            <a:extLst>
              <a:ext uri="{FF2B5EF4-FFF2-40B4-BE49-F238E27FC236}">
                <a16:creationId xmlns:a16="http://schemas.microsoft.com/office/drawing/2014/main" id="{B7B1662A-52DE-4494-B2BF-9DF670CDF0B8}"/>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76561CD5-C7D0-45A0-8A5B-CCDFC8D491B8}"/>
              </a:ext>
            </a:extLst>
          </p:cNvPr>
          <p:cNvSpPr>
            <a:spLocks noGrp="1"/>
          </p:cNvSpPr>
          <p:nvPr>
            <p:ph type="sldNum" sz="quarter" idx="12"/>
          </p:nvPr>
        </p:nvSpPr>
        <p:spPr/>
        <p:txBody>
          <a:bodyPr/>
          <a:lstStyle/>
          <a:p>
            <a:fld id="{C253E672-8F13-4150-8426-FA64D2442571}" type="slidenum">
              <a:rPr lang="es-EC" smtClean="0"/>
              <a:t>‹Nº›</a:t>
            </a:fld>
            <a:endParaRPr lang="es-EC"/>
          </a:p>
        </p:txBody>
      </p:sp>
    </p:spTree>
    <p:extLst>
      <p:ext uri="{BB962C8B-B14F-4D97-AF65-F5344CB8AC3E}">
        <p14:creationId xmlns:p14="http://schemas.microsoft.com/office/powerpoint/2010/main" val="420154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B70CEA-F29A-4C56-A1CB-105BC4FDE67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44534C3B-8CEA-4929-95C2-864D9BA9A4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81DD52EE-1FBE-4740-83F2-5A760A3D31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D298D6F-C21A-46C1-90A6-84365EED9ED7}"/>
              </a:ext>
            </a:extLst>
          </p:cNvPr>
          <p:cNvSpPr>
            <a:spLocks noGrp="1"/>
          </p:cNvSpPr>
          <p:nvPr>
            <p:ph type="dt" sz="half" idx="10"/>
          </p:nvPr>
        </p:nvSpPr>
        <p:spPr/>
        <p:txBody>
          <a:bodyPr/>
          <a:lstStyle/>
          <a:p>
            <a:fld id="{38BC4630-F929-432C-84D0-9ECFB92AA97A}" type="datetimeFigureOut">
              <a:rPr lang="es-EC" smtClean="0"/>
              <a:t>22/3/2021</a:t>
            </a:fld>
            <a:endParaRPr lang="es-EC"/>
          </a:p>
        </p:txBody>
      </p:sp>
      <p:sp>
        <p:nvSpPr>
          <p:cNvPr id="6" name="Marcador de pie de página 5">
            <a:extLst>
              <a:ext uri="{FF2B5EF4-FFF2-40B4-BE49-F238E27FC236}">
                <a16:creationId xmlns:a16="http://schemas.microsoft.com/office/drawing/2014/main" id="{8F9264D1-8A8C-4036-9219-DD15950021D1}"/>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D701D8FA-E06E-4FF3-BBBA-747F94CE7C60}"/>
              </a:ext>
            </a:extLst>
          </p:cNvPr>
          <p:cNvSpPr>
            <a:spLocks noGrp="1"/>
          </p:cNvSpPr>
          <p:nvPr>
            <p:ph type="sldNum" sz="quarter" idx="12"/>
          </p:nvPr>
        </p:nvSpPr>
        <p:spPr/>
        <p:txBody>
          <a:bodyPr/>
          <a:lstStyle/>
          <a:p>
            <a:fld id="{C253E672-8F13-4150-8426-FA64D2442571}" type="slidenum">
              <a:rPr lang="es-EC" smtClean="0"/>
              <a:t>‹Nº›</a:t>
            </a:fld>
            <a:endParaRPr lang="es-EC"/>
          </a:p>
        </p:txBody>
      </p:sp>
    </p:spTree>
    <p:extLst>
      <p:ext uri="{BB962C8B-B14F-4D97-AF65-F5344CB8AC3E}">
        <p14:creationId xmlns:p14="http://schemas.microsoft.com/office/powerpoint/2010/main" val="2681545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7C8418-C4CF-4857-A740-20BFB441D4C8}"/>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71738A29-700C-4773-B27A-9B45D4958F5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E103763-B5EF-4B81-8A42-0642F52B02C1}"/>
              </a:ext>
            </a:extLst>
          </p:cNvPr>
          <p:cNvSpPr>
            <a:spLocks noGrp="1"/>
          </p:cNvSpPr>
          <p:nvPr>
            <p:ph type="dt" sz="half" idx="10"/>
          </p:nvPr>
        </p:nvSpPr>
        <p:spPr/>
        <p:txBody>
          <a:bodyPr/>
          <a:lstStyle/>
          <a:p>
            <a:fld id="{38BC4630-F929-432C-84D0-9ECFB92AA97A}" type="datetimeFigureOut">
              <a:rPr lang="es-EC" smtClean="0"/>
              <a:t>22/3/2021</a:t>
            </a:fld>
            <a:endParaRPr lang="es-EC"/>
          </a:p>
        </p:txBody>
      </p:sp>
      <p:sp>
        <p:nvSpPr>
          <p:cNvPr id="5" name="Marcador de pie de página 4">
            <a:extLst>
              <a:ext uri="{FF2B5EF4-FFF2-40B4-BE49-F238E27FC236}">
                <a16:creationId xmlns:a16="http://schemas.microsoft.com/office/drawing/2014/main" id="{26A3DEFE-7D25-4BD6-AEBA-303287281F19}"/>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A9F0A6C7-A833-4501-BD17-A09B85FF6430}"/>
              </a:ext>
            </a:extLst>
          </p:cNvPr>
          <p:cNvSpPr>
            <a:spLocks noGrp="1"/>
          </p:cNvSpPr>
          <p:nvPr>
            <p:ph type="sldNum" sz="quarter" idx="12"/>
          </p:nvPr>
        </p:nvSpPr>
        <p:spPr/>
        <p:txBody>
          <a:bodyPr/>
          <a:lstStyle/>
          <a:p>
            <a:fld id="{C253E672-8F13-4150-8426-FA64D2442571}" type="slidenum">
              <a:rPr lang="es-EC" smtClean="0"/>
              <a:t>‹Nº›</a:t>
            </a:fld>
            <a:endParaRPr lang="es-EC"/>
          </a:p>
        </p:txBody>
      </p:sp>
    </p:spTree>
    <p:extLst>
      <p:ext uri="{BB962C8B-B14F-4D97-AF65-F5344CB8AC3E}">
        <p14:creationId xmlns:p14="http://schemas.microsoft.com/office/powerpoint/2010/main" val="1602883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A16701F-3EE5-47EB-A817-F1A2828EEFE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FB0ABF92-9FF6-48F4-8E4C-2F8D6612B38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2F264B01-9D04-4E68-9C7F-A8CA1D9D9AFD}"/>
              </a:ext>
            </a:extLst>
          </p:cNvPr>
          <p:cNvSpPr>
            <a:spLocks noGrp="1"/>
          </p:cNvSpPr>
          <p:nvPr>
            <p:ph type="dt" sz="half" idx="10"/>
          </p:nvPr>
        </p:nvSpPr>
        <p:spPr/>
        <p:txBody>
          <a:bodyPr/>
          <a:lstStyle/>
          <a:p>
            <a:fld id="{38BC4630-F929-432C-84D0-9ECFB92AA97A}" type="datetimeFigureOut">
              <a:rPr lang="es-EC" smtClean="0"/>
              <a:t>22/3/2021</a:t>
            </a:fld>
            <a:endParaRPr lang="es-EC"/>
          </a:p>
        </p:txBody>
      </p:sp>
      <p:sp>
        <p:nvSpPr>
          <p:cNvPr id="5" name="Marcador de pie de página 4">
            <a:extLst>
              <a:ext uri="{FF2B5EF4-FFF2-40B4-BE49-F238E27FC236}">
                <a16:creationId xmlns:a16="http://schemas.microsoft.com/office/drawing/2014/main" id="{754EA558-0476-427E-B711-CDFDE17DF1CF}"/>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EA7B8D1-23AF-4BC3-A509-E2216BBB3067}"/>
              </a:ext>
            </a:extLst>
          </p:cNvPr>
          <p:cNvSpPr>
            <a:spLocks noGrp="1"/>
          </p:cNvSpPr>
          <p:nvPr>
            <p:ph type="sldNum" sz="quarter" idx="12"/>
          </p:nvPr>
        </p:nvSpPr>
        <p:spPr/>
        <p:txBody>
          <a:bodyPr/>
          <a:lstStyle/>
          <a:p>
            <a:fld id="{C253E672-8F13-4150-8426-FA64D2442571}" type="slidenum">
              <a:rPr lang="es-EC" smtClean="0"/>
              <a:t>‹Nº›</a:t>
            </a:fld>
            <a:endParaRPr lang="es-EC"/>
          </a:p>
        </p:txBody>
      </p:sp>
    </p:spTree>
    <p:extLst>
      <p:ext uri="{BB962C8B-B14F-4D97-AF65-F5344CB8AC3E}">
        <p14:creationId xmlns:p14="http://schemas.microsoft.com/office/powerpoint/2010/main" val="1759157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A26CCF3-4257-4926-9E23-DD3E150376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6E8D00A8-B963-4DDC-B295-200B2B85A7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C9D13F52-D56D-49E9-BA27-94258857F2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BC4630-F929-432C-84D0-9ECFB92AA97A}" type="datetimeFigureOut">
              <a:rPr lang="es-EC" smtClean="0"/>
              <a:t>22/3/2021</a:t>
            </a:fld>
            <a:endParaRPr lang="es-EC"/>
          </a:p>
        </p:txBody>
      </p:sp>
      <p:sp>
        <p:nvSpPr>
          <p:cNvPr id="5" name="Marcador de pie de página 4">
            <a:extLst>
              <a:ext uri="{FF2B5EF4-FFF2-40B4-BE49-F238E27FC236}">
                <a16:creationId xmlns:a16="http://schemas.microsoft.com/office/drawing/2014/main" id="{931845D7-5BF7-41D5-B79F-58D1C5253B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DD20FC89-71E6-4109-9AB9-D2A13174ED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53E672-8F13-4150-8426-FA64D2442571}" type="slidenum">
              <a:rPr lang="es-EC" smtClean="0"/>
              <a:t>‹Nº›</a:t>
            </a:fld>
            <a:endParaRPr lang="es-EC"/>
          </a:p>
        </p:txBody>
      </p:sp>
    </p:spTree>
    <p:extLst>
      <p:ext uri="{BB962C8B-B14F-4D97-AF65-F5344CB8AC3E}">
        <p14:creationId xmlns:p14="http://schemas.microsoft.com/office/powerpoint/2010/main" val="3579059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ómo evaluar el grado de vulnerabilidad de mi empresa? - economiahoy.mx">
            <a:extLst>
              <a:ext uri="{FF2B5EF4-FFF2-40B4-BE49-F238E27FC236}">
                <a16:creationId xmlns:a16="http://schemas.microsoft.com/office/drawing/2014/main" id="{B2C31296-6DC3-4E93-A300-ACD4E30A13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82" y="0"/>
            <a:ext cx="12245682" cy="6686787"/>
          </a:xfrm>
          <a:prstGeom prst="rect">
            <a:avLst/>
          </a:prstGeom>
          <a:noFill/>
          <a:extLst>
            <a:ext uri="{909E8E84-426E-40DD-AFC4-6F175D3DCCD1}">
              <a14:hiddenFill xmlns:a14="http://schemas.microsoft.com/office/drawing/2010/main">
                <a:solidFill>
                  <a:srgbClr val="FFFFFF"/>
                </a:solidFill>
              </a14:hiddenFill>
            </a:ext>
          </a:extLst>
        </p:spPr>
      </p:pic>
      <p:sp>
        <p:nvSpPr>
          <p:cNvPr id="3" name="Subtítulo 2">
            <a:extLst>
              <a:ext uri="{FF2B5EF4-FFF2-40B4-BE49-F238E27FC236}">
                <a16:creationId xmlns:a16="http://schemas.microsoft.com/office/drawing/2014/main" id="{0F4060CC-A877-4D93-892D-0F7617367D85}"/>
              </a:ext>
            </a:extLst>
          </p:cNvPr>
          <p:cNvSpPr>
            <a:spLocks noGrp="1"/>
          </p:cNvSpPr>
          <p:nvPr>
            <p:ph type="subTitle" idx="1"/>
          </p:nvPr>
        </p:nvSpPr>
        <p:spPr/>
        <p:txBody>
          <a:bodyPr/>
          <a:lstStyle/>
          <a:p>
            <a:endParaRPr lang="es-EC" dirty="0"/>
          </a:p>
        </p:txBody>
      </p:sp>
      <p:sp>
        <p:nvSpPr>
          <p:cNvPr id="6" name="Título 1">
            <a:extLst>
              <a:ext uri="{FF2B5EF4-FFF2-40B4-BE49-F238E27FC236}">
                <a16:creationId xmlns:a16="http://schemas.microsoft.com/office/drawing/2014/main" id="{A7633085-2B55-4169-A029-4535B560FD31}"/>
              </a:ext>
            </a:extLst>
          </p:cNvPr>
          <p:cNvSpPr txBox="1">
            <a:spLocks/>
          </p:cNvSpPr>
          <p:nvPr/>
        </p:nvSpPr>
        <p:spPr>
          <a:xfrm>
            <a:off x="152400" y="2939256"/>
            <a:ext cx="10515600" cy="1325563"/>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C" b="1" dirty="0">
                <a:solidFill>
                  <a:schemeClr val="bg1">
                    <a:lumMod val="95000"/>
                  </a:schemeClr>
                </a:solidFill>
                <a:latin typeface="+mn-lt"/>
              </a:rPr>
              <a:t>SOFTWARE SEGURO</a:t>
            </a:r>
            <a:br>
              <a:rPr lang="es-EC" b="1" dirty="0"/>
            </a:br>
            <a:endParaRPr lang="es-EC" b="1" dirty="0"/>
          </a:p>
        </p:txBody>
      </p:sp>
      <p:sp>
        <p:nvSpPr>
          <p:cNvPr id="7" name="Título 1">
            <a:extLst>
              <a:ext uri="{FF2B5EF4-FFF2-40B4-BE49-F238E27FC236}">
                <a16:creationId xmlns:a16="http://schemas.microsoft.com/office/drawing/2014/main" id="{AB789D76-6366-4753-92CA-B7C1B4F5D285}"/>
              </a:ext>
            </a:extLst>
          </p:cNvPr>
          <p:cNvSpPr txBox="1">
            <a:spLocks/>
          </p:cNvSpPr>
          <p:nvPr/>
        </p:nvSpPr>
        <p:spPr>
          <a:xfrm>
            <a:off x="144439" y="378375"/>
            <a:ext cx="5601042"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C" b="1" dirty="0"/>
              <a:t>Ciclo de vida en el desarrollo de software</a:t>
            </a:r>
            <a:r>
              <a:rPr lang="es-EC" b="1" dirty="0">
                <a:solidFill>
                  <a:schemeClr val="bg1"/>
                </a:solidFill>
              </a:rPr>
              <a:t>	</a:t>
            </a:r>
          </a:p>
        </p:txBody>
      </p:sp>
    </p:spTree>
    <p:extLst>
      <p:ext uri="{BB962C8B-B14F-4D97-AF65-F5344CB8AC3E}">
        <p14:creationId xmlns:p14="http://schemas.microsoft.com/office/powerpoint/2010/main" val="891797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BD6F85-F815-485D-983E-7D6B2BA23A5B}"/>
              </a:ext>
            </a:extLst>
          </p:cNvPr>
          <p:cNvSpPr>
            <a:spLocks noGrp="1"/>
          </p:cNvSpPr>
          <p:nvPr>
            <p:ph type="ctrTitle"/>
          </p:nvPr>
        </p:nvSpPr>
        <p:spPr>
          <a:xfrm>
            <a:off x="1332613" y="571024"/>
            <a:ext cx="9916633" cy="1102677"/>
          </a:xfrm>
        </p:spPr>
        <p:txBody>
          <a:bodyPr>
            <a:normAutofit/>
          </a:bodyPr>
          <a:lstStyle/>
          <a:p>
            <a:r>
              <a:rPr lang="es-EC" dirty="0"/>
              <a:t>Software seguro</a:t>
            </a:r>
          </a:p>
        </p:txBody>
      </p:sp>
      <p:sp>
        <p:nvSpPr>
          <p:cNvPr id="3" name="Subtítulo 2">
            <a:extLst>
              <a:ext uri="{FF2B5EF4-FFF2-40B4-BE49-F238E27FC236}">
                <a16:creationId xmlns:a16="http://schemas.microsoft.com/office/drawing/2014/main" id="{0F4060CC-A877-4D93-892D-0F7617367D85}"/>
              </a:ext>
            </a:extLst>
          </p:cNvPr>
          <p:cNvSpPr>
            <a:spLocks noGrp="1"/>
          </p:cNvSpPr>
          <p:nvPr>
            <p:ph type="subTitle" idx="1"/>
          </p:nvPr>
        </p:nvSpPr>
        <p:spPr>
          <a:xfrm>
            <a:off x="1524000" y="2291396"/>
            <a:ext cx="9144000" cy="3995579"/>
          </a:xfrm>
        </p:spPr>
        <p:txBody>
          <a:bodyPr>
            <a:normAutofit/>
          </a:bodyPr>
          <a:lstStyle/>
          <a:p>
            <a:r>
              <a:rPr lang="es-ES" b="1" dirty="0"/>
              <a:t>Normalmente las</a:t>
            </a:r>
            <a:r>
              <a:rPr lang="es-ES" b="1" i="0" u="none" strike="noStrike" baseline="0" dirty="0"/>
              <a:t> aplicaciones presentan defectos, vulnerabilidades o configuraciones inseguras que pueden ser explotadas por atacantes de diversa índole desde aficionados hasta organizaciones de cibercrimen o incluso estados en acciones de ciberguerra, utilizándolas como plataformas de ataque comprometiendo los sistemas y redes de la organización. </a:t>
            </a:r>
          </a:p>
          <a:p>
            <a:endParaRPr lang="es-ES" b="1" dirty="0"/>
          </a:p>
          <a:p>
            <a:r>
              <a:rPr lang="es-ES" b="1" i="0" u="none" strike="noStrike" baseline="0" dirty="0"/>
              <a:t>Actualmente las tecnologías de seguridad red pueden ayudar a aliviar los ciberataques, pero no resuelven el problema de seguridad real ya que una vez que el atacante consigue vencer esas defensas, podrá atacar las demás maquinas empezando por las más vulnerables</a:t>
            </a:r>
            <a:r>
              <a:rPr lang="es-ES" b="0" i="0" u="none" strike="noStrike" baseline="0" dirty="0"/>
              <a:t>. </a:t>
            </a:r>
            <a:endParaRPr lang="es-EC" dirty="0"/>
          </a:p>
        </p:txBody>
      </p:sp>
    </p:spTree>
    <p:extLst>
      <p:ext uri="{BB962C8B-B14F-4D97-AF65-F5344CB8AC3E}">
        <p14:creationId xmlns:p14="http://schemas.microsoft.com/office/powerpoint/2010/main" val="4262587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ubtítulo 4">
            <a:extLst>
              <a:ext uri="{FF2B5EF4-FFF2-40B4-BE49-F238E27FC236}">
                <a16:creationId xmlns:a16="http://schemas.microsoft.com/office/drawing/2014/main" id="{EA11E92A-3983-4021-8455-D9C457D8FDE5}"/>
              </a:ext>
            </a:extLst>
          </p:cNvPr>
          <p:cNvSpPr>
            <a:spLocks noGrp="1"/>
          </p:cNvSpPr>
          <p:nvPr>
            <p:ph type="subTitle" idx="1"/>
          </p:nvPr>
        </p:nvSpPr>
        <p:spPr>
          <a:xfrm>
            <a:off x="1524000" y="1673701"/>
            <a:ext cx="9144000" cy="4408122"/>
          </a:xfrm>
        </p:spPr>
        <p:txBody>
          <a:bodyPr>
            <a:normAutofit/>
          </a:bodyPr>
          <a:lstStyle/>
          <a:p>
            <a:r>
              <a:rPr lang="es-ES" sz="2800" b="0" i="0" u="none" strike="noStrike" baseline="0" dirty="0">
                <a:solidFill>
                  <a:srgbClr val="000000"/>
                </a:solidFill>
              </a:rPr>
              <a:t>En respuesta a lo expuesto anteriormente nace la </a:t>
            </a:r>
            <a:r>
              <a:rPr lang="es-ES" sz="2800" b="1" i="0" u="none" strike="noStrike" baseline="0" dirty="0">
                <a:solidFill>
                  <a:srgbClr val="000000"/>
                </a:solidFill>
              </a:rPr>
              <a:t>seguridad del </a:t>
            </a:r>
            <a:r>
              <a:rPr lang="es-ES" sz="2800" b="1" i="1" u="none" strike="noStrike" baseline="0" dirty="0">
                <a:solidFill>
                  <a:srgbClr val="000000"/>
                </a:solidFill>
              </a:rPr>
              <a:t>software</a:t>
            </a:r>
            <a:r>
              <a:rPr lang="es-ES" sz="2800" b="0" i="0" u="none" strike="noStrike" baseline="0" dirty="0">
                <a:solidFill>
                  <a:srgbClr val="000000"/>
                </a:solidFill>
              </a:rPr>
              <a:t>, que se define como: «El conjunto de técnicas y buenas prácticas para detectar, prevenir y corregir los defectos de seguridad en el desarrollo y adquisición de aplicaciones </a:t>
            </a:r>
            <a:r>
              <a:rPr lang="es-ES" sz="2800" b="0" i="1" u="none" strike="noStrike" baseline="0" dirty="0">
                <a:solidFill>
                  <a:srgbClr val="000000"/>
                </a:solidFill>
              </a:rPr>
              <a:t>software </a:t>
            </a:r>
            <a:r>
              <a:rPr lang="es-ES" sz="2800" b="0" i="0" u="none" strike="noStrike" baseline="0" dirty="0">
                <a:solidFill>
                  <a:srgbClr val="000000"/>
                </a:solidFill>
              </a:rPr>
              <a:t>de confianza y robusto frente ataques maliciosos, libre de vulnerabilidades, ya sean intencionalmente diseñadas o accidentalmente insertadas durante su ciclo de vida, de forma que se asegure su integridad, disponibilidad y confidencialidad». </a:t>
            </a:r>
            <a:endParaRPr lang="es-EC" sz="2800" dirty="0"/>
          </a:p>
        </p:txBody>
      </p:sp>
      <p:sp>
        <p:nvSpPr>
          <p:cNvPr id="4" name="Título 1">
            <a:extLst>
              <a:ext uri="{FF2B5EF4-FFF2-40B4-BE49-F238E27FC236}">
                <a16:creationId xmlns:a16="http://schemas.microsoft.com/office/drawing/2014/main" id="{1A9EDFDB-F01D-4CC3-A1F1-6F164D7C5F02}"/>
              </a:ext>
            </a:extLst>
          </p:cNvPr>
          <p:cNvSpPr>
            <a:spLocks noGrp="1"/>
          </p:cNvSpPr>
          <p:nvPr>
            <p:ph type="ctrTitle"/>
          </p:nvPr>
        </p:nvSpPr>
        <p:spPr>
          <a:xfrm>
            <a:off x="1332613" y="571024"/>
            <a:ext cx="9916633" cy="1102677"/>
          </a:xfrm>
        </p:spPr>
        <p:txBody>
          <a:bodyPr>
            <a:normAutofit/>
          </a:bodyPr>
          <a:lstStyle/>
          <a:p>
            <a:r>
              <a:rPr lang="es-EC" dirty="0"/>
              <a:t>Software seguro</a:t>
            </a:r>
          </a:p>
        </p:txBody>
      </p:sp>
    </p:spTree>
    <p:extLst>
      <p:ext uri="{BB962C8B-B14F-4D97-AF65-F5344CB8AC3E}">
        <p14:creationId xmlns:p14="http://schemas.microsoft.com/office/powerpoint/2010/main" val="237280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C0C0EAC-0738-46B9-8ADD-984D92B11330}"/>
              </a:ext>
            </a:extLst>
          </p:cNvPr>
          <p:cNvSpPr>
            <a:spLocks noGrp="1"/>
          </p:cNvSpPr>
          <p:nvPr>
            <p:ph idx="1"/>
          </p:nvPr>
        </p:nvSpPr>
        <p:spPr/>
        <p:txBody>
          <a:bodyPr>
            <a:normAutofit/>
          </a:bodyPr>
          <a:lstStyle/>
          <a:p>
            <a:pPr algn="just"/>
            <a:r>
              <a:rPr lang="es-ES" b="0" i="0" u="none" strike="noStrike" baseline="0" dirty="0">
                <a:solidFill>
                  <a:srgbClr val="000000"/>
                </a:solidFill>
                <a:latin typeface="Georgia" panose="02040502050405020303" pitchFamily="18" charset="0"/>
              </a:rPr>
              <a:t>Para conseguir lo anterior y </a:t>
            </a:r>
            <a:r>
              <a:rPr lang="es-ES" b="1" i="0" u="none" strike="noStrike" baseline="0" dirty="0">
                <a:solidFill>
                  <a:srgbClr val="000000"/>
                </a:solidFill>
                <a:latin typeface="Georgia" panose="02040502050405020303" pitchFamily="18" charset="0"/>
              </a:rPr>
              <a:t>minimizar al máximo los ataques en la capa de aplicación y por tanto en número de </a:t>
            </a:r>
            <a:r>
              <a:rPr lang="es-ES" b="1" i="0" u="none" strike="noStrike" baseline="0" dirty="0">
                <a:solidFill>
                  <a:srgbClr val="000000"/>
                </a:solidFill>
              </a:rPr>
              <a:t>vulnerabilidades</a:t>
            </a:r>
            <a:r>
              <a:rPr lang="es-ES" b="1" i="0" u="none" strike="noStrike" baseline="0" dirty="0">
                <a:solidFill>
                  <a:srgbClr val="000000"/>
                </a:solidFill>
                <a:latin typeface="Georgia" panose="02040502050405020303" pitchFamily="18" charset="0"/>
              </a:rPr>
              <a:t> explotables</a:t>
            </a:r>
            <a:r>
              <a:rPr lang="es-ES" b="0" i="0" u="none" strike="noStrike" baseline="0" dirty="0">
                <a:solidFill>
                  <a:srgbClr val="000000"/>
                </a:solidFill>
                <a:latin typeface="Georgia" panose="02040502050405020303" pitchFamily="18" charset="0"/>
              </a:rPr>
              <a:t>, es necesario el </a:t>
            </a:r>
            <a:r>
              <a:rPr lang="es-ES" b="1" i="0" u="none" strike="noStrike" baseline="0" dirty="0">
                <a:solidFill>
                  <a:srgbClr val="000000"/>
                </a:solidFill>
                <a:latin typeface="Georgia" panose="02040502050405020303" pitchFamily="18" charset="0"/>
              </a:rPr>
              <a:t>incluir la seguridad desde el principio en el ciclo de vida de desarrollo del </a:t>
            </a:r>
            <a:r>
              <a:rPr lang="es-ES" b="1" i="1" u="none" strike="noStrike" baseline="0" dirty="0">
                <a:solidFill>
                  <a:srgbClr val="000000"/>
                </a:solidFill>
                <a:latin typeface="Georgia" panose="02040502050405020303" pitchFamily="18" charset="0"/>
              </a:rPr>
              <a:t>software </a:t>
            </a:r>
            <a:r>
              <a:rPr lang="es-ES" b="1" i="0" u="none" strike="noStrike" baseline="0" dirty="0">
                <a:solidFill>
                  <a:srgbClr val="000000"/>
                </a:solidFill>
                <a:latin typeface="Georgia" panose="02040502050405020303" pitchFamily="18" charset="0"/>
              </a:rPr>
              <a:t>(SDLC), </a:t>
            </a:r>
            <a:r>
              <a:rPr lang="es-ES" b="0" i="0" u="none" strike="noStrike" baseline="0" dirty="0">
                <a:solidFill>
                  <a:srgbClr val="000000"/>
                </a:solidFill>
                <a:latin typeface="Georgia" panose="02040502050405020303" pitchFamily="18" charset="0"/>
              </a:rPr>
              <a:t>incluyendo requisitos, casos de abuso, análisis de riesgo, análisis de código, pruebas de penetración dinámicas, etc., en este sentido es importante el </a:t>
            </a:r>
            <a:r>
              <a:rPr lang="es-ES" b="1" i="0" u="none" strike="noStrike" baseline="0" dirty="0">
                <a:solidFill>
                  <a:srgbClr val="000000"/>
                </a:solidFill>
                <a:latin typeface="Georgia" panose="02040502050405020303" pitchFamily="18" charset="0"/>
              </a:rPr>
              <a:t>aprovechamiento de las buenas prácticas de ingeniería de </a:t>
            </a:r>
            <a:r>
              <a:rPr lang="es-ES" b="1" i="1" u="none" strike="noStrike" baseline="0" dirty="0">
                <a:solidFill>
                  <a:srgbClr val="000000"/>
                </a:solidFill>
                <a:latin typeface="Georgia" panose="02040502050405020303" pitchFamily="18" charset="0"/>
              </a:rPr>
              <a:t>software </a:t>
            </a:r>
            <a:r>
              <a:rPr lang="es-ES" b="1" i="0" u="none" strike="noStrike" baseline="0" dirty="0">
                <a:solidFill>
                  <a:srgbClr val="000000"/>
                </a:solidFill>
                <a:latin typeface="Georgia" panose="02040502050405020303" pitchFamily="18" charset="0"/>
              </a:rPr>
              <a:t>ya existentes</a:t>
            </a:r>
            <a:r>
              <a:rPr lang="es-ES" b="0" i="0" u="none" strike="noStrike" baseline="0" dirty="0">
                <a:solidFill>
                  <a:srgbClr val="000000"/>
                </a:solidFill>
                <a:latin typeface="Georgia" panose="02040502050405020303" pitchFamily="18" charset="0"/>
              </a:rPr>
              <a:t>. </a:t>
            </a:r>
            <a:endParaRPr lang="es-EC" dirty="0"/>
          </a:p>
        </p:txBody>
      </p:sp>
      <p:sp>
        <p:nvSpPr>
          <p:cNvPr id="5" name="Título 1">
            <a:extLst>
              <a:ext uri="{FF2B5EF4-FFF2-40B4-BE49-F238E27FC236}">
                <a16:creationId xmlns:a16="http://schemas.microsoft.com/office/drawing/2014/main" id="{F2F352BA-6A45-4FB7-B91D-DCCFBB96854D}"/>
              </a:ext>
            </a:extLst>
          </p:cNvPr>
          <p:cNvSpPr txBox="1">
            <a:spLocks/>
          </p:cNvSpPr>
          <p:nvPr/>
        </p:nvSpPr>
        <p:spPr>
          <a:xfrm>
            <a:off x="1332613" y="571024"/>
            <a:ext cx="9916633" cy="11026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C"/>
              <a:t>Software seguro</a:t>
            </a:r>
            <a:endParaRPr lang="es-EC" dirty="0"/>
          </a:p>
        </p:txBody>
      </p:sp>
    </p:spTree>
    <p:extLst>
      <p:ext uri="{BB962C8B-B14F-4D97-AF65-F5344CB8AC3E}">
        <p14:creationId xmlns:p14="http://schemas.microsoft.com/office/powerpoint/2010/main" val="3069133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0DD6D14-9697-4788-8DE2-4DED737DB9AC}"/>
              </a:ext>
            </a:extLst>
          </p:cNvPr>
          <p:cNvSpPr>
            <a:spLocks noGrp="1"/>
          </p:cNvSpPr>
          <p:nvPr>
            <p:ph idx="1"/>
          </p:nvPr>
        </p:nvSpPr>
        <p:spPr>
          <a:xfrm>
            <a:off x="838200" y="1825625"/>
            <a:ext cx="10515600" cy="3065352"/>
          </a:xfrm>
        </p:spPr>
        <p:txBody>
          <a:bodyPr>
            <a:normAutofit/>
          </a:bodyPr>
          <a:lstStyle/>
          <a:p>
            <a:r>
              <a:rPr lang="es-ES" b="0" i="0" u="none" strike="noStrike" baseline="0" dirty="0">
                <a:solidFill>
                  <a:srgbClr val="000000"/>
                </a:solidFill>
              </a:rPr>
              <a:t>Una </a:t>
            </a:r>
            <a:r>
              <a:rPr lang="es-ES" b="1" i="0" u="none" strike="noStrike" baseline="0" dirty="0">
                <a:solidFill>
                  <a:srgbClr val="000000"/>
                </a:solidFill>
              </a:rPr>
              <a:t>vulnerabilidad </a:t>
            </a:r>
            <a:r>
              <a:rPr lang="es-ES" b="0" i="0" u="none" strike="noStrike" baseline="0" dirty="0">
                <a:solidFill>
                  <a:srgbClr val="000000"/>
                </a:solidFill>
              </a:rPr>
              <a:t>es un fallo de programación, configuración o diseño que permite, de alguna manera, a los atacantes alterar el comportamiento normal de un programa y realizar algo malicioso como alterar información sensible, interrumpir o destruir una aplicación o tomar su control. </a:t>
            </a:r>
            <a:endParaRPr lang="es-EC" dirty="0"/>
          </a:p>
        </p:txBody>
      </p:sp>
      <p:sp>
        <p:nvSpPr>
          <p:cNvPr id="4" name="Título 1">
            <a:extLst>
              <a:ext uri="{FF2B5EF4-FFF2-40B4-BE49-F238E27FC236}">
                <a16:creationId xmlns:a16="http://schemas.microsoft.com/office/drawing/2014/main" id="{DF244BF7-2EB5-4C6A-8B61-0D7862E8C5E9}"/>
              </a:ext>
            </a:extLst>
          </p:cNvPr>
          <p:cNvSpPr txBox="1">
            <a:spLocks/>
          </p:cNvSpPr>
          <p:nvPr/>
        </p:nvSpPr>
        <p:spPr>
          <a:xfrm>
            <a:off x="1332613" y="571024"/>
            <a:ext cx="9916633" cy="11026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C"/>
              <a:t>Software seguro</a:t>
            </a:r>
            <a:endParaRPr lang="es-EC" dirty="0"/>
          </a:p>
        </p:txBody>
      </p:sp>
    </p:spTree>
    <p:extLst>
      <p:ext uri="{BB962C8B-B14F-4D97-AF65-F5344CB8AC3E}">
        <p14:creationId xmlns:p14="http://schemas.microsoft.com/office/powerpoint/2010/main" val="1541559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4D7257D-4C55-4013-B525-B063E146E3B8}"/>
              </a:ext>
            </a:extLst>
          </p:cNvPr>
          <p:cNvSpPr>
            <a:spLocks noGrp="1"/>
          </p:cNvSpPr>
          <p:nvPr>
            <p:ph type="title"/>
          </p:nvPr>
        </p:nvSpPr>
        <p:spPr>
          <a:xfrm>
            <a:off x="572493" y="238539"/>
            <a:ext cx="11018520" cy="1434415"/>
          </a:xfrm>
        </p:spPr>
        <p:txBody>
          <a:bodyPr anchor="b">
            <a:normAutofit/>
          </a:bodyPr>
          <a:lstStyle/>
          <a:p>
            <a:r>
              <a:rPr lang="es-EC" sz="5400" dirty="0"/>
              <a:t>Propiedades del software seguro</a:t>
            </a:r>
          </a:p>
        </p:txBody>
      </p:sp>
      <p:sp>
        <p:nvSpPr>
          <p:cNvPr id="2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ítulo 1">
            <a:extLst>
              <a:ext uri="{FF2B5EF4-FFF2-40B4-BE49-F238E27FC236}">
                <a16:creationId xmlns:a16="http://schemas.microsoft.com/office/drawing/2014/main" id="{74D2A98B-4072-489B-B2F0-B32C95448E4E}"/>
              </a:ext>
            </a:extLst>
          </p:cNvPr>
          <p:cNvSpPr>
            <a:spLocks noGrp="1"/>
          </p:cNvSpPr>
          <p:nvPr>
            <p:ph idx="1"/>
          </p:nvPr>
        </p:nvSpPr>
        <p:spPr>
          <a:xfrm>
            <a:off x="572493" y="2071316"/>
            <a:ext cx="6713552" cy="4119172"/>
          </a:xfrm>
        </p:spPr>
        <p:txBody>
          <a:bodyPr anchor="t">
            <a:normAutofit/>
          </a:bodyPr>
          <a:lstStyle/>
          <a:p>
            <a:pPr algn="just"/>
            <a:r>
              <a:rPr lang="es-ES" sz="2200" b="0" i="0" u="none" strike="noStrike" baseline="0" dirty="0">
                <a:latin typeface="Georgia" panose="02040502050405020303" pitchFamily="18" charset="0"/>
              </a:rPr>
              <a:t>Básicamente se tienen dos conjuntos de propiedades que definen a un </a:t>
            </a:r>
            <a:r>
              <a:rPr lang="es-ES" sz="2200" b="0" i="1" u="none" strike="noStrike" baseline="0" dirty="0">
                <a:latin typeface="Georgia" panose="02040502050405020303" pitchFamily="18" charset="0"/>
              </a:rPr>
              <a:t>software </a:t>
            </a:r>
            <a:r>
              <a:rPr lang="es-ES" sz="2200" b="0" i="0" u="none" strike="noStrike" baseline="0" dirty="0">
                <a:latin typeface="Georgia" panose="02040502050405020303" pitchFamily="18" charset="0"/>
              </a:rPr>
              <a:t>seguro, del que no lo es, las primeras son las </a:t>
            </a:r>
            <a:r>
              <a:rPr lang="es-ES" sz="2200" b="1" i="0" u="none" strike="noStrike" baseline="0" dirty="0">
                <a:latin typeface="Georgia" panose="02040502050405020303" pitchFamily="18" charset="0"/>
              </a:rPr>
              <a:t>esenciales </a:t>
            </a:r>
            <a:r>
              <a:rPr lang="es-ES" sz="2200" b="0" i="0" u="none" strike="noStrike" baseline="0" dirty="0">
                <a:latin typeface="Georgia" panose="02040502050405020303" pitchFamily="18" charset="0"/>
              </a:rPr>
              <a:t>(en amarillo), comunes a la seguridad de cualquier sistema, cuya ausencia afecta gravemente a la seguridad de una aplicación y un segundo conjunto, </a:t>
            </a:r>
            <a:r>
              <a:rPr lang="es-ES" sz="2200" b="1" i="0" u="none" strike="noStrike" baseline="0" dirty="0">
                <a:latin typeface="Georgia" panose="02040502050405020303" pitchFamily="18" charset="0"/>
              </a:rPr>
              <a:t>complementarias </a:t>
            </a:r>
            <a:r>
              <a:rPr lang="es-ES" sz="2200" b="0" i="0" u="none" strike="noStrike" baseline="0" dirty="0">
                <a:latin typeface="Georgia" panose="02040502050405020303" pitchFamily="18" charset="0"/>
              </a:rPr>
              <a:t>(en azul) a las anteriores que no influyen en su seguridad, pero que ayudan a mejorarla en un alto grado </a:t>
            </a:r>
            <a:endParaRPr lang="es-EC" sz="2200" dirty="0"/>
          </a:p>
        </p:txBody>
      </p:sp>
      <p:pic>
        <p:nvPicPr>
          <p:cNvPr id="6" name="Imagen 5" descr="Diagrama&#10;&#10;Descripción generada automáticamente">
            <a:extLst>
              <a:ext uri="{FF2B5EF4-FFF2-40B4-BE49-F238E27FC236}">
                <a16:creationId xmlns:a16="http://schemas.microsoft.com/office/drawing/2014/main" id="{4D33BBDA-8014-40CA-B40B-08ADA25C4DCE}"/>
              </a:ext>
            </a:extLst>
          </p:cNvPr>
          <p:cNvPicPr>
            <a:picLocks noChangeAspect="1"/>
          </p:cNvPicPr>
          <p:nvPr/>
        </p:nvPicPr>
        <p:blipFill rotWithShape="1">
          <a:blip r:embed="rId2"/>
          <a:srcRect l="2211" r="3989" b="1"/>
          <a:stretch/>
        </p:blipFill>
        <p:spPr>
          <a:xfrm>
            <a:off x="7675658" y="2093976"/>
            <a:ext cx="3941064" cy="4096512"/>
          </a:xfrm>
          <a:prstGeom prst="rect">
            <a:avLst/>
          </a:prstGeom>
        </p:spPr>
      </p:pic>
    </p:spTree>
    <p:extLst>
      <p:ext uri="{BB962C8B-B14F-4D97-AF65-F5344CB8AC3E}">
        <p14:creationId xmlns:p14="http://schemas.microsoft.com/office/powerpoint/2010/main" val="637163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51A7B3C9-0807-4F2E-93B5-4E6FE908B98A}"/>
              </a:ext>
            </a:extLst>
          </p:cNvPr>
          <p:cNvSpPr>
            <a:spLocks noGrp="1"/>
          </p:cNvSpPr>
          <p:nvPr>
            <p:ph type="title"/>
          </p:nvPr>
        </p:nvSpPr>
        <p:spPr>
          <a:xfrm>
            <a:off x="643467" y="321734"/>
            <a:ext cx="10905066" cy="1135737"/>
          </a:xfrm>
        </p:spPr>
        <p:txBody>
          <a:bodyPr>
            <a:normAutofit/>
          </a:bodyPr>
          <a:lstStyle/>
          <a:p>
            <a:r>
              <a:rPr lang="es-EC" sz="3600" dirty="0"/>
              <a:t>Software Seguro – Modelo McGraw</a:t>
            </a:r>
          </a:p>
        </p:txBody>
      </p:sp>
      <p:sp>
        <p:nvSpPr>
          <p:cNvPr id="3" name="Marcador de contenido 2">
            <a:extLst>
              <a:ext uri="{FF2B5EF4-FFF2-40B4-BE49-F238E27FC236}">
                <a16:creationId xmlns:a16="http://schemas.microsoft.com/office/drawing/2014/main" id="{2A6D5E28-2414-4FAA-BE1A-DD5E299015E6}"/>
              </a:ext>
            </a:extLst>
          </p:cNvPr>
          <p:cNvSpPr>
            <a:spLocks noGrp="1"/>
          </p:cNvSpPr>
          <p:nvPr>
            <p:ph idx="1"/>
          </p:nvPr>
        </p:nvSpPr>
        <p:spPr>
          <a:xfrm>
            <a:off x="643469" y="1782981"/>
            <a:ext cx="4438894" cy="4531872"/>
          </a:xfrm>
        </p:spPr>
        <p:txBody>
          <a:bodyPr>
            <a:normAutofit/>
          </a:bodyPr>
          <a:lstStyle/>
          <a:p>
            <a:pPr algn="just"/>
            <a:r>
              <a:rPr lang="es-ES" sz="2400" b="0" i="0" u="none" strike="noStrike" baseline="0" dirty="0">
                <a:latin typeface="Georgia" panose="02040502050405020303" pitchFamily="18" charset="0"/>
              </a:rPr>
              <a:t>McGraw propone un modelo de S-SDLC (cascada o iterativo) en el que define una serie de mejores prácticas de seguridad a aplicar a los artefactos de cada fase del desarrollo. En esencia, el proceso se centra en la incorporación de las siguientes prácticas ordenadas por orden de importancia: </a:t>
            </a:r>
            <a:endParaRPr lang="es-EC" sz="2400" dirty="0"/>
          </a:p>
        </p:txBody>
      </p:sp>
      <p:grpSp>
        <p:nvGrpSpPr>
          <p:cNvPr id="12" name="Group 11">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agen 4" descr="Diagrama&#10;&#10;Descripción generada automáticamente">
            <a:extLst>
              <a:ext uri="{FF2B5EF4-FFF2-40B4-BE49-F238E27FC236}">
                <a16:creationId xmlns:a16="http://schemas.microsoft.com/office/drawing/2014/main" id="{7F19D8DA-8880-4D30-ACFD-1B891715CB09}"/>
              </a:ext>
            </a:extLst>
          </p:cNvPr>
          <p:cNvPicPr>
            <a:picLocks noChangeAspect="1"/>
          </p:cNvPicPr>
          <p:nvPr/>
        </p:nvPicPr>
        <p:blipFill>
          <a:blip r:embed="rId2"/>
          <a:stretch>
            <a:fillRect/>
          </a:stretch>
        </p:blipFill>
        <p:spPr>
          <a:xfrm>
            <a:off x="5082363" y="1900367"/>
            <a:ext cx="6782287" cy="4476308"/>
          </a:xfrm>
          <a:prstGeom prst="rect">
            <a:avLst/>
          </a:prstGeom>
        </p:spPr>
      </p:pic>
      <p:grpSp>
        <p:nvGrpSpPr>
          <p:cNvPr id="16" name="Group 15">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7" name="Rectangle 16">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934344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BAC310E7-5050-4015-BD78-4814CEAAC05D}"/>
              </a:ext>
            </a:extLst>
          </p:cNvPr>
          <p:cNvSpPr>
            <a:spLocks noGrp="1"/>
          </p:cNvSpPr>
          <p:nvPr>
            <p:ph type="title"/>
          </p:nvPr>
        </p:nvSpPr>
        <p:spPr>
          <a:xfrm>
            <a:off x="643467" y="321734"/>
            <a:ext cx="10905066" cy="1135737"/>
          </a:xfrm>
        </p:spPr>
        <p:txBody>
          <a:bodyPr>
            <a:normAutofit/>
          </a:bodyPr>
          <a:lstStyle/>
          <a:p>
            <a:r>
              <a:rPr lang="es-EC" sz="3600" dirty="0"/>
              <a:t>Software Seguro – Modelo McGraw</a:t>
            </a:r>
          </a:p>
        </p:txBody>
      </p:sp>
      <p:sp>
        <p:nvSpPr>
          <p:cNvPr id="3" name="Marcador de contenido 2">
            <a:extLst>
              <a:ext uri="{FF2B5EF4-FFF2-40B4-BE49-F238E27FC236}">
                <a16:creationId xmlns:a16="http://schemas.microsoft.com/office/drawing/2014/main" id="{5264E877-7689-46AE-8CE6-359B936428AB}"/>
              </a:ext>
            </a:extLst>
          </p:cNvPr>
          <p:cNvSpPr>
            <a:spLocks noGrp="1"/>
          </p:cNvSpPr>
          <p:nvPr>
            <p:ph idx="1"/>
          </p:nvPr>
        </p:nvSpPr>
        <p:spPr>
          <a:xfrm>
            <a:off x="643469" y="1782981"/>
            <a:ext cx="4008384" cy="4393982"/>
          </a:xfrm>
        </p:spPr>
        <p:txBody>
          <a:bodyPr>
            <a:normAutofit/>
          </a:bodyPr>
          <a:lstStyle/>
          <a:p>
            <a:pPr algn="just"/>
            <a:r>
              <a:rPr lang="es-ES" sz="1900" b="0" i="0" u="none" strike="noStrike" baseline="0" dirty="0">
                <a:latin typeface="Georgia" panose="02040502050405020303" pitchFamily="18" charset="0"/>
              </a:rPr>
              <a:t>Gary McGraw en su libro </a:t>
            </a:r>
            <a:r>
              <a:rPr lang="es-ES" sz="1900" b="0" i="1" u="none" strike="noStrike" baseline="0" dirty="0">
                <a:latin typeface="Georgia" panose="02040502050405020303" pitchFamily="18" charset="0"/>
              </a:rPr>
              <a:t>Software Security: </a:t>
            </a:r>
            <a:r>
              <a:rPr lang="es-ES" sz="1900" b="0" i="1" u="none" strike="noStrike" baseline="0" dirty="0" err="1">
                <a:latin typeface="Georgia" panose="02040502050405020303" pitchFamily="18" charset="0"/>
              </a:rPr>
              <a:t>Building</a:t>
            </a:r>
            <a:r>
              <a:rPr lang="es-ES" sz="1900" b="0" i="1" u="none" strike="noStrike" baseline="0" dirty="0">
                <a:latin typeface="Georgia" panose="02040502050405020303" pitchFamily="18" charset="0"/>
              </a:rPr>
              <a:t> Security In </a:t>
            </a:r>
            <a:r>
              <a:rPr lang="es-ES" sz="1900" b="0" i="0" u="none" strike="noStrike" baseline="0" dirty="0">
                <a:latin typeface="Georgia" panose="02040502050405020303" pitchFamily="18" charset="0"/>
              </a:rPr>
              <a:t>propone un método o proceso para ayudar a solucionar el problema de la seguridad del </a:t>
            </a:r>
            <a:r>
              <a:rPr lang="es-ES" sz="1900" b="0" i="1" u="none" strike="noStrike" baseline="0" dirty="0">
                <a:latin typeface="Georgia" panose="02040502050405020303" pitchFamily="18" charset="0"/>
              </a:rPr>
              <a:t>software </a:t>
            </a:r>
            <a:r>
              <a:rPr lang="es-ES" sz="1900" b="0" i="0" u="none" strike="noStrike" baseline="0" dirty="0">
                <a:latin typeface="Georgia" panose="02040502050405020303" pitchFamily="18" charset="0"/>
              </a:rPr>
              <a:t>en las </a:t>
            </a:r>
            <a:r>
              <a:rPr lang="es-ES" sz="1900" b="1" i="0" u="none" strike="noStrike" baseline="0" dirty="0">
                <a:latin typeface="Georgia" panose="02040502050405020303" pitchFamily="18" charset="0"/>
              </a:rPr>
              <a:t>organizaciones que realizan desarrollos</a:t>
            </a:r>
            <a:r>
              <a:rPr lang="es-ES" sz="1900" b="0" i="0" u="none" strike="noStrike" baseline="0" dirty="0">
                <a:latin typeface="Georgia" panose="02040502050405020303" pitchFamily="18" charset="0"/>
              </a:rPr>
              <a:t>, que requiere un cambio cultural de sus desarrolladores en lo que respecta sobre todo en lo relativo a NO </a:t>
            </a:r>
            <a:r>
              <a:rPr lang="es-ES" sz="1900" b="1" i="0" u="none" strike="noStrike" baseline="0" dirty="0">
                <a:latin typeface="Georgia" panose="02040502050405020303" pitchFamily="18" charset="0"/>
              </a:rPr>
              <a:t>anteponer la seguridad respecto de la funcionalidad</a:t>
            </a:r>
            <a:r>
              <a:rPr lang="es-ES" sz="1900" b="0" i="0" u="none" strike="noStrike" baseline="0" dirty="0">
                <a:latin typeface="Georgia" panose="02040502050405020303" pitchFamily="18" charset="0"/>
              </a:rPr>
              <a:t>, independiente del modelo o tipo del ciclo de vida del </a:t>
            </a:r>
            <a:r>
              <a:rPr lang="es-ES" sz="1900" b="0" i="1" u="none" strike="noStrike" baseline="0" dirty="0">
                <a:latin typeface="Georgia" panose="02040502050405020303" pitchFamily="18" charset="0"/>
              </a:rPr>
              <a:t>software </a:t>
            </a:r>
            <a:r>
              <a:rPr lang="es-ES" sz="1900" b="0" i="0" u="none" strike="noStrike" baseline="0" dirty="0">
                <a:latin typeface="Georgia" panose="02040502050405020303" pitchFamily="18" charset="0"/>
              </a:rPr>
              <a:t>que se esté utilizando y basado en tres pilares fundamentales: </a:t>
            </a:r>
            <a:endParaRPr lang="es-EC" sz="1900" dirty="0"/>
          </a:p>
        </p:txBody>
      </p:sp>
      <p:grpSp>
        <p:nvGrpSpPr>
          <p:cNvPr id="12" name="Group 11">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agen 4" descr="Interfaz de usuario gráfica, Texto, Aplicación, Chat o mensaje de texto, Correo electrónico&#10;&#10;Descripción generada automáticamente">
            <a:extLst>
              <a:ext uri="{FF2B5EF4-FFF2-40B4-BE49-F238E27FC236}">
                <a16:creationId xmlns:a16="http://schemas.microsoft.com/office/drawing/2014/main" id="{BDEF3EFD-FD17-4C3F-A04E-4DD5F866FC0F}"/>
              </a:ext>
            </a:extLst>
          </p:cNvPr>
          <p:cNvPicPr>
            <a:picLocks noChangeAspect="1"/>
          </p:cNvPicPr>
          <p:nvPr/>
        </p:nvPicPr>
        <p:blipFill>
          <a:blip r:embed="rId2"/>
          <a:stretch>
            <a:fillRect/>
          </a:stretch>
        </p:blipFill>
        <p:spPr>
          <a:xfrm>
            <a:off x="5295320" y="2475748"/>
            <a:ext cx="6253212" cy="2976357"/>
          </a:xfrm>
          <a:prstGeom prst="rect">
            <a:avLst/>
          </a:prstGeom>
        </p:spPr>
      </p:pic>
      <p:grpSp>
        <p:nvGrpSpPr>
          <p:cNvPr id="16" name="Group 15">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7" name="Rectangle 16">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776964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823F017E-8CF6-4898-BD5D-A977944AF5A4}"/>
              </a:ext>
            </a:extLst>
          </p:cNvPr>
          <p:cNvSpPr>
            <a:spLocks noGrp="1"/>
          </p:cNvSpPr>
          <p:nvPr>
            <p:ph type="title"/>
          </p:nvPr>
        </p:nvSpPr>
        <p:spPr>
          <a:xfrm>
            <a:off x="643467" y="321734"/>
            <a:ext cx="10905066" cy="1135737"/>
          </a:xfrm>
        </p:spPr>
        <p:txBody>
          <a:bodyPr>
            <a:normAutofit/>
          </a:bodyPr>
          <a:lstStyle/>
          <a:p>
            <a:r>
              <a:rPr lang="es-EC" sz="3600" dirty="0"/>
              <a:t>Software Seguro – Modelo McGraw</a:t>
            </a:r>
          </a:p>
        </p:txBody>
      </p:sp>
      <p:sp>
        <p:nvSpPr>
          <p:cNvPr id="3" name="Marcador de contenido 2">
            <a:extLst>
              <a:ext uri="{FF2B5EF4-FFF2-40B4-BE49-F238E27FC236}">
                <a16:creationId xmlns:a16="http://schemas.microsoft.com/office/drawing/2014/main" id="{6F12EFD4-8B2A-4CEB-8204-274D8F9F3F83}"/>
              </a:ext>
            </a:extLst>
          </p:cNvPr>
          <p:cNvSpPr>
            <a:spLocks noGrp="1"/>
          </p:cNvSpPr>
          <p:nvPr>
            <p:ph idx="1"/>
          </p:nvPr>
        </p:nvSpPr>
        <p:spPr>
          <a:xfrm>
            <a:off x="643469" y="1782981"/>
            <a:ext cx="4008384" cy="4393982"/>
          </a:xfrm>
        </p:spPr>
        <p:txBody>
          <a:bodyPr>
            <a:normAutofit/>
          </a:bodyPr>
          <a:lstStyle/>
          <a:p>
            <a:r>
              <a:rPr lang="es-ES" sz="2000" b="0" i="0" u="none" strike="noStrike" baseline="0">
                <a:latin typeface="Georgia" panose="02040502050405020303" pitchFamily="18" charset="0"/>
              </a:rPr>
              <a:t>Se necesita un </a:t>
            </a:r>
            <a:r>
              <a:rPr lang="es-ES" sz="2000" b="1" i="0" u="none" strike="noStrike" baseline="0">
                <a:latin typeface="Georgia" panose="02040502050405020303" pitchFamily="18" charset="0"/>
              </a:rPr>
              <a:t>proceso continuo de gestión de riesgos que abarque todo el ciclo de vida del </a:t>
            </a:r>
            <a:r>
              <a:rPr lang="es-ES" sz="2000" b="1" i="1" u="none" strike="noStrike" baseline="0">
                <a:latin typeface="Georgia" panose="02040502050405020303" pitchFamily="18" charset="0"/>
              </a:rPr>
              <a:t>software</a:t>
            </a:r>
            <a:r>
              <a:rPr lang="es-ES" sz="2000" b="0" i="0" u="none" strike="noStrike" baseline="0">
                <a:latin typeface="Georgia" panose="02040502050405020303" pitchFamily="18" charset="0"/>
              </a:rPr>
              <a:t>, que permite a una organización el identificar, clasificar, comprender y realizar un seguimiento de los riesgos en el tiempo en el que un proyecto </a:t>
            </a:r>
            <a:r>
              <a:rPr lang="es-ES" sz="2000" b="0" i="1" u="none" strike="noStrike" baseline="0">
                <a:latin typeface="Georgia" panose="02040502050405020303" pitchFamily="18" charset="0"/>
              </a:rPr>
              <a:t>software </a:t>
            </a:r>
            <a:r>
              <a:rPr lang="es-ES" sz="2000" b="0" i="0" u="none" strike="noStrike" baseline="0">
                <a:latin typeface="Georgia" panose="02040502050405020303" pitchFamily="18" charset="0"/>
              </a:rPr>
              <a:t>se desarrolla. </a:t>
            </a:r>
          </a:p>
          <a:p>
            <a:r>
              <a:rPr lang="es-ES" sz="2000" b="0" i="0" u="none" strike="noStrike" baseline="0">
                <a:latin typeface="Georgia" panose="02040502050405020303" pitchFamily="18" charset="0"/>
              </a:rPr>
              <a:t>En la figura siguiente se puede ver un diagrama de dicho marco. </a:t>
            </a:r>
            <a:endParaRPr lang="es-EC" sz="2000"/>
          </a:p>
        </p:txBody>
      </p:sp>
      <p:grpSp>
        <p:nvGrpSpPr>
          <p:cNvPr id="12" name="Group 11">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agen 4" descr="Diagrama&#10;&#10;Descripción generada automáticamente">
            <a:extLst>
              <a:ext uri="{FF2B5EF4-FFF2-40B4-BE49-F238E27FC236}">
                <a16:creationId xmlns:a16="http://schemas.microsoft.com/office/drawing/2014/main" id="{1B840DC4-7256-4678-843C-51529ED456F2}"/>
              </a:ext>
            </a:extLst>
          </p:cNvPr>
          <p:cNvPicPr>
            <a:picLocks noChangeAspect="1"/>
          </p:cNvPicPr>
          <p:nvPr/>
        </p:nvPicPr>
        <p:blipFill>
          <a:blip r:embed="rId2"/>
          <a:stretch>
            <a:fillRect/>
          </a:stretch>
        </p:blipFill>
        <p:spPr>
          <a:xfrm>
            <a:off x="5295320" y="2517872"/>
            <a:ext cx="6253212" cy="2892110"/>
          </a:xfrm>
          <a:prstGeom prst="rect">
            <a:avLst/>
          </a:prstGeom>
        </p:spPr>
      </p:pic>
      <p:grpSp>
        <p:nvGrpSpPr>
          <p:cNvPr id="16" name="Group 15">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7" name="Rectangle 16">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18625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B13EED-0B49-4F1E-953B-3BC1D68E534E}"/>
              </a:ext>
            </a:extLst>
          </p:cNvPr>
          <p:cNvSpPr>
            <a:spLocks noGrp="1"/>
          </p:cNvSpPr>
          <p:nvPr>
            <p:ph type="title"/>
          </p:nvPr>
        </p:nvSpPr>
        <p:spPr/>
        <p:txBody>
          <a:bodyPr/>
          <a:lstStyle/>
          <a:p>
            <a:r>
              <a:rPr lang="es-EC" sz="4400" dirty="0"/>
              <a:t>Software Seguro – Modelo McGraw</a:t>
            </a:r>
            <a:endParaRPr lang="es-EC" dirty="0"/>
          </a:p>
        </p:txBody>
      </p:sp>
      <p:sp>
        <p:nvSpPr>
          <p:cNvPr id="3" name="Marcador de contenido 2">
            <a:extLst>
              <a:ext uri="{FF2B5EF4-FFF2-40B4-BE49-F238E27FC236}">
                <a16:creationId xmlns:a16="http://schemas.microsoft.com/office/drawing/2014/main" id="{7A6A35AD-A40B-47CC-8F5E-4C05D690272B}"/>
              </a:ext>
            </a:extLst>
          </p:cNvPr>
          <p:cNvSpPr>
            <a:spLocks noGrp="1"/>
          </p:cNvSpPr>
          <p:nvPr>
            <p:ph idx="1"/>
          </p:nvPr>
        </p:nvSpPr>
        <p:spPr>
          <a:xfrm>
            <a:off x="838200" y="1825625"/>
            <a:ext cx="10515600" cy="3703305"/>
          </a:xfrm>
        </p:spPr>
        <p:txBody>
          <a:bodyPr>
            <a:normAutofit/>
          </a:bodyPr>
          <a:lstStyle/>
          <a:p>
            <a:r>
              <a:rPr lang="es-ES" b="0" i="0" u="none" strike="noStrike" baseline="0" dirty="0">
                <a:solidFill>
                  <a:srgbClr val="000000"/>
                </a:solidFill>
                <a:latin typeface="Georgia" panose="02040502050405020303" pitchFamily="18" charset="0"/>
              </a:rPr>
              <a:t>Un aspecto importante de la seguridad del </a:t>
            </a:r>
            <a:r>
              <a:rPr lang="es-ES" b="0" i="1" u="none" strike="noStrike" baseline="0" dirty="0">
                <a:solidFill>
                  <a:srgbClr val="000000"/>
                </a:solidFill>
                <a:latin typeface="Georgia" panose="02040502050405020303" pitchFamily="18" charset="0"/>
              </a:rPr>
              <a:t>software</a:t>
            </a:r>
            <a:r>
              <a:rPr lang="es-ES" b="0" i="0" u="none" strike="noStrike" baseline="0" dirty="0">
                <a:solidFill>
                  <a:srgbClr val="000000"/>
                </a:solidFill>
                <a:latin typeface="Georgia" panose="02040502050405020303" pitchFamily="18" charset="0"/>
              </a:rPr>
              <a:t>, es la adopción por los gerentes de un enfoque sistémico para </a:t>
            </a:r>
            <a:r>
              <a:rPr lang="es-ES" b="1" i="0" u="none" strike="noStrike" baseline="0" dirty="0">
                <a:solidFill>
                  <a:srgbClr val="000000"/>
                </a:solidFill>
                <a:latin typeface="Georgia" panose="02040502050405020303" pitchFamily="18" charset="0"/>
              </a:rPr>
              <a:t>incorporar principios de buenas prácticas de seguridad del </a:t>
            </a:r>
            <a:r>
              <a:rPr lang="es-ES" b="1" i="1" u="none" strike="noStrike" baseline="0" dirty="0">
                <a:solidFill>
                  <a:srgbClr val="000000"/>
                </a:solidFill>
                <a:latin typeface="Georgia" panose="02040502050405020303" pitchFamily="18" charset="0"/>
              </a:rPr>
              <a:t>software </a:t>
            </a:r>
            <a:r>
              <a:rPr lang="es-ES" b="1" i="0" u="none" strike="noStrike" baseline="0" dirty="0">
                <a:solidFill>
                  <a:srgbClr val="000000"/>
                </a:solidFill>
                <a:latin typeface="Georgia" panose="02040502050405020303" pitchFamily="18" charset="0"/>
              </a:rPr>
              <a:t>en su ciclo de vida de desarrollo de </a:t>
            </a:r>
            <a:r>
              <a:rPr lang="es-ES" b="1" i="1" u="none" strike="noStrike" baseline="0" dirty="0">
                <a:solidFill>
                  <a:srgbClr val="000000"/>
                </a:solidFill>
                <a:latin typeface="Georgia" panose="02040502050405020303" pitchFamily="18" charset="0"/>
              </a:rPr>
              <a:t>software</a:t>
            </a:r>
            <a:r>
              <a:rPr lang="es-ES" b="0" i="0" u="none" strike="noStrike" baseline="0" dirty="0">
                <a:solidFill>
                  <a:srgbClr val="000000"/>
                </a:solidFill>
                <a:latin typeface="Georgia" panose="02040502050405020303" pitchFamily="18" charset="0"/>
              </a:rPr>
              <a:t>, para lograr el doble objetivo de producir sistemas con </a:t>
            </a:r>
            <a:r>
              <a:rPr lang="es-ES" b="0" i="1" u="none" strike="noStrike" baseline="0" dirty="0">
                <a:solidFill>
                  <a:srgbClr val="000000"/>
                </a:solidFill>
                <a:latin typeface="Georgia" panose="02040502050405020303" pitchFamily="18" charset="0"/>
              </a:rPr>
              <a:t>software </a:t>
            </a:r>
            <a:r>
              <a:rPr lang="es-ES" b="0" i="0" u="none" strike="noStrike" baseline="0" dirty="0">
                <a:solidFill>
                  <a:srgbClr val="000000"/>
                </a:solidFill>
                <a:latin typeface="Georgia" panose="02040502050405020303" pitchFamily="18" charset="0"/>
              </a:rPr>
              <a:t>más seguro y poder verificar su seguridad, a este nuevo ciclo de vida le denominaremos ciclo de vida del </a:t>
            </a:r>
            <a:r>
              <a:rPr lang="es-ES" b="0" i="1" u="none" strike="noStrike" baseline="0" dirty="0">
                <a:solidFill>
                  <a:srgbClr val="000000"/>
                </a:solidFill>
                <a:latin typeface="Georgia" panose="02040502050405020303" pitchFamily="18" charset="0"/>
              </a:rPr>
              <a:t>software </a:t>
            </a:r>
            <a:r>
              <a:rPr lang="es-ES" b="0" i="0" u="none" strike="noStrike" baseline="0" dirty="0">
                <a:solidFill>
                  <a:srgbClr val="000000"/>
                </a:solidFill>
                <a:latin typeface="Georgia" panose="02040502050405020303" pitchFamily="18" charset="0"/>
              </a:rPr>
              <a:t>seguro S-SDLC. </a:t>
            </a:r>
            <a:endParaRPr lang="es-EC" dirty="0"/>
          </a:p>
        </p:txBody>
      </p:sp>
    </p:spTree>
    <p:extLst>
      <p:ext uri="{BB962C8B-B14F-4D97-AF65-F5344CB8AC3E}">
        <p14:creationId xmlns:p14="http://schemas.microsoft.com/office/powerpoint/2010/main" val="2172461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C3A3A8-D103-4B48-8006-5D56A2AC0CA0}"/>
              </a:ext>
            </a:extLst>
          </p:cNvPr>
          <p:cNvSpPr>
            <a:spLocks noGrp="1"/>
          </p:cNvSpPr>
          <p:nvPr>
            <p:ph type="title"/>
          </p:nvPr>
        </p:nvSpPr>
        <p:spPr/>
        <p:txBody>
          <a:bodyPr/>
          <a:lstStyle/>
          <a:p>
            <a:r>
              <a:rPr lang="es-EC" sz="4400" dirty="0"/>
              <a:t>Software Seguro – Modelo McGraw </a:t>
            </a:r>
            <a:br>
              <a:rPr lang="es-EC" sz="4400" dirty="0"/>
            </a:br>
            <a:r>
              <a:rPr lang="es-EC" sz="3600" dirty="0"/>
              <a:t>Mejores Prácticas</a:t>
            </a:r>
            <a:endParaRPr lang="es-EC" dirty="0"/>
          </a:p>
        </p:txBody>
      </p:sp>
      <p:sp>
        <p:nvSpPr>
          <p:cNvPr id="3" name="Marcador de contenido 2">
            <a:extLst>
              <a:ext uri="{FF2B5EF4-FFF2-40B4-BE49-F238E27FC236}">
                <a16:creationId xmlns:a16="http://schemas.microsoft.com/office/drawing/2014/main" id="{AD9494BA-2E3D-4953-941E-F504C3D5FA97}"/>
              </a:ext>
            </a:extLst>
          </p:cNvPr>
          <p:cNvSpPr>
            <a:spLocks noGrp="1"/>
          </p:cNvSpPr>
          <p:nvPr>
            <p:ph idx="1"/>
          </p:nvPr>
        </p:nvSpPr>
        <p:spPr>
          <a:xfrm>
            <a:off x="838200" y="1825625"/>
            <a:ext cx="10515600" cy="4667250"/>
          </a:xfrm>
        </p:spPr>
        <p:txBody>
          <a:bodyPr>
            <a:normAutofit/>
          </a:bodyPr>
          <a:lstStyle/>
          <a:p>
            <a:pPr marL="0" indent="0" algn="l">
              <a:buNone/>
            </a:pPr>
            <a:r>
              <a:rPr lang="es-EC" sz="1800" b="1" dirty="0">
                <a:solidFill>
                  <a:srgbClr val="FF0000"/>
                </a:solidFill>
                <a:latin typeface="Georgia" panose="02040502050405020303" pitchFamily="18" charset="0"/>
              </a:rPr>
              <a:t>1</a:t>
            </a:r>
            <a:r>
              <a:rPr lang="es-EC" sz="1800" b="1" i="0" u="none" strike="noStrike" baseline="0" dirty="0">
                <a:solidFill>
                  <a:srgbClr val="FF0000"/>
                </a:solidFill>
                <a:latin typeface="Georgia" panose="02040502050405020303" pitchFamily="18" charset="0"/>
              </a:rPr>
              <a:t>.Casos de abuso</a:t>
            </a:r>
            <a:endParaRPr lang="es-ES" sz="1800" b="1" i="0" u="none" strike="noStrike" baseline="0" dirty="0">
              <a:solidFill>
                <a:srgbClr val="FF0000"/>
              </a:solidFill>
              <a:latin typeface="Georgia" panose="02040502050405020303" pitchFamily="18" charset="0"/>
            </a:endParaRPr>
          </a:p>
          <a:p>
            <a:pPr marL="0" indent="0" algn="just">
              <a:buNone/>
            </a:pPr>
            <a:r>
              <a:rPr lang="es-ES" sz="1800" b="0" i="0" u="none" strike="noStrike" baseline="0" dirty="0">
                <a:solidFill>
                  <a:srgbClr val="000000"/>
                </a:solidFill>
                <a:latin typeface="Georgia" panose="02040502050405020303" pitchFamily="18" charset="0"/>
              </a:rPr>
              <a:t>Pensando más allá de los aspectos normativos y funcionales y también estudiando eventos negativos o inesperados, los profesionales de seguridad de </a:t>
            </a:r>
            <a:r>
              <a:rPr lang="es-ES" sz="1800" b="0" i="1" u="none" strike="noStrike" baseline="0" dirty="0">
                <a:solidFill>
                  <a:srgbClr val="000000"/>
                </a:solidFill>
                <a:latin typeface="Georgia" panose="02040502050405020303" pitchFamily="18" charset="0"/>
              </a:rPr>
              <a:t>software </a:t>
            </a:r>
            <a:r>
              <a:rPr lang="es-ES" sz="1800" b="0" i="0" u="none" strike="noStrike" baseline="0" dirty="0">
                <a:solidFill>
                  <a:srgbClr val="000000"/>
                </a:solidFill>
                <a:latin typeface="Georgia" panose="02040502050405020303" pitchFamily="18" charset="0"/>
              </a:rPr>
              <a:t>entienden mejor cómo crear </a:t>
            </a:r>
            <a:r>
              <a:rPr lang="es-ES" sz="1800" b="0" i="1" u="none" strike="noStrike" baseline="0" dirty="0">
                <a:solidFill>
                  <a:srgbClr val="000000"/>
                </a:solidFill>
                <a:latin typeface="Georgia" panose="02040502050405020303" pitchFamily="18" charset="0"/>
              </a:rPr>
              <a:t>software </a:t>
            </a:r>
            <a:r>
              <a:rPr lang="es-ES" sz="1800" b="0" i="0" u="none" strike="noStrike" baseline="0" dirty="0">
                <a:solidFill>
                  <a:srgbClr val="000000"/>
                </a:solidFill>
                <a:latin typeface="Georgia" panose="02040502050405020303" pitchFamily="18" charset="0"/>
              </a:rPr>
              <a:t>seguro, pues permiten obtener una mejor comprensión de las </a:t>
            </a:r>
            <a:r>
              <a:rPr lang="es-ES" sz="1800" b="1" i="0" u="none" strike="noStrike" baseline="0" dirty="0">
                <a:solidFill>
                  <a:srgbClr val="000000"/>
                </a:solidFill>
                <a:latin typeface="Georgia" panose="02040502050405020303" pitchFamily="18" charset="0"/>
              </a:rPr>
              <a:t>áreas de riesgo del sistema </a:t>
            </a:r>
            <a:r>
              <a:rPr lang="es-ES" sz="1800" b="0" i="0" u="none" strike="noStrike" baseline="0" dirty="0">
                <a:solidFill>
                  <a:srgbClr val="000000"/>
                </a:solidFill>
                <a:latin typeface="Georgia" panose="02040502050405020303" pitchFamily="18" charset="0"/>
              </a:rPr>
              <a:t>a través de:</a:t>
            </a:r>
          </a:p>
          <a:p>
            <a:pPr algn="just"/>
            <a:r>
              <a:rPr lang="es-ES" sz="1800" b="0" i="0" u="none" strike="noStrike" baseline="0" dirty="0">
                <a:solidFill>
                  <a:srgbClr val="000000"/>
                </a:solidFill>
                <a:latin typeface="Georgia" panose="02040502050405020303" pitchFamily="18" charset="0"/>
              </a:rPr>
              <a:t>Identificar los objetivos de seguridad que debe cumplir el </a:t>
            </a:r>
            <a:r>
              <a:rPr lang="es-ES" sz="1800" b="0" i="1" u="none" strike="noStrike" baseline="0" dirty="0">
                <a:solidFill>
                  <a:srgbClr val="000000"/>
                </a:solidFill>
                <a:latin typeface="Georgia" panose="02040502050405020303" pitchFamily="18" charset="0"/>
              </a:rPr>
              <a:t>software</a:t>
            </a:r>
            <a:r>
              <a:rPr lang="es-ES" sz="1800" b="0" i="0" u="none" strike="noStrike" baseline="0" dirty="0">
                <a:solidFill>
                  <a:srgbClr val="000000"/>
                </a:solidFill>
                <a:latin typeface="Georgia" panose="02040502050405020303" pitchFamily="18" charset="0"/>
              </a:rPr>
              <a:t>.</a:t>
            </a:r>
          </a:p>
          <a:p>
            <a:pPr algn="just"/>
            <a:r>
              <a:rPr lang="es-ES" sz="1800" b="0" i="0" u="none" strike="noStrike" baseline="0" dirty="0">
                <a:solidFill>
                  <a:srgbClr val="000000"/>
                </a:solidFill>
                <a:latin typeface="Georgia" panose="02040502050405020303" pitchFamily="18" charset="0"/>
              </a:rPr>
              <a:t>Identificación de las amenazas de seguridad a ser neutralizadas por el </a:t>
            </a:r>
            <a:r>
              <a:rPr lang="es-ES" sz="1800" b="0" i="1" u="none" strike="noStrike" baseline="0" dirty="0">
                <a:solidFill>
                  <a:srgbClr val="000000"/>
                </a:solidFill>
                <a:latin typeface="Georgia" panose="02040502050405020303" pitchFamily="18" charset="0"/>
              </a:rPr>
              <a:t>software</a:t>
            </a:r>
            <a:r>
              <a:rPr lang="es-ES" sz="1800" b="0" i="0" u="none" strike="noStrike" baseline="0" dirty="0">
                <a:solidFill>
                  <a:srgbClr val="000000"/>
                </a:solidFill>
                <a:latin typeface="Georgia" panose="02040502050405020303" pitchFamily="18" charset="0"/>
              </a:rPr>
              <a:t>.</a:t>
            </a:r>
          </a:p>
          <a:p>
            <a:pPr algn="just"/>
            <a:r>
              <a:rPr lang="es-ES" sz="1800" b="0" i="0" u="none" strike="noStrike" baseline="0" dirty="0">
                <a:solidFill>
                  <a:srgbClr val="000000"/>
                </a:solidFill>
                <a:latin typeface="Georgia" panose="02040502050405020303" pitchFamily="18" charset="0"/>
              </a:rPr>
              <a:t>Identificación de los puntos en el </a:t>
            </a:r>
            <a:r>
              <a:rPr lang="es-ES" sz="1800" b="0" i="1" u="none" strike="noStrike" baseline="0" dirty="0">
                <a:solidFill>
                  <a:srgbClr val="000000"/>
                </a:solidFill>
                <a:latin typeface="Georgia" panose="02040502050405020303" pitchFamily="18" charset="0"/>
              </a:rPr>
              <a:t>software </a:t>
            </a:r>
            <a:r>
              <a:rPr lang="es-ES" sz="1800" b="0" i="0" u="none" strike="noStrike" baseline="0" dirty="0">
                <a:solidFill>
                  <a:srgbClr val="000000"/>
                </a:solidFill>
                <a:latin typeface="Georgia" panose="02040502050405020303" pitchFamily="18" charset="0"/>
              </a:rPr>
              <a:t>susceptibles de ser atacados.</a:t>
            </a:r>
          </a:p>
          <a:p>
            <a:pPr algn="just"/>
            <a:r>
              <a:rPr lang="es-ES" sz="1800" b="0" i="0" u="none" strike="noStrike" baseline="0" dirty="0">
                <a:solidFill>
                  <a:srgbClr val="000000"/>
                </a:solidFill>
                <a:latin typeface="Georgia" panose="02040502050405020303" pitchFamily="18" charset="0"/>
              </a:rPr>
              <a:t>Definición de restricciones, o requisitos negativos, necesarios para alcanzar las contramedidas necesarias y los objetivos de seguridad.</a:t>
            </a:r>
          </a:p>
          <a:p>
            <a:pPr algn="just"/>
            <a:r>
              <a:rPr lang="es-ES" sz="1800" b="0" i="0" u="none" strike="noStrike" baseline="0" dirty="0">
                <a:solidFill>
                  <a:srgbClr val="000000"/>
                </a:solidFill>
                <a:latin typeface="Georgia" panose="02040502050405020303" pitchFamily="18" charset="0"/>
              </a:rPr>
              <a:t>Obtener requisitos de seguridad que garanticen que el </a:t>
            </a:r>
            <a:r>
              <a:rPr lang="es-ES" sz="1800" b="0" i="1" u="none" strike="noStrike" baseline="0" dirty="0">
                <a:solidFill>
                  <a:srgbClr val="000000"/>
                </a:solidFill>
                <a:latin typeface="Georgia" panose="02040502050405020303" pitchFamily="18" charset="0"/>
              </a:rPr>
              <a:t>software </a:t>
            </a:r>
            <a:r>
              <a:rPr lang="es-ES" sz="1800" b="0" i="0" u="none" strike="noStrike" baseline="0" dirty="0">
                <a:solidFill>
                  <a:srgbClr val="000000"/>
                </a:solidFill>
                <a:latin typeface="Georgia" panose="02040502050405020303" pitchFamily="18" charset="0"/>
              </a:rPr>
              <a:t>aplica las </a:t>
            </a:r>
            <a:r>
              <a:rPr lang="es-EC" sz="1800" b="0" i="0" u="none" strike="noStrike" baseline="0" dirty="0">
                <a:solidFill>
                  <a:srgbClr val="000000"/>
                </a:solidFill>
                <a:latin typeface="Georgia" panose="02040502050405020303" pitchFamily="18" charset="0"/>
              </a:rPr>
              <a:t>restricciones necesarias.</a:t>
            </a:r>
          </a:p>
          <a:p>
            <a:pPr marL="0" indent="0" algn="just">
              <a:buNone/>
            </a:pPr>
            <a:r>
              <a:rPr lang="es-ES" sz="1800" b="0" i="0" u="none" strike="noStrike" baseline="0" dirty="0">
                <a:latin typeface="Georgia" panose="02040502050405020303" pitchFamily="18" charset="0"/>
              </a:rPr>
              <a:t>Los casos de abuso describen lo que el </a:t>
            </a:r>
            <a:r>
              <a:rPr lang="es-ES" sz="1800" b="0" i="1" u="none" strike="noStrike" baseline="0" dirty="0">
                <a:latin typeface="Georgia" panose="02040502050405020303" pitchFamily="18" charset="0"/>
              </a:rPr>
              <a:t>software </a:t>
            </a:r>
            <a:r>
              <a:rPr lang="es-ES" sz="1800" b="0" i="0" u="none" strike="noStrike" baseline="0" dirty="0">
                <a:latin typeface="Georgia" panose="02040502050405020303" pitchFamily="18" charset="0"/>
              </a:rPr>
              <a:t>no debe hacer en respuesta al </a:t>
            </a:r>
            <a:r>
              <a:rPr lang="es-ES" sz="1800" b="1" i="0" u="none" strike="noStrike" baseline="0" dirty="0">
                <a:latin typeface="Georgia" panose="02040502050405020303" pitchFamily="18" charset="0"/>
              </a:rPr>
              <a:t>uso incorrecto o malintencionado </a:t>
            </a:r>
            <a:r>
              <a:rPr lang="es-ES" sz="1800" b="0" i="0" u="none" strike="noStrike" baseline="0" dirty="0">
                <a:latin typeface="Georgia" panose="02040502050405020303" pitchFamily="18" charset="0"/>
              </a:rPr>
              <a:t>del mismo por un agente malicioso. Para cada caso de uso funcional, el desarrollador debería explorar las formas en que esa función podría </a:t>
            </a:r>
            <a:r>
              <a:rPr lang="es-EC" sz="1800" b="0" i="0" u="none" strike="noStrike" baseline="0" dirty="0">
                <a:latin typeface="Georgia" panose="02040502050405020303" pitchFamily="18" charset="0"/>
              </a:rPr>
              <a:t>ser deliberadamente mal utilizada.</a:t>
            </a:r>
            <a:endParaRPr lang="es-EC" dirty="0"/>
          </a:p>
        </p:txBody>
      </p:sp>
    </p:spTree>
    <p:extLst>
      <p:ext uri="{BB962C8B-B14F-4D97-AF65-F5344CB8AC3E}">
        <p14:creationId xmlns:p14="http://schemas.microsoft.com/office/powerpoint/2010/main" val="2932508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94C1E2-5DD4-4D7E-A974-A5E046A586F4}"/>
              </a:ext>
            </a:extLst>
          </p:cNvPr>
          <p:cNvSpPr>
            <a:spLocks noGrp="1"/>
          </p:cNvSpPr>
          <p:nvPr>
            <p:ph type="title"/>
          </p:nvPr>
        </p:nvSpPr>
        <p:spPr/>
        <p:txBody>
          <a:bodyPr/>
          <a:lstStyle/>
          <a:p>
            <a:r>
              <a:rPr lang="es-EC" sz="4400" dirty="0"/>
              <a:t>Software Seguro – Modelo McGraw </a:t>
            </a:r>
            <a:br>
              <a:rPr lang="es-EC" sz="4400" dirty="0"/>
            </a:br>
            <a:r>
              <a:rPr lang="es-EC" sz="3600" dirty="0"/>
              <a:t>Mejores Prácticas</a:t>
            </a:r>
            <a:endParaRPr lang="es-EC" dirty="0"/>
          </a:p>
        </p:txBody>
      </p:sp>
      <p:sp>
        <p:nvSpPr>
          <p:cNvPr id="3" name="Marcador de contenido 2">
            <a:extLst>
              <a:ext uri="{FF2B5EF4-FFF2-40B4-BE49-F238E27FC236}">
                <a16:creationId xmlns:a16="http://schemas.microsoft.com/office/drawing/2014/main" id="{CCA52A2D-3692-4D7B-BA87-E3EAFAF13354}"/>
              </a:ext>
            </a:extLst>
          </p:cNvPr>
          <p:cNvSpPr>
            <a:spLocks noGrp="1"/>
          </p:cNvSpPr>
          <p:nvPr>
            <p:ph idx="1"/>
          </p:nvPr>
        </p:nvSpPr>
        <p:spPr/>
        <p:txBody>
          <a:bodyPr>
            <a:normAutofit fontScale="92500" lnSpcReduction="10000"/>
          </a:bodyPr>
          <a:lstStyle/>
          <a:p>
            <a:pPr marL="0" indent="0">
              <a:buNone/>
            </a:pPr>
            <a:r>
              <a:rPr lang="es-ES" sz="1800" b="1" dirty="0">
                <a:solidFill>
                  <a:srgbClr val="FF0000"/>
                </a:solidFill>
                <a:latin typeface="Georgia" panose="02040502050405020303" pitchFamily="18" charset="0"/>
              </a:rPr>
              <a:t>2</a:t>
            </a:r>
            <a:r>
              <a:rPr lang="es-ES" sz="1800" b="1" i="0" u="none" strike="noStrike" baseline="0" dirty="0">
                <a:solidFill>
                  <a:srgbClr val="FF0000"/>
                </a:solidFill>
                <a:latin typeface="Georgia" panose="02040502050405020303" pitchFamily="18" charset="0"/>
              </a:rPr>
              <a:t>.Ingeniería de requisitos de seguridad</a:t>
            </a:r>
          </a:p>
          <a:p>
            <a:pPr marL="0" indent="0" algn="l">
              <a:buNone/>
            </a:pPr>
            <a:r>
              <a:rPr lang="es-ES" sz="1800" b="0" i="0" u="none" strike="noStrike" baseline="0" dirty="0">
                <a:latin typeface="Georgia" panose="02040502050405020303" pitchFamily="18" charset="0"/>
              </a:rPr>
              <a:t>Gran parte de la mayoría de las vulnerabilidades y debilidades del </a:t>
            </a:r>
            <a:r>
              <a:rPr lang="es-ES" sz="1800" b="0" i="1" u="none" strike="noStrike" baseline="0" dirty="0">
                <a:latin typeface="Georgia" panose="02040502050405020303" pitchFamily="18" charset="0"/>
              </a:rPr>
              <a:t>software </a:t>
            </a:r>
            <a:r>
              <a:rPr lang="es-ES" sz="1800" b="0" i="0" u="none" strike="noStrike" baseline="0" dirty="0">
                <a:latin typeface="Georgia" panose="02040502050405020303" pitchFamily="18" charset="0"/>
              </a:rPr>
              <a:t>tienen su </a:t>
            </a:r>
            <a:r>
              <a:rPr lang="es-ES" sz="1800" b="1" i="0" u="none" strike="noStrike" baseline="0" dirty="0">
                <a:latin typeface="Georgia" panose="02040502050405020303" pitchFamily="18" charset="0"/>
              </a:rPr>
              <a:t>origen en unos requisitos inadecuados, inexactos e incompletos</a:t>
            </a:r>
            <a:r>
              <a:rPr lang="es-ES" sz="1800" b="0" i="0" u="none" strike="noStrike" baseline="0" dirty="0">
                <a:latin typeface="Georgia" panose="02040502050405020303" pitchFamily="18" charset="0"/>
              </a:rPr>
              <a:t>, principalmente debido a la falta o debilidad de la especificación de los mismos que no determinan las funciones, restricciones y propiedades no funcionales del </a:t>
            </a:r>
            <a:r>
              <a:rPr lang="es-ES" sz="1800" b="0" i="1" u="none" strike="noStrike" baseline="0" dirty="0">
                <a:latin typeface="Georgia" panose="02040502050405020303" pitchFamily="18" charset="0"/>
              </a:rPr>
              <a:t>software </a:t>
            </a:r>
            <a:r>
              <a:rPr lang="es-ES" sz="1800" b="0" i="0" u="none" strike="noStrike" baseline="0" dirty="0">
                <a:latin typeface="Georgia" panose="02040502050405020303" pitchFamily="18" charset="0"/>
              </a:rPr>
              <a:t>que hacen que este sea previsible, confiable y resistente</a:t>
            </a:r>
          </a:p>
          <a:p>
            <a:pPr marL="0" indent="0" algn="l">
              <a:buNone/>
            </a:pPr>
            <a:endParaRPr lang="es-ES" sz="1800" dirty="0">
              <a:latin typeface="Georgia" panose="02040502050405020303" pitchFamily="18" charset="0"/>
            </a:endParaRPr>
          </a:p>
          <a:p>
            <a:pPr marL="0" indent="0" algn="l">
              <a:buNone/>
            </a:pPr>
            <a:r>
              <a:rPr lang="es-ES" sz="1800" b="0" i="0" u="none" strike="noStrike" baseline="0" dirty="0">
                <a:latin typeface="Georgia" panose="02040502050405020303" pitchFamily="18" charset="0"/>
              </a:rPr>
              <a:t>Los </a:t>
            </a:r>
            <a:r>
              <a:rPr lang="es-ES" sz="1800" b="1" i="0" u="none" strike="noStrike" baseline="0" dirty="0">
                <a:latin typeface="Georgia" panose="02040502050405020303" pitchFamily="18" charset="0"/>
              </a:rPr>
              <a:t>requisitos de las funcionalidades o servicios de seguridad del sistema o el </a:t>
            </a:r>
            <a:r>
              <a:rPr lang="es-ES" sz="1800" b="1" i="1" u="none" strike="noStrike" baseline="0" dirty="0">
                <a:latin typeface="Georgia" panose="02040502050405020303" pitchFamily="18" charset="0"/>
              </a:rPr>
              <a:t>software </a:t>
            </a:r>
            <a:r>
              <a:rPr lang="es-ES" sz="1800" b="1" i="0" u="none" strike="noStrike" baseline="0" dirty="0">
                <a:latin typeface="Georgia" panose="02040502050405020303" pitchFamily="18" charset="0"/>
              </a:rPr>
              <a:t>a menudo se confunden con los requisitos de </a:t>
            </a:r>
            <a:r>
              <a:rPr lang="es-ES" sz="1800" b="1" i="1" u="none" strike="noStrike" baseline="0" dirty="0">
                <a:latin typeface="Georgia" panose="02040502050405020303" pitchFamily="18" charset="0"/>
              </a:rPr>
              <a:t>software </a:t>
            </a:r>
            <a:r>
              <a:rPr lang="es-ES" sz="1800" b="1" i="0" u="none" strike="noStrike" baseline="0" dirty="0">
                <a:latin typeface="Georgia" panose="02040502050405020303" pitchFamily="18" charset="0"/>
              </a:rPr>
              <a:t>seguro</a:t>
            </a:r>
            <a:r>
              <a:rPr lang="es-ES" sz="1800" b="0" i="0" u="none" strike="noStrike" baseline="0" dirty="0">
                <a:latin typeface="Georgia" panose="02040502050405020303" pitchFamily="18" charset="0"/>
              </a:rPr>
              <a:t>:</a:t>
            </a:r>
          </a:p>
          <a:p>
            <a:r>
              <a:rPr lang="es-ES" sz="1800" b="1" i="0" u="none" strike="noStrike" baseline="0" dirty="0">
                <a:latin typeface="Georgia" panose="02040502050405020303" pitchFamily="18" charset="0"/>
              </a:rPr>
              <a:t>Requisitos servicios de seguridad</a:t>
            </a:r>
            <a:r>
              <a:rPr lang="es-ES" sz="1800" b="0" i="0" u="none" strike="noStrike" baseline="0" dirty="0">
                <a:latin typeface="Georgia" panose="02040502050405020303" pitchFamily="18" charset="0"/>
              </a:rPr>
              <a:t>. Incluye la especificación de funciones que implementan una política de seguridad, como control de acceso, autenticación, autorización, cifrado y gestión de claves. Estas funciones previenen la violación de las propiedades de seguridad del sistema o de la información que procesa, como el acceso no autorizado, modificación, denegación de servicio, etc.</a:t>
            </a:r>
          </a:p>
          <a:p>
            <a:r>
              <a:rPr lang="es-EC" sz="1800" b="1" i="0" u="none" strike="noStrike" baseline="0" dirty="0">
                <a:latin typeface="Georgia" panose="02040502050405020303" pitchFamily="18" charset="0"/>
              </a:rPr>
              <a:t>Requisitos de </a:t>
            </a:r>
            <a:r>
              <a:rPr lang="es-EC" sz="1800" b="1" i="1" u="none" strike="noStrike" baseline="0" dirty="0">
                <a:latin typeface="Georgia" panose="02040502050405020303" pitchFamily="18" charset="0"/>
              </a:rPr>
              <a:t>software </a:t>
            </a:r>
            <a:r>
              <a:rPr lang="es-EC" sz="1800" b="1" i="0" u="none" strike="noStrike" baseline="0" dirty="0">
                <a:latin typeface="Georgia" panose="02040502050405020303" pitchFamily="18" charset="0"/>
              </a:rPr>
              <a:t>seguro</a:t>
            </a:r>
            <a:r>
              <a:rPr lang="es-EC" sz="1800" b="0" i="0" u="none" strike="noStrike" baseline="0" dirty="0">
                <a:latin typeface="Georgia" panose="02040502050405020303" pitchFamily="18" charset="0"/>
              </a:rPr>
              <a:t>. Requisitos que afectan directamente a la </a:t>
            </a:r>
            <a:r>
              <a:rPr lang="es-ES" sz="1800" b="1" i="0" u="none" strike="noStrike" baseline="0" dirty="0">
                <a:latin typeface="Georgia" panose="02040502050405020303" pitchFamily="18" charset="0"/>
              </a:rPr>
              <a:t>probabilidad de que el </a:t>
            </a:r>
            <a:r>
              <a:rPr lang="es-ES" sz="1800" b="1" i="1" u="none" strike="noStrike" baseline="0" dirty="0">
                <a:latin typeface="Georgia" panose="02040502050405020303" pitchFamily="18" charset="0"/>
              </a:rPr>
              <a:t>software </a:t>
            </a:r>
            <a:r>
              <a:rPr lang="es-ES" sz="1800" b="1" i="0" u="none" strike="noStrike" baseline="0" dirty="0">
                <a:latin typeface="Georgia" panose="02040502050405020303" pitchFamily="18" charset="0"/>
              </a:rPr>
              <a:t>sea seguro</a:t>
            </a:r>
            <a:r>
              <a:rPr lang="es-ES" sz="1800" b="0" i="0" u="none" strike="noStrike" baseline="0" dirty="0">
                <a:latin typeface="Georgia" panose="02040502050405020303" pitchFamily="18" charset="0"/>
              </a:rPr>
              <a:t>. Estos abarcan principalmente los no funcionales, los que garanticen que el sistema seguirá siendo confiable, incluso cuando esa confianza se vea amenazada. Estos requisitos se dirigen hacia la reducción o eliminación de las vulnerabilidades del </a:t>
            </a:r>
            <a:r>
              <a:rPr lang="es-ES" sz="1800" b="0" i="1" u="none" strike="noStrike" baseline="0" dirty="0">
                <a:latin typeface="Georgia" panose="02040502050405020303" pitchFamily="18" charset="0"/>
              </a:rPr>
              <a:t>software</a:t>
            </a:r>
            <a:r>
              <a:rPr lang="es-ES" sz="1800" b="0" i="0" u="none" strike="noStrike" baseline="0" dirty="0">
                <a:latin typeface="Georgia" panose="02040502050405020303" pitchFamily="18" charset="0"/>
              </a:rPr>
              <a:t>, como validación de entradas, manejo de excepciones, ejecución entornos aislados etc.</a:t>
            </a:r>
            <a:endParaRPr lang="es-EC" dirty="0"/>
          </a:p>
        </p:txBody>
      </p:sp>
    </p:spTree>
    <p:extLst>
      <p:ext uri="{BB962C8B-B14F-4D97-AF65-F5344CB8AC3E}">
        <p14:creationId xmlns:p14="http://schemas.microsoft.com/office/powerpoint/2010/main" val="2807496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2A583-1A52-46A8-9CC4-E53A20CB74C2}"/>
              </a:ext>
            </a:extLst>
          </p:cNvPr>
          <p:cNvSpPr>
            <a:spLocks noGrp="1"/>
          </p:cNvSpPr>
          <p:nvPr>
            <p:ph type="title"/>
          </p:nvPr>
        </p:nvSpPr>
        <p:spPr/>
        <p:txBody>
          <a:bodyPr/>
          <a:lstStyle/>
          <a:p>
            <a:r>
              <a:rPr lang="es-EC" sz="4400" dirty="0"/>
              <a:t>Software Seguro – Modelo McGraw </a:t>
            </a:r>
            <a:br>
              <a:rPr lang="es-EC" sz="4400" dirty="0"/>
            </a:br>
            <a:r>
              <a:rPr lang="es-EC" sz="3600" dirty="0"/>
              <a:t>Mejores Prácticas</a:t>
            </a:r>
            <a:endParaRPr lang="es-EC" dirty="0"/>
          </a:p>
        </p:txBody>
      </p:sp>
      <p:sp>
        <p:nvSpPr>
          <p:cNvPr id="3" name="Marcador de contenido 2">
            <a:extLst>
              <a:ext uri="{FF2B5EF4-FFF2-40B4-BE49-F238E27FC236}">
                <a16:creationId xmlns:a16="http://schemas.microsoft.com/office/drawing/2014/main" id="{70374CB0-70E6-4DFF-9A46-B313BD4C17EA}"/>
              </a:ext>
            </a:extLst>
          </p:cNvPr>
          <p:cNvSpPr>
            <a:spLocks noGrp="1"/>
          </p:cNvSpPr>
          <p:nvPr>
            <p:ph idx="1"/>
          </p:nvPr>
        </p:nvSpPr>
        <p:spPr/>
        <p:txBody>
          <a:bodyPr/>
          <a:lstStyle/>
          <a:p>
            <a:pPr marL="0" indent="0">
              <a:buNone/>
            </a:pPr>
            <a:r>
              <a:rPr lang="es-EC" sz="1800" b="1" dirty="0">
                <a:solidFill>
                  <a:srgbClr val="FF0000"/>
                </a:solidFill>
                <a:latin typeface="Georgia" panose="02040502050405020303" pitchFamily="18" charset="0"/>
              </a:rPr>
              <a:t>3</a:t>
            </a:r>
            <a:r>
              <a:rPr lang="es-EC" sz="1800" b="1" i="0" u="none" strike="noStrike" baseline="0" dirty="0">
                <a:solidFill>
                  <a:srgbClr val="FF0000"/>
                </a:solidFill>
                <a:latin typeface="Georgia" panose="02040502050405020303" pitchFamily="18" charset="0"/>
              </a:rPr>
              <a:t>.Análisis de riesgo. Arquitectónico</a:t>
            </a:r>
            <a:endParaRPr lang="es-EC" b="1" dirty="0">
              <a:solidFill>
                <a:srgbClr val="FF0000"/>
              </a:solidFill>
            </a:endParaRPr>
          </a:p>
          <a:p>
            <a:pPr algn="l"/>
            <a:r>
              <a:rPr lang="es-ES" sz="1800" b="0" i="0" u="none" strike="noStrike" baseline="0" dirty="0">
                <a:latin typeface="Georgia" panose="02040502050405020303" pitchFamily="18" charset="0"/>
              </a:rPr>
              <a:t>En la </a:t>
            </a:r>
            <a:r>
              <a:rPr lang="es-ES" sz="1800" b="1" i="0" u="none" strike="noStrike" baseline="0" dirty="0">
                <a:latin typeface="Georgia" panose="02040502050405020303" pitchFamily="18" charset="0"/>
              </a:rPr>
              <a:t>fase de diseño del sistema se debe de realizar el análisis de riesgos de seguridad con el objetivo de identificar los riesgos del mismo </a:t>
            </a:r>
            <a:r>
              <a:rPr lang="es-ES" sz="1800" b="0" i="0" u="none" strike="noStrike" baseline="0" dirty="0">
                <a:latin typeface="Georgia" panose="02040502050405020303" pitchFamily="18" charset="0"/>
              </a:rPr>
              <a:t>y clasificarlos en orden de importancia. Después se gestiona y se intenta mitigar el riesgo aplicando </a:t>
            </a:r>
            <a:r>
              <a:rPr lang="es-EC" sz="1800" b="0" i="0" u="none" strike="noStrike" baseline="0" dirty="0">
                <a:latin typeface="Georgia" panose="02040502050405020303" pitchFamily="18" charset="0"/>
              </a:rPr>
              <a:t>las salvaguardas más adecuadas</a:t>
            </a:r>
          </a:p>
          <a:p>
            <a:pPr algn="l"/>
            <a:r>
              <a:rPr lang="es-EC" sz="1800" b="1" dirty="0">
                <a:latin typeface="Georgia" panose="02040502050405020303" pitchFamily="18" charset="0"/>
              </a:rPr>
              <a:t>El </a:t>
            </a:r>
            <a:r>
              <a:rPr lang="es-EC" sz="1800" b="1" i="0" u="none" strike="noStrike" baseline="0" dirty="0">
                <a:latin typeface="Georgia" panose="02040502050405020303" pitchFamily="18" charset="0"/>
              </a:rPr>
              <a:t>proceso de análisis de </a:t>
            </a:r>
            <a:r>
              <a:rPr lang="es-ES" sz="1800" b="1" i="0" u="none" strike="noStrike" baseline="0" dirty="0">
                <a:latin typeface="Georgia" panose="02040502050405020303" pitchFamily="18" charset="0"/>
              </a:rPr>
              <a:t>riesgo arquitectónico, </a:t>
            </a:r>
            <a:r>
              <a:rPr lang="es-ES" sz="1800" b="0" i="0" u="none" strike="noStrike" baseline="0" dirty="0">
                <a:latin typeface="Georgia" panose="02040502050405020303" pitchFamily="18" charset="0"/>
              </a:rPr>
              <a:t>supone un gran conocimiento y desarrolla un acercamiento a un análisis de riesgo implica tres pasos básicos:</a:t>
            </a:r>
          </a:p>
          <a:p>
            <a:pPr lvl="1"/>
            <a:r>
              <a:rPr lang="es-ES" sz="1600" b="1" i="0" u="none" strike="noStrike" baseline="0" dirty="0">
                <a:latin typeface="Georgia" panose="02040502050405020303" pitchFamily="18" charset="0"/>
              </a:rPr>
              <a:t>Análisis de resistencia al ataque</a:t>
            </a:r>
            <a:r>
              <a:rPr lang="es-ES" sz="1600" b="0" i="0" u="none" strike="noStrike" baseline="0" dirty="0">
                <a:latin typeface="Georgia" panose="02040502050405020303" pitchFamily="18" charset="0"/>
              </a:rPr>
              <a:t>. Utiliza patrones de ataque y árboles de ataque para analizar la resistencia al ataque</a:t>
            </a:r>
            <a:r>
              <a:rPr lang="es-ES" sz="1400" b="0" i="0" u="none" strike="noStrike" baseline="0" dirty="0">
                <a:latin typeface="Georgia" panose="02040502050405020303" pitchFamily="18" charset="0"/>
              </a:rPr>
              <a:t>,</a:t>
            </a:r>
          </a:p>
          <a:p>
            <a:pPr lvl="1"/>
            <a:r>
              <a:rPr lang="es-ES" sz="1600" b="1" i="0" u="none" strike="noStrike" baseline="0" dirty="0">
                <a:latin typeface="Georgia" panose="02040502050405020303" pitchFamily="18" charset="0"/>
              </a:rPr>
              <a:t>Análisis de ambigüedad</a:t>
            </a:r>
            <a:r>
              <a:rPr lang="es-ES" sz="1600" b="0" i="0" u="none" strike="noStrike" baseline="0" dirty="0">
                <a:latin typeface="Georgia" panose="02040502050405020303" pitchFamily="18" charset="0"/>
              </a:rPr>
              <a:t>. Es un subproceso que pretende descubrir nuevos riesgos en base al conocimiento de principios de diseño. Aprovecha múltiples </a:t>
            </a:r>
            <a:r>
              <a:rPr lang="es-EC" sz="1600" b="1" i="0" u="none" strike="noStrike" baseline="0" dirty="0">
                <a:latin typeface="Georgia" panose="02040502050405020303" pitchFamily="18" charset="0"/>
              </a:rPr>
              <a:t>puntos de vista de la arquitectura de </a:t>
            </a:r>
            <a:r>
              <a:rPr lang="es-EC" sz="1600" b="1" i="1" u="none" strike="noStrike" baseline="0" dirty="0">
                <a:latin typeface="Georgia" panose="02040502050405020303" pitchFamily="18" charset="0"/>
              </a:rPr>
              <a:t>software</a:t>
            </a:r>
            <a:r>
              <a:rPr lang="es-EC" sz="1600" b="1" i="0" u="none" strike="noStrike" baseline="0" dirty="0">
                <a:latin typeface="Georgia" panose="02040502050405020303" pitchFamily="18" charset="0"/>
              </a:rPr>
              <a:t>, de varios arquitectos, </a:t>
            </a:r>
            <a:r>
              <a:rPr lang="es-ES" sz="1600" b="1" i="0" u="none" strike="noStrike" baseline="0" dirty="0">
                <a:latin typeface="Georgia" panose="02040502050405020303" pitchFamily="18" charset="0"/>
              </a:rPr>
              <a:t>para crear una técnica de análisis crítica para encontrar nuevos defectos, puntos de conflicto y de inconsistencia</a:t>
            </a:r>
            <a:r>
              <a:rPr lang="es-ES" sz="1800" b="0" i="0" u="none" strike="noStrike" baseline="0" dirty="0">
                <a:latin typeface="Georgia" panose="02040502050405020303" pitchFamily="18" charset="0"/>
              </a:rPr>
              <a:t>.</a:t>
            </a:r>
          </a:p>
          <a:p>
            <a:pPr lvl="1"/>
            <a:r>
              <a:rPr lang="es-ES" sz="1600" b="1" i="0" u="none" strike="noStrike" baseline="0" dirty="0">
                <a:latin typeface="Georgia" panose="02040502050405020303" pitchFamily="18" charset="0"/>
              </a:rPr>
              <a:t>Análisis de debilidad</a:t>
            </a:r>
            <a:r>
              <a:rPr lang="es-ES" sz="1600" b="0" i="0" u="none" strike="noStrike" baseline="0" dirty="0">
                <a:latin typeface="Georgia" panose="02040502050405020303" pitchFamily="18" charset="0"/>
              </a:rPr>
              <a:t>. Es un subproceso que ayuda al entendimiento del impacto </a:t>
            </a:r>
            <a:r>
              <a:rPr lang="es-EC" sz="1600" b="0" i="0" u="none" strike="noStrike" baseline="0" dirty="0">
                <a:latin typeface="Georgia" panose="02040502050405020303" pitchFamily="18" charset="0"/>
              </a:rPr>
              <a:t>de dependencias de </a:t>
            </a:r>
            <a:r>
              <a:rPr lang="es-EC" sz="1600" b="0" i="1" u="none" strike="noStrike" baseline="0" dirty="0">
                <a:latin typeface="Georgia" panose="02040502050405020303" pitchFamily="18" charset="0"/>
              </a:rPr>
              <a:t>software </a:t>
            </a:r>
            <a:r>
              <a:rPr lang="es-EC" sz="1600" b="0" i="0" u="none" strike="noStrike" baseline="0" dirty="0">
                <a:latin typeface="Georgia" panose="02040502050405020303" pitchFamily="18" charset="0"/>
              </a:rPr>
              <a:t>externo.</a:t>
            </a:r>
            <a:endParaRPr lang="es-EC" sz="1600" dirty="0"/>
          </a:p>
        </p:txBody>
      </p:sp>
    </p:spTree>
    <p:extLst>
      <p:ext uri="{BB962C8B-B14F-4D97-AF65-F5344CB8AC3E}">
        <p14:creationId xmlns:p14="http://schemas.microsoft.com/office/powerpoint/2010/main" val="2439835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1962B9-BA47-48CD-85F6-34AEC9CCC4A5}"/>
              </a:ext>
            </a:extLst>
          </p:cNvPr>
          <p:cNvSpPr>
            <a:spLocks noGrp="1"/>
          </p:cNvSpPr>
          <p:nvPr>
            <p:ph type="title"/>
          </p:nvPr>
        </p:nvSpPr>
        <p:spPr/>
        <p:txBody>
          <a:bodyPr/>
          <a:lstStyle/>
          <a:p>
            <a:r>
              <a:rPr lang="es-EC" sz="4400" dirty="0"/>
              <a:t>Software Seguro – Modelo McGraw </a:t>
            </a:r>
            <a:br>
              <a:rPr lang="es-EC" sz="4400" dirty="0"/>
            </a:br>
            <a:r>
              <a:rPr lang="es-EC" sz="3600" dirty="0"/>
              <a:t>Mejores Prácticas</a:t>
            </a:r>
            <a:endParaRPr lang="es-EC" dirty="0"/>
          </a:p>
        </p:txBody>
      </p:sp>
      <p:sp>
        <p:nvSpPr>
          <p:cNvPr id="3" name="Marcador de contenido 2">
            <a:extLst>
              <a:ext uri="{FF2B5EF4-FFF2-40B4-BE49-F238E27FC236}">
                <a16:creationId xmlns:a16="http://schemas.microsoft.com/office/drawing/2014/main" id="{243C2F13-9059-44FE-9F89-95B891679030}"/>
              </a:ext>
            </a:extLst>
          </p:cNvPr>
          <p:cNvSpPr>
            <a:spLocks noGrp="1"/>
          </p:cNvSpPr>
          <p:nvPr>
            <p:ph idx="1"/>
          </p:nvPr>
        </p:nvSpPr>
        <p:spPr/>
        <p:txBody>
          <a:bodyPr/>
          <a:lstStyle/>
          <a:p>
            <a:pPr marL="0" indent="0">
              <a:buNone/>
            </a:pPr>
            <a:r>
              <a:rPr lang="es-EC" sz="1800" b="1" i="0" u="none" strike="noStrike" baseline="0" dirty="0">
                <a:solidFill>
                  <a:srgbClr val="FF0000"/>
                </a:solidFill>
                <a:latin typeface="Georgia" panose="02040502050405020303" pitchFamily="18" charset="0"/>
              </a:rPr>
              <a:t>4. </a:t>
            </a:r>
            <a:r>
              <a:rPr lang="es-ES" sz="1800" b="1" i="0" u="none" strike="noStrike" baseline="0" dirty="0">
                <a:solidFill>
                  <a:srgbClr val="FF0000"/>
                </a:solidFill>
                <a:latin typeface="Georgia" panose="02040502050405020303" pitchFamily="18" charset="0"/>
              </a:rPr>
              <a:t>Pruebas de seguridad basadas en riesgo</a:t>
            </a:r>
          </a:p>
          <a:p>
            <a:pPr marL="0" indent="0">
              <a:buNone/>
            </a:pPr>
            <a:endParaRPr lang="es-EC" sz="1800" b="1" i="0" u="none" strike="noStrike" baseline="0" dirty="0">
              <a:solidFill>
                <a:srgbClr val="FF0000"/>
              </a:solidFill>
              <a:latin typeface="Georgia" panose="02040502050405020303" pitchFamily="18" charset="0"/>
            </a:endParaRPr>
          </a:p>
          <a:p>
            <a:pPr marL="0" indent="0">
              <a:buNone/>
            </a:pPr>
            <a:r>
              <a:rPr lang="es-ES" sz="1800" b="0" i="0" u="none" strike="noStrike" baseline="0" dirty="0">
                <a:latin typeface="Georgia" panose="02040502050405020303" pitchFamily="18" charset="0"/>
              </a:rPr>
              <a:t>Identificando los riesgos del sistema y diseñando las pruebas en base a ellos, bajo la perspectiva de un atacante, un </a:t>
            </a:r>
            <a:r>
              <a:rPr lang="es-ES" sz="1800" b="1" i="0" u="none" strike="noStrike" baseline="0" dirty="0">
                <a:latin typeface="Georgia" panose="02040502050405020303" pitchFamily="18" charset="0"/>
              </a:rPr>
              <a:t>probador de seguridad </a:t>
            </a:r>
            <a:r>
              <a:rPr lang="es-ES" sz="1800" b="0" i="0" u="none" strike="noStrike" baseline="0" dirty="0">
                <a:latin typeface="Georgia" panose="02040502050405020303" pitchFamily="18" charset="0"/>
              </a:rPr>
              <a:t>de </a:t>
            </a:r>
            <a:r>
              <a:rPr lang="es-ES" sz="1800" b="0" i="1" u="none" strike="noStrike" baseline="0" dirty="0">
                <a:latin typeface="Georgia" panose="02040502050405020303" pitchFamily="18" charset="0"/>
              </a:rPr>
              <a:t>software </a:t>
            </a:r>
            <a:r>
              <a:rPr lang="es-ES" sz="1800" b="0" i="0" u="none" strike="noStrike" baseline="0" dirty="0">
                <a:latin typeface="Georgia" panose="02040502050405020303" pitchFamily="18" charset="0"/>
              </a:rPr>
              <a:t>puede enfocar correctamente las áreas de código donde un </a:t>
            </a:r>
            <a:r>
              <a:rPr lang="es-ES" sz="1800" dirty="0">
                <a:latin typeface="Georgia" panose="02040502050405020303" pitchFamily="18" charset="0"/>
              </a:rPr>
              <a:t>ataque probablemente pudiera tener éxito.</a:t>
            </a:r>
            <a:endParaRPr lang="es-ES" sz="1800" b="0" i="0" u="none" strike="noStrike" baseline="0" dirty="0">
              <a:latin typeface="Georgia" panose="02040502050405020303" pitchFamily="18" charset="0"/>
            </a:endParaRPr>
          </a:p>
          <a:p>
            <a:pPr marL="0" indent="0" algn="l">
              <a:buNone/>
            </a:pPr>
            <a:r>
              <a:rPr lang="es-ES" sz="1800" b="0" i="0" u="none" strike="noStrike" baseline="0" dirty="0">
                <a:latin typeface="Georgia" panose="02040502050405020303" pitchFamily="18" charset="0"/>
              </a:rPr>
              <a:t>Las pruebas de seguridad necesariamente deben implicar dos tipos de aproximaciones:</a:t>
            </a:r>
          </a:p>
          <a:p>
            <a:r>
              <a:rPr lang="es-ES" sz="1800" b="1" i="0" u="none" strike="noStrike" baseline="0" dirty="0">
                <a:latin typeface="Georgia" panose="02040502050405020303" pitchFamily="18" charset="0"/>
              </a:rPr>
              <a:t>Pruebas de seguridad funcionales</a:t>
            </a:r>
            <a:r>
              <a:rPr lang="es-ES" sz="1800" b="0" i="0" u="none" strike="noStrike" baseline="0" dirty="0">
                <a:latin typeface="Georgia" panose="02040502050405020303" pitchFamily="18" charset="0"/>
              </a:rPr>
              <a:t>: pruebas de los mecanismos de seguridad para asegurar que su funcionalidad está correctamente implementada.</a:t>
            </a:r>
          </a:p>
          <a:p>
            <a:r>
              <a:rPr lang="es-ES" sz="1800" b="1" i="0" u="none" strike="noStrike" baseline="0" dirty="0">
                <a:latin typeface="Georgia" panose="02040502050405020303" pitchFamily="18" charset="0"/>
              </a:rPr>
              <a:t>Pruebas de seguridad perspectiva atacante</a:t>
            </a:r>
            <a:r>
              <a:rPr lang="es-ES" sz="1800" b="0" i="0" u="none" strike="noStrike" baseline="0" dirty="0">
                <a:latin typeface="Georgia" panose="02040502050405020303" pitchFamily="18" charset="0"/>
              </a:rPr>
              <a:t>: realización de </a:t>
            </a:r>
            <a:r>
              <a:rPr lang="es-ES" sz="1800" b="1" i="0" u="none" strike="noStrike" baseline="0" dirty="0">
                <a:latin typeface="Georgia" panose="02040502050405020303" pitchFamily="18" charset="0"/>
              </a:rPr>
              <a:t>pruebas de seguridad en base al riesgo </a:t>
            </a:r>
            <a:r>
              <a:rPr lang="es-ES" sz="1800" b="0" i="0" u="none" strike="noStrike" baseline="0" dirty="0">
                <a:latin typeface="Georgia" panose="02040502050405020303" pitchFamily="18" charset="0"/>
              </a:rPr>
              <a:t>motivadas por el entendimiento del estado del riesgo  y por tanto del nivel de seguridad del sistema. Tratan de simular la actuación de un </a:t>
            </a:r>
            <a:r>
              <a:rPr lang="es-EC" sz="1800" b="0" i="0" u="none" strike="noStrike" baseline="0" dirty="0">
                <a:latin typeface="Georgia" panose="02040502050405020303" pitchFamily="18" charset="0"/>
              </a:rPr>
              <a:t>posible atacante.</a:t>
            </a:r>
            <a:endParaRPr lang="es-EC" b="1" dirty="0">
              <a:solidFill>
                <a:srgbClr val="FF0000"/>
              </a:solidFill>
            </a:endParaRPr>
          </a:p>
        </p:txBody>
      </p:sp>
    </p:spTree>
    <p:extLst>
      <p:ext uri="{BB962C8B-B14F-4D97-AF65-F5344CB8AC3E}">
        <p14:creationId xmlns:p14="http://schemas.microsoft.com/office/powerpoint/2010/main" val="1060299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1962B9-BA47-48CD-85F6-34AEC9CCC4A5}"/>
              </a:ext>
            </a:extLst>
          </p:cNvPr>
          <p:cNvSpPr>
            <a:spLocks noGrp="1"/>
          </p:cNvSpPr>
          <p:nvPr>
            <p:ph type="title"/>
          </p:nvPr>
        </p:nvSpPr>
        <p:spPr/>
        <p:txBody>
          <a:bodyPr/>
          <a:lstStyle/>
          <a:p>
            <a:r>
              <a:rPr lang="es-EC" sz="4400" dirty="0"/>
              <a:t>Software Seguro – Modelo McGraw </a:t>
            </a:r>
            <a:br>
              <a:rPr lang="es-EC" sz="4400" dirty="0"/>
            </a:br>
            <a:r>
              <a:rPr lang="es-EC" sz="3600" dirty="0"/>
              <a:t>Mejores Prácticas</a:t>
            </a:r>
            <a:endParaRPr lang="es-EC" dirty="0"/>
          </a:p>
        </p:txBody>
      </p:sp>
      <p:sp>
        <p:nvSpPr>
          <p:cNvPr id="3" name="Marcador de contenido 2">
            <a:extLst>
              <a:ext uri="{FF2B5EF4-FFF2-40B4-BE49-F238E27FC236}">
                <a16:creationId xmlns:a16="http://schemas.microsoft.com/office/drawing/2014/main" id="{243C2F13-9059-44FE-9F89-95B891679030}"/>
              </a:ext>
            </a:extLst>
          </p:cNvPr>
          <p:cNvSpPr>
            <a:spLocks noGrp="1"/>
          </p:cNvSpPr>
          <p:nvPr>
            <p:ph idx="1"/>
          </p:nvPr>
        </p:nvSpPr>
        <p:spPr/>
        <p:txBody>
          <a:bodyPr>
            <a:normAutofit/>
          </a:bodyPr>
          <a:lstStyle/>
          <a:p>
            <a:pPr marL="0" indent="0">
              <a:buNone/>
            </a:pPr>
            <a:r>
              <a:rPr lang="es-EC" sz="1800" b="1" dirty="0">
                <a:solidFill>
                  <a:srgbClr val="FF0000"/>
                </a:solidFill>
                <a:latin typeface="Georgia" panose="02040502050405020303" pitchFamily="18" charset="0"/>
              </a:rPr>
              <a:t>5</a:t>
            </a:r>
            <a:r>
              <a:rPr lang="es-EC" sz="1800" b="1" i="0" u="none" strike="noStrike" baseline="0" dirty="0">
                <a:solidFill>
                  <a:srgbClr val="FF0000"/>
                </a:solidFill>
                <a:latin typeface="Georgia" panose="02040502050405020303" pitchFamily="18" charset="0"/>
              </a:rPr>
              <a:t>. Revisión de código</a:t>
            </a:r>
          </a:p>
          <a:p>
            <a:pPr algn="l"/>
            <a:r>
              <a:rPr lang="es-ES" sz="1800" b="0" i="0" u="none" strike="noStrike" baseline="0" dirty="0">
                <a:latin typeface="Georgia" panose="02040502050405020303" pitchFamily="18" charset="0"/>
              </a:rPr>
              <a:t>El análisis estático de código fuente se considera </a:t>
            </a:r>
            <a:r>
              <a:rPr lang="es-ES" sz="1800" b="1" i="0" u="none" strike="noStrike" baseline="0" dirty="0">
                <a:latin typeface="Georgia" panose="02040502050405020303" pitchFamily="18" charset="0"/>
              </a:rPr>
              <a:t>la actividad más importante de entre las mejores prácticas de seguridad </a:t>
            </a:r>
            <a:r>
              <a:rPr lang="es-ES" sz="1800" b="0" i="0" u="none" strike="noStrike" baseline="0" dirty="0">
                <a:latin typeface="Georgia" panose="02040502050405020303" pitchFamily="18" charset="0"/>
              </a:rPr>
              <a:t>que se han de realizar en el curso del </a:t>
            </a:r>
            <a:r>
              <a:rPr lang="es-EC" sz="1800" b="0" i="0" u="none" strike="noStrike" baseline="0" dirty="0">
                <a:latin typeface="Georgia" panose="02040502050405020303" pitchFamily="18" charset="0"/>
              </a:rPr>
              <a:t>desarrollo de una aplicación.</a:t>
            </a:r>
          </a:p>
          <a:p>
            <a:pPr algn="l"/>
            <a:r>
              <a:rPr lang="es-ES" sz="1800" b="0" i="0" u="none" strike="noStrike" baseline="0" dirty="0">
                <a:latin typeface="Georgia" panose="02040502050405020303" pitchFamily="18" charset="0"/>
              </a:rPr>
              <a:t>El </a:t>
            </a:r>
            <a:r>
              <a:rPr lang="es-ES" sz="1800" b="1" i="0" u="none" strike="noStrike" baseline="0" dirty="0">
                <a:latin typeface="Georgia" panose="02040502050405020303" pitchFamily="18" charset="0"/>
              </a:rPr>
              <a:t>análisis estático de código fuente </a:t>
            </a:r>
            <a:r>
              <a:rPr lang="es-ES" sz="1800" b="0" i="0" u="none" strike="noStrike" baseline="0" dirty="0">
                <a:latin typeface="Georgia" panose="02040502050405020303" pitchFamily="18" charset="0"/>
              </a:rPr>
              <a:t>es adecuado para identificar problemas de </a:t>
            </a:r>
            <a:r>
              <a:rPr lang="es-EC" sz="1800" b="0" i="0" u="none" strike="noStrike" baseline="0" dirty="0">
                <a:latin typeface="Georgia" panose="02040502050405020303" pitchFamily="18" charset="0"/>
              </a:rPr>
              <a:t>seguridad por ciertas razones:</a:t>
            </a:r>
          </a:p>
          <a:p>
            <a:pPr lvl="1"/>
            <a:r>
              <a:rPr lang="es-ES" sz="1600" b="0" i="0" u="none" strike="noStrike" baseline="0" dirty="0">
                <a:latin typeface="Georgia" panose="02040502050405020303" pitchFamily="18" charset="0"/>
              </a:rPr>
              <a:t>Las herramientas de análisis estático comprueban el código a fondo y </a:t>
            </a:r>
            <a:r>
              <a:rPr lang="es-EC" sz="1600" b="0" i="0" u="none" strike="noStrike" baseline="0" dirty="0">
                <a:latin typeface="Georgia" panose="02040502050405020303" pitchFamily="18" charset="0"/>
              </a:rPr>
              <a:t>coherentemente, sin ninguna tendencia.</a:t>
            </a:r>
          </a:p>
          <a:p>
            <a:pPr lvl="1"/>
            <a:r>
              <a:rPr lang="es-ES" sz="1600" b="0" i="0" u="none" strike="noStrike" baseline="0" dirty="0">
                <a:latin typeface="Georgia" panose="02040502050405020303" pitchFamily="18" charset="0"/>
              </a:rPr>
              <a:t>A menudo pueden indicar la causa de origen de un problema de seguridad.</a:t>
            </a:r>
          </a:p>
          <a:p>
            <a:pPr lvl="1"/>
            <a:r>
              <a:rPr lang="es-ES" sz="1600" b="0" i="0" u="none" strike="noStrike" baseline="0" dirty="0">
                <a:latin typeface="Georgia" panose="02040502050405020303" pitchFamily="18" charset="0"/>
              </a:rPr>
              <a:t>El análisis estático puede encontrar errores tempranamente en el desarrollo, aún antes de que el programa sea ejecutado por primera vez.</a:t>
            </a:r>
          </a:p>
          <a:p>
            <a:pPr lvl="1"/>
            <a:r>
              <a:rPr lang="es-ES" sz="1600" b="0" i="0" u="none" strike="noStrike" baseline="0" dirty="0">
                <a:latin typeface="Georgia" panose="02040502050405020303" pitchFamily="18" charset="0"/>
              </a:rPr>
              <a:t>Cuando un investigador de seguridad descubre una nueva variedad de ataque, las herramientas de análisis estático, ayudan a comprobar de nuevo una gran cantidad de código para ver donde el nuevo ataque podría tener éxito.</a:t>
            </a:r>
            <a:endParaRPr lang="es-EC" sz="1600" b="1" i="0" u="none" strike="noStrike" baseline="0" dirty="0">
              <a:solidFill>
                <a:srgbClr val="FF0000"/>
              </a:solidFill>
              <a:latin typeface="Georgia" panose="02040502050405020303" pitchFamily="18" charset="0"/>
            </a:endParaRPr>
          </a:p>
        </p:txBody>
      </p:sp>
    </p:spTree>
    <p:extLst>
      <p:ext uri="{BB962C8B-B14F-4D97-AF65-F5344CB8AC3E}">
        <p14:creationId xmlns:p14="http://schemas.microsoft.com/office/powerpoint/2010/main" val="1796933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1962B9-BA47-48CD-85F6-34AEC9CCC4A5}"/>
              </a:ext>
            </a:extLst>
          </p:cNvPr>
          <p:cNvSpPr>
            <a:spLocks noGrp="1"/>
          </p:cNvSpPr>
          <p:nvPr>
            <p:ph type="title"/>
          </p:nvPr>
        </p:nvSpPr>
        <p:spPr/>
        <p:txBody>
          <a:bodyPr/>
          <a:lstStyle/>
          <a:p>
            <a:r>
              <a:rPr lang="es-EC" sz="4400" dirty="0"/>
              <a:t>Software Seguro – Modelo McGraw </a:t>
            </a:r>
            <a:br>
              <a:rPr lang="es-EC" sz="4400" dirty="0"/>
            </a:br>
            <a:r>
              <a:rPr lang="es-EC" sz="3600" dirty="0"/>
              <a:t>Mejores Prácticas</a:t>
            </a:r>
            <a:endParaRPr lang="es-EC" dirty="0"/>
          </a:p>
        </p:txBody>
      </p:sp>
      <p:sp>
        <p:nvSpPr>
          <p:cNvPr id="3" name="Marcador de contenido 2">
            <a:extLst>
              <a:ext uri="{FF2B5EF4-FFF2-40B4-BE49-F238E27FC236}">
                <a16:creationId xmlns:a16="http://schemas.microsoft.com/office/drawing/2014/main" id="{243C2F13-9059-44FE-9F89-95B891679030}"/>
              </a:ext>
            </a:extLst>
          </p:cNvPr>
          <p:cNvSpPr>
            <a:spLocks noGrp="1"/>
          </p:cNvSpPr>
          <p:nvPr>
            <p:ph idx="1"/>
          </p:nvPr>
        </p:nvSpPr>
        <p:spPr>
          <a:xfrm>
            <a:off x="838200" y="1690687"/>
            <a:ext cx="10515600" cy="4802187"/>
          </a:xfrm>
        </p:spPr>
        <p:txBody>
          <a:bodyPr>
            <a:normAutofit/>
          </a:bodyPr>
          <a:lstStyle/>
          <a:p>
            <a:pPr marL="0" indent="0">
              <a:buNone/>
            </a:pPr>
            <a:r>
              <a:rPr lang="es-EC" sz="1800" b="1" dirty="0">
                <a:solidFill>
                  <a:srgbClr val="FF0000"/>
                </a:solidFill>
                <a:latin typeface="Georgia" panose="02040502050405020303" pitchFamily="18" charset="0"/>
              </a:rPr>
              <a:t>6</a:t>
            </a:r>
            <a:r>
              <a:rPr lang="es-EC" sz="1800" b="1" i="0" u="none" strike="noStrike" baseline="0" dirty="0">
                <a:solidFill>
                  <a:srgbClr val="FF0000"/>
                </a:solidFill>
                <a:latin typeface="Georgia" panose="02040502050405020303" pitchFamily="18" charset="0"/>
              </a:rPr>
              <a:t>. Pruebas de Penetración </a:t>
            </a:r>
          </a:p>
          <a:p>
            <a:pPr marL="0" indent="0" algn="just">
              <a:buNone/>
            </a:pPr>
            <a:r>
              <a:rPr lang="es-ES" sz="1800" b="1" i="0" u="none" strike="noStrike" baseline="0" dirty="0">
                <a:latin typeface="Georgia" panose="02040502050405020303" pitchFamily="18" charset="0"/>
              </a:rPr>
              <a:t>Las pruebas de penetración están en algún sentido «probando aspectos negativos»</a:t>
            </a:r>
            <a:r>
              <a:rPr lang="es-ES" sz="1800" b="0" i="0" u="none" strike="noStrike" baseline="0" dirty="0">
                <a:latin typeface="Georgia" panose="02040502050405020303" pitchFamily="18" charset="0"/>
              </a:rPr>
              <a:t>, es decir debe probar de forma directa y profunda la seguridad de la aplicación en base a los </a:t>
            </a:r>
            <a:r>
              <a:rPr lang="es-ES" sz="1800" b="1" i="0" u="none" strike="noStrike" baseline="0" dirty="0">
                <a:latin typeface="Georgia" panose="02040502050405020303" pitchFamily="18" charset="0"/>
              </a:rPr>
              <a:t>riesgos de seguridad (conducido por casos de abuso</a:t>
            </a:r>
            <a:r>
              <a:rPr lang="es-ES" sz="1800" b="0" i="0" u="none" strike="noStrike" baseline="0" dirty="0">
                <a:latin typeface="Georgia" panose="02040502050405020303" pitchFamily="18" charset="0"/>
              </a:rPr>
              <a:t>, </a:t>
            </a:r>
            <a:r>
              <a:rPr lang="es-ES" sz="1800" b="1" i="0" u="none" strike="noStrike" baseline="0" dirty="0">
                <a:latin typeface="Georgia" panose="02040502050405020303" pitchFamily="18" charset="0"/>
              </a:rPr>
              <a:t>riesgos arquitectónicos y modelos de ataque)</a:t>
            </a:r>
            <a:r>
              <a:rPr lang="es-ES" sz="1800" b="0" i="0" u="none" strike="noStrike" baseline="0" dirty="0">
                <a:latin typeface="Georgia" panose="02040502050405020303" pitchFamily="18" charset="0"/>
              </a:rPr>
              <a:t>, al objeto de determinar cómo el sistema se comporta ante los ataques</a:t>
            </a:r>
          </a:p>
          <a:p>
            <a:pPr marL="0" indent="0" algn="just">
              <a:buNone/>
            </a:pPr>
            <a:r>
              <a:rPr lang="es-ES" sz="1800" b="1" i="0" u="none" strike="noStrike" baseline="0" dirty="0">
                <a:latin typeface="Georgia" panose="02040502050405020303" pitchFamily="18" charset="0"/>
              </a:rPr>
              <a:t>Las pruebas de penetración están en algún sentido «probando aspectos negativos»</a:t>
            </a:r>
            <a:r>
              <a:rPr lang="es-ES" sz="1800" b="0" i="0" u="none" strike="noStrike" baseline="0" dirty="0">
                <a:latin typeface="Georgia" panose="02040502050405020303" pitchFamily="18" charset="0"/>
              </a:rPr>
              <a:t>, es decir debe probar de forma directa y profunda la seguridad de la aplicación en base a los </a:t>
            </a:r>
            <a:r>
              <a:rPr lang="es-ES" sz="1800" b="1" i="0" u="none" strike="noStrike" baseline="0" dirty="0">
                <a:latin typeface="Georgia" panose="02040502050405020303" pitchFamily="18" charset="0"/>
              </a:rPr>
              <a:t>riesgos de seguridad (conducido por casos de abuso</a:t>
            </a:r>
            <a:r>
              <a:rPr lang="es-ES" sz="1800" b="0" i="0" u="none" strike="noStrike" baseline="0" dirty="0">
                <a:latin typeface="Georgia" panose="02040502050405020303" pitchFamily="18" charset="0"/>
              </a:rPr>
              <a:t>, </a:t>
            </a:r>
            <a:r>
              <a:rPr lang="es-ES" sz="1800" b="1" i="0" u="none" strike="noStrike" baseline="0" dirty="0">
                <a:latin typeface="Georgia" panose="02040502050405020303" pitchFamily="18" charset="0"/>
              </a:rPr>
              <a:t>riesgos arquitectónicos y modelos de ataque)</a:t>
            </a:r>
            <a:r>
              <a:rPr lang="es-ES" sz="1800" b="0" i="0" u="none" strike="noStrike" baseline="0" dirty="0">
                <a:latin typeface="Georgia" panose="02040502050405020303" pitchFamily="18" charset="0"/>
              </a:rPr>
              <a:t>, al objeto de determinar cómo el sistema se comporta ante los ataques</a:t>
            </a:r>
          </a:p>
          <a:p>
            <a:pPr marL="0" indent="0" algn="just">
              <a:buNone/>
            </a:pPr>
            <a:r>
              <a:rPr lang="es-ES" sz="1800" b="0" i="0" u="none" strike="noStrike" baseline="0" dirty="0">
                <a:latin typeface="Georgia" panose="02040502050405020303" pitchFamily="18" charset="0"/>
              </a:rPr>
              <a:t>Una gran ventaja de las pruebas de penetración que bien merece mencionarse, es que se posicionan como </a:t>
            </a:r>
            <a:r>
              <a:rPr lang="es-ES" sz="1800" b="1" i="0" u="none" strike="noStrike" baseline="0" dirty="0">
                <a:latin typeface="Georgia" panose="02040502050405020303" pitchFamily="18" charset="0"/>
              </a:rPr>
              <a:t>pruebas de tipo de caja negra</a:t>
            </a:r>
            <a:r>
              <a:rPr lang="es-ES" sz="1800" b="0" i="0" u="none" strike="noStrike" baseline="0" dirty="0">
                <a:latin typeface="Georgia" panose="02040502050405020303" pitchFamily="18" charset="0"/>
              </a:rPr>
              <a:t>. Tomando un </a:t>
            </a:r>
            <a:r>
              <a:rPr lang="es-ES" sz="1800" b="1" i="0" u="none" strike="noStrike" baseline="0" dirty="0">
                <a:latin typeface="Georgia" panose="02040502050405020303" pitchFamily="18" charset="0"/>
              </a:rPr>
              <a:t>sistema en su verdadero ambiente de producción</a:t>
            </a:r>
            <a:r>
              <a:rPr lang="es-ES" sz="1800" b="0" i="0" u="none" strike="noStrike" baseline="0" dirty="0">
                <a:latin typeface="Georgia" panose="02040502050405020303" pitchFamily="18" charset="0"/>
              </a:rPr>
              <a:t>, los probadores de penetración pueden llegar a descubrir mejor </a:t>
            </a:r>
            <a:r>
              <a:rPr lang="es-ES" sz="1800" b="1" i="0" u="none" strike="noStrike" baseline="0" dirty="0">
                <a:latin typeface="Georgia" panose="02040502050405020303" pitchFamily="18" charset="0"/>
              </a:rPr>
              <a:t>problemas operacionales y de configuración normalmente  pasados por alto durante el desarrollo de </a:t>
            </a:r>
            <a:r>
              <a:rPr lang="es-ES" sz="1800" b="1" i="1" u="none" strike="noStrike" baseline="0" dirty="0">
                <a:latin typeface="Georgia" panose="02040502050405020303" pitchFamily="18" charset="0"/>
              </a:rPr>
              <a:t>software</a:t>
            </a:r>
            <a:r>
              <a:rPr lang="es-ES" sz="1800" b="0" i="0" u="none" strike="noStrike" baseline="0" dirty="0">
                <a:latin typeface="Georgia" panose="02040502050405020303" pitchFamily="18" charset="0"/>
              </a:rPr>
              <a:t>. Por ello las pruebas de penetración necesitan ajustarse, no abandonarlas</a:t>
            </a:r>
            <a:endParaRPr lang="es-EC" sz="1800" b="1" i="0" u="none" strike="noStrike" baseline="0" dirty="0">
              <a:solidFill>
                <a:srgbClr val="FF0000"/>
              </a:solidFill>
              <a:latin typeface="Georgia" panose="02040502050405020303" pitchFamily="18" charset="0"/>
            </a:endParaRPr>
          </a:p>
        </p:txBody>
      </p:sp>
    </p:spTree>
    <p:extLst>
      <p:ext uri="{BB962C8B-B14F-4D97-AF65-F5344CB8AC3E}">
        <p14:creationId xmlns:p14="http://schemas.microsoft.com/office/powerpoint/2010/main" val="886261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1962B9-BA47-48CD-85F6-34AEC9CCC4A5}"/>
              </a:ext>
            </a:extLst>
          </p:cNvPr>
          <p:cNvSpPr>
            <a:spLocks noGrp="1"/>
          </p:cNvSpPr>
          <p:nvPr>
            <p:ph type="title"/>
          </p:nvPr>
        </p:nvSpPr>
        <p:spPr/>
        <p:txBody>
          <a:bodyPr/>
          <a:lstStyle/>
          <a:p>
            <a:r>
              <a:rPr lang="es-EC" sz="4400" dirty="0"/>
              <a:t>Software Seguro – Modelo McGraw </a:t>
            </a:r>
            <a:br>
              <a:rPr lang="es-EC" sz="4400" dirty="0"/>
            </a:br>
            <a:r>
              <a:rPr lang="es-EC" sz="3600" dirty="0"/>
              <a:t>Mejores Prácticas</a:t>
            </a:r>
            <a:endParaRPr lang="es-EC" dirty="0"/>
          </a:p>
        </p:txBody>
      </p:sp>
      <p:sp>
        <p:nvSpPr>
          <p:cNvPr id="3" name="Marcador de contenido 2">
            <a:extLst>
              <a:ext uri="{FF2B5EF4-FFF2-40B4-BE49-F238E27FC236}">
                <a16:creationId xmlns:a16="http://schemas.microsoft.com/office/drawing/2014/main" id="{243C2F13-9059-44FE-9F89-95B891679030}"/>
              </a:ext>
            </a:extLst>
          </p:cNvPr>
          <p:cNvSpPr>
            <a:spLocks noGrp="1"/>
          </p:cNvSpPr>
          <p:nvPr>
            <p:ph idx="1"/>
          </p:nvPr>
        </p:nvSpPr>
        <p:spPr>
          <a:xfrm>
            <a:off x="838200" y="1690687"/>
            <a:ext cx="10515600" cy="4802187"/>
          </a:xfrm>
        </p:spPr>
        <p:txBody>
          <a:bodyPr>
            <a:normAutofit/>
          </a:bodyPr>
          <a:lstStyle/>
          <a:p>
            <a:pPr marL="0" indent="0">
              <a:buNone/>
            </a:pPr>
            <a:r>
              <a:rPr lang="es-EC" sz="1800" b="1" dirty="0">
                <a:solidFill>
                  <a:srgbClr val="FF0000"/>
                </a:solidFill>
                <a:latin typeface="Georgia" panose="02040502050405020303" pitchFamily="18" charset="0"/>
              </a:rPr>
              <a:t>7</a:t>
            </a:r>
            <a:r>
              <a:rPr lang="es-EC" sz="1800" b="1" i="0" u="none" strike="noStrike" baseline="0" dirty="0">
                <a:solidFill>
                  <a:srgbClr val="FF0000"/>
                </a:solidFill>
                <a:latin typeface="Georgia" panose="02040502050405020303" pitchFamily="18" charset="0"/>
              </a:rPr>
              <a:t>. Operaciones de Seguridad</a:t>
            </a:r>
          </a:p>
          <a:p>
            <a:pPr algn="l"/>
            <a:r>
              <a:rPr lang="es-ES" sz="1800" b="0" i="0" u="none" strike="noStrike" baseline="0" dirty="0">
                <a:latin typeface="Georgia" panose="02040502050405020303" pitchFamily="18" charset="0"/>
              </a:rPr>
              <a:t>El proceso final a llevar a cabo previo al paso a producción de la aplicación segura, son </a:t>
            </a:r>
            <a:r>
              <a:rPr lang="es-EC" sz="1800" b="0" i="0" u="none" strike="noStrike" baseline="0" dirty="0">
                <a:latin typeface="Georgia" panose="02040502050405020303" pitchFamily="18" charset="0"/>
              </a:rPr>
              <a:t>las actividades centrales de:</a:t>
            </a:r>
          </a:p>
          <a:p>
            <a:pPr lvl="1"/>
            <a:r>
              <a:rPr lang="es-EC" sz="1600" b="0" i="0" u="none" strike="noStrike" baseline="0" dirty="0">
                <a:latin typeface="Georgia" panose="02040502050405020303" pitchFamily="18" charset="0"/>
              </a:rPr>
              <a:t>Distribución.</a:t>
            </a:r>
          </a:p>
          <a:p>
            <a:pPr lvl="1"/>
            <a:r>
              <a:rPr lang="es-EC" sz="1600" b="0" i="0" u="none" strike="noStrike" baseline="0" dirty="0">
                <a:latin typeface="Georgia" panose="02040502050405020303" pitchFamily="18" charset="0"/>
              </a:rPr>
              <a:t>Despliegue.</a:t>
            </a:r>
          </a:p>
          <a:p>
            <a:pPr lvl="1"/>
            <a:r>
              <a:rPr lang="es-EC" sz="1600" b="0" i="0" u="none" strike="noStrike" baseline="0" dirty="0">
                <a:latin typeface="Georgia" panose="02040502050405020303" pitchFamily="18" charset="0"/>
              </a:rPr>
              <a:t>Operaciones</a:t>
            </a:r>
            <a:r>
              <a:rPr lang="es-EC" sz="1400" b="0" i="0" u="none" strike="noStrike" baseline="0" dirty="0">
                <a:latin typeface="Georgia" panose="02040502050405020303" pitchFamily="18" charset="0"/>
              </a:rPr>
              <a:t>.</a:t>
            </a:r>
            <a:endParaRPr lang="es-EC" sz="1400" b="1" i="0" u="none" strike="noStrike" baseline="0" dirty="0">
              <a:solidFill>
                <a:srgbClr val="FF0000"/>
              </a:solidFill>
              <a:latin typeface="Georgia" panose="02040502050405020303" pitchFamily="18" charset="0"/>
            </a:endParaRPr>
          </a:p>
          <a:p>
            <a:pPr algn="l"/>
            <a:r>
              <a:rPr lang="es-ES" sz="1800" b="0" i="0" u="none" strike="noStrike" baseline="0" dirty="0">
                <a:latin typeface="Georgia" panose="02040502050405020303" pitchFamily="18" charset="0"/>
              </a:rPr>
              <a:t>El </a:t>
            </a:r>
            <a:r>
              <a:rPr lang="es-ES" sz="1800" b="0" i="1" u="none" strike="noStrike" baseline="0" dirty="0">
                <a:latin typeface="Georgia" panose="02040502050405020303" pitchFamily="18" charset="0"/>
              </a:rPr>
              <a:t>software </a:t>
            </a:r>
            <a:r>
              <a:rPr lang="es-ES" sz="1800" b="0" i="0" u="none" strike="noStrike" baseline="0" dirty="0">
                <a:latin typeface="Georgia" panose="02040502050405020303" pitchFamily="18" charset="0"/>
              </a:rPr>
              <a:t>puede haber sido diseñado y desarrollado para ser extremadamente seguro, pero no lo será si sus parámetros de configuración no se establecen como el diseñador lo diseñó. De manera similar, los parámetros de configuración de su entorno de ejecución deben ajustarse de modo que el </a:t>
            </a:r>
            <a:r>
              <a:rPr lang="es-ES" sz="1800" b="0" i="1" u="none" strike="noStrike" baseline="0" dirty="0">
                <a:latin typeface="Georgia" panose="02040502050405020303" pitchFamily="18" charset="0"/>
              </a:rPr>
              <a:t>software </a:t>
            </a:r>
            <a:r>
              <a:rPr lang="es-ES" sz="1800" b="0" i="0" u="none" strike="noStrike" baseline="0" dirty="0">
                <a:latin typeface="Georgia" panose="02040502050405020303" pitchFamily="18" charset="0"/>
              </a:rPr>
              <a:t>no sea innecesariamente expuesto a amenazas potenciales, a esta tarea se le denomina «bastionado».</a:t>
            </a:r>
          </a:p>
          <a:p>
            <a:pPr algn="l"/>
            <a:r>
              <a:rPr lang="es-ES" sz="1800" b="0" i="0" u="none" strike="noStrike" baseline="0" dirty="0">
                <a:latin typeface="Georgia" panose="02040502050405020303" pitchFamily="18" charset="0"/>
              </a:rPr>
              <a:t>Muchos desarrolladores de </a:t>
            </a:r>
            <a:r>
              <a:rPr lang="es-ES" sz="1800" b="0" i="1" u="none" strike="noStrike" baseline="0" dirty="0">
                <a:latin typeface="Georgia" panose="02040502050405020303" pitchFamily="18" charset="0"/>
              </a:rPr>
              <a:t>software </a:t>
            </a:r>
            <a:r>
              <a:rPr lang="es-ES" sz="1800" b="0" i="0" u="none" strike="noStrike" baseline="0" dirty="0">
                <a:latin typeface="Georgia" panose="02040502050405020303" pitchFamily="18" charset="0"/>
              </a:rPr>
              <a:t>argumentan que la distribución, despliegue y operaciones no son parte del proceso de desarrollo de </a:t>
            </a:r>
            <a:r>
              <a:rPr lang="es-ES" sz="1800" b="0" i="1" u="none" strike="noStrike" baseline="0" dirty="0">
                <a:latin typeface="Georgia" panose="02040502050405020303" pitchFamily="18" charset="0"/>
              </a:rPr>
              <a:t>software</a:t>
            </a:r>
            <a:r>
              <a:rPr lang="es-ES" sz="1800" b="0" i="0" u="none" strike="noStrike" baseline="0" dirty="0">
                <a:latin typeface="Georgia" panose="02040502050405020303" pitchFamily="18" charset="0"/>
              </a:rPr>
              <a:t>. Hay que ajustar los controles de acceso a la red y niveles de sistema operativo, así como diseñar un sistema de registro de eventos, de monitorización, de </a:t>
            </a:r>
            <a:r>
              <a:rPr lang="es-ES" sz="1800" b="0" i="1" u="none" strike="noStrike" baseline="0" dirty="0" err="1">
                <a:latin typeface="Georgia" panose="02040502050405020303" pitchFamily="18" charset="0"/>
              </a:rPr>
              <a:t>backup</a:t>
            </a:r>
            <a:r>
              <a:rPr lang="es-ES" sz="1800" b="0" i="1" u="none" strike="noStrike" baseline="0" dirty="0">
                <a:latin typeface="Georgia" panose="02040502050405020303" pitchFamily="18" charset="0"/>
              </a:rPr>
              <a:t> </a:t>
            </a:r>
            <a:r>
              <a:rPr lang="es-ES" sz="1800" b="0" i="0" u="none" strike="noStrike" baseline="0" dirty="0">
                <a:latin typeface="Georgia" panose="02040502050405020303" pitchFamily="18" charset="0"/>
              </a:rPr>
              <a:t>y recuperación de los sistemas de ficheros que será lo más eficaz durante operaciones de respuesta ante incidentes. </a:t>
            </a:r>
            <a:r>
              <a:rPr lang="es-ES" sz="1800" b="1" i="0" u="none" strike="noStrike" baseline="0" dirty="0">
                <a:latin typeface="Georgia" panose="02040502050405020303" pitchFamily="18" charset="0"/>
              </a:rPr>
              <a:t>Los ataques llegarán y estar preparado para defenderse de ellos y para deshacer el daño ocasionado después de que un ataque ha tenido lugar</a:t>
            </a:r>
            <a:r>
              <a:rPr lang="es-ES" sz="1800" b="0" i="0" u="none" strike="noStrike" baseline="0" dirty="0">
                <a:latin typeface="Georgia" panose="02040502050405020303" pitchFamily="18" charset="0"/>
              </a:rPr>
              <a:t>.</a:t>
            </a:r>
            <a:endParaRPr lang="es-EC" sz="1400" b="1" dirty="0">
              <a:solidFill>
                <a:srgbClr val="FF0000"/>
              </a:solidFill>
              <a:latin typeface="Georgia" panose="02040502050405020303" pitchFamily="18" charset="0"/>
            </a:endParaRPr>
          </a:p>
        </p:txBody>
      </p:sp>
    </p:spTree>
    <p:extLst>
      <p:ext uri="{BB962C8B-B14F-4D97-AF65-F5344CB8AC3E}">
        <p14:creationId xmlns:p14="http://schemas.microsoft.com/office/powerpoint/2010/main" val="3054135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1962B9-BA47-48CD-85F6-34AEC9CCC4A5}"/>
              </a:ext>
            </a:extLst>
          </p:cNvPr>
          <p:cNvSpPr>
            <a:spLocks noGrp="1"/>
          </p:cNvSpPr>
          <p:nvPr>
            <p:ph type="title"/>
          </p:nvPr>
        </p:nvSpPr>
        <p:spPr/>
        <p:txBody>
          <a:bodyPr/>
          <a:lstStyle/>
          <a:p>
            <a:r>
              <a:rPr lang="es-EC" sz="4400" dirty="0"/>
              <a:t>Software Seguro – Modelo McGraw </a:t>
            </a:r>
            <a:br>
              <a:rPr lang="es-EC" sz="4400" dirty="0"/>
            </a:br>
            <a:r>
              <a:rPr lang="es-EC" sz="3600" dirty="0"/>
              <a:t>Mejores Prácticas</a:t>
            </a:r>
            <a:endParaRPr lang="es-EC" dirty="0"/>
          </a:p>
        </p:txBody>
      </p:sp>
      <p:sp>
        <p:nvSpPr>
          <p:cNvPr id="3" name="Marcador de contenido 2">
            <a:extLst>
              <a:ext uri="{FF2B5EF4-FFF2-40B4-BE49-F238E27FC236}">
                <a16:creationId xmlns:a16="http://schemas.microsoft.com/office/drawing/2014/main" id="{243C2F13-9059-44FE-9F89-95B891679030}"/>
              </a:ext>
            </a:extLst>
          </p:cNvPr>
          <p:cNvSpPr>
            <a:spLocks noGrp="1"/>
          </p:cNvSpPr>
          <p:nvPr>
            <p:ph idx="1"/>
          </p:nvPr>
        </p:nvSpPr>
        <p:spPr>
          <a:xfrm>
            <a:off x="838200" y="1690687"/>
            <a:ext cx="10515600" cy="4802187"/>
          </a:xfrm>
        </p:spPr>
        <p:txBody>
          <a:bodyPr>
            <a:normAutofit/>
          </a:bodyPr>
          <a:lstStyle/>
          <a:p>
            <a:pPr marL="0" indent="0">
              <a:buNone/>
            </a:pPr>
            <a:r>
              <a:rPr lang="es-EC" sz="1800" b="1" dirty="0">
                <a:solidFill>
                  <a:srgbClr val="FF0000"/>
                </a:solidFill>
                <a:latin typeface="Georgia" panose="02040502050405020303" pitchFamily="18" charset="0"/>
              </a:rPr>
              <a:t>8</a:t>
            </a:r>
            <a:r>
              <a:rPr lang="es-EC" sz="1800" b="1" i="0" u="none" strike="noStrike" baseline="0" dirty="0">
                <a:solidFill>
                  <a:srgbClr val="FF0000"/>
                </a:solidFill>
                <a:latin typeface="Georgia" panose="02040502050405020303" pitchFamily="18" charset="0"/>
              </a:rPr>
              <a:t>. Revision externa</a:t>
            </a:r>
          </a:p>
          <a:p>
            <a:pPr algn="l"/>
            <a:r>
              <a:rPr lang="es-ES" sz="1800" b="0" i="0" u="none" strike="noStrike" baseline="0" dirty="0">
                <a:latin typeface="Georgia" panose="02040502050405020303" pitchFamily="18" charset="0"/>
              </a:rPr>
              <a:t>Un análisis externo por personal ajeno al equipo de diseño es bastante eficaz y fundamental aportando otra visión de la seguridad del sistema y del riesgo y contribuyendo a una mejora de la seguridad porque seguramente este análisis va a descubrir alguna amenaza y riesgo residual existente.</a:t>
            </a:r>
            <a:endParaRPr lang="es-EC" sz="1400" b="1" dirty="0">
              <a:solidFill>
                <a:srgbClr val="FF0000"/>
              </a:solidFill>
              <a:latin typeface="Georgia" panose="02040502050405020303" pitchFamily="18" charset="0"/>
            </a:endParaRPr>
          </a:p>
        </p:txBody>
      </p:sp>
    </p:spTree>
    <p:extLst>
      <p:ext uri="{BB962C8B-B14F-4D97-AF65-F5344CB8AC3E}">
        <p14:creationId xmlns:p14="http://schemas.microsoft.com/office/powerpoint/2010/main" val="147951580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TotalTime>
  <Words>2052</Words>
  <Application>Microsoft Office PowerPoint</Application>
  <PresentationFormat>Panorámica</PresentationFormat>
  <Paragraphs>77</Paragraphs>
  <Slides>18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Calibri Light</vt:lpstr>
      <vt:lpstr>Georgia</vt:lpstr>
      <vt:lpstr>Tema de Office</vt:lpstr>
      <vt:lpstr>Presentación de PowerPoint</vt:lpstr>
      <vt:lpstr>Software seguro</vt:lpstr>
      <vt:lpstr>Software seguro</vt:lpstr>
      <vt:lpstr>Presentación de PowerPoint</vt:lpstr>
      <vt:lpstr>Presentación de PowerPoint</vt:lpstr>
      <vt:lpstr>Propiedades del software seguro</vt:lpstr>
      <vt:lpstr>Software Seguro – Modelo McGraw</vt:lpstr>
      <vt:lpstr>Software Seguro – Modelo McGraw</vt:lpstr>
      <vt:lpstr>Software Seguro – Modelo McGraw</vt:lpstr>
      <vt:lpstr>Software Seguro – Modelo McGraw</vt:lpstr>
      <vt:lpstr>Software Seguro – Modelo McGraw  Mejores Prácticas</vt:lpstr>
      <vt:lpstr>Software Seguro – Modelo McGraw  Mejores Prácticas</vt:lpstr>
      <vt:lpstr>Software Seguro – Modelo McGraw  Mejores Prácticas</vt:lpstr>
      <vt:lpstr>Software Seguro – Modelo McGraw  Mejores Prácticas</vt:lpstr>
      <vt:lpstr>Software Seguro – Modelo McGraw  Mejores Prácticas</vt:lpstr>
      <vt:lpstr>Software Seguro – Modelo McGraw  Mejores Prácticas</vt:lpstr>
      <vt:lpstr>Software Seguro – Modelo McGraw  Mejores Prácticas</vt:lpstr>
      <vt:lpstr>Software Seguro – Modelo McGraw  Mejores Prácticas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CarlosReyes</dc:creator>
  <cp:lastModifiedBy>CarlosReyes</cp:lastModifiedBy>
  <cp:revision>16</cp:revision>
  <dcterms:created xsi:type="dcterms:W3CDTF">2021-03-18T20:05:20Z</dcterms:created>
  <dcterms:modified xsi:type="dcterms:W3CDTF">2021-03-22T18:46:43Z</dcterms:modified>
</cp:coreProperties>
</file>